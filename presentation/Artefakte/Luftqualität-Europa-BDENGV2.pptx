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fba489d335df2e8ed4be2162dde77752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857707" y="7239305"/>
            <a:ext cx="16573500" cy="19202"/>
          </a:xfrm>
          <a:prstGeom prst="rect">
            <a:avLst/>
          </a:prstGeom>
        </p:spPr>
      </p:pic>
      <p:pic>
        <p:nvPicPr>
          <p:cNvPr id="5" name="Image 1" descr="gen-dedup-9368f16b23a8d9b21c97758a06d29246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857707" y="2857500"/>
            <a:ext cx="1143000" cy="38405"/>
          </a:xfrm>
          <a:prstGeom prst="rect">
            <a:avLst/>
          </a:prstGeom>
        </p:spPr>
      </p:pic>
      <p:pic>
        <p:nvPicPr>
          <p:cNvPr id="6" name="Image 2" descr="gen-dedup-8e0cac36ac19df963fc03b34b4d1b7a1.png">    </p:cNvPr>
          <p:cNvPicPr>
            <a:picLocks noChangeAspect="1"/>
          </p:cNvPicPr>
          <p:nvPr/>
        </p:nvPicPr>
        <p:blipFill>
          <a:blip r:embed="rId3"/>
          <a:srcRect l="0" r="0" t="-4" b="-4"/>
          <a:stretch/>
        </p:blipFill>
        <p:spPr>
          <a:xfrm>
            <a:off x="857707" y="761695"/>
            <a:ext cx="2219249" cy="11430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811305" y="1095451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spc="81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BIG-DATA-ENGINEERING · ABSCHLUSSPRÄSENTATION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11811305" y="1352398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spc="81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JULI 2026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857707" y="3238805"/>
            <a:ext cx="16573500" cy="192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-144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Luftqualität in 8</a:t>
            </a:r>
            <a:pPr algn="l" indent="0" marL="0">
              <a:buNone/>
            </a:pPr>
            <a:endParaRPr lang="en-US" sz="7200" dirty="0"/>
          </a:p>
          <a:p>
            <a:pPr algn="l" indent="0" marL="0">
              <a:buNone/>
            </a:pPr>
            <a:r>
              <a:rPr lang="en-US" sz="7200" b="1" spc="-144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europäischen Hauptstädten</a:t>
            </a:r>
            <a:endParaRPr lang="en-US" sz="7200" dirty="0"/>
          </a:p>
        </p:txBody>
      </p:sp>
      <p:sp>
        <p:nvSpPr>
          <p:cNvPr id="10" name="Text 5"/>
          <p:cNvSpPr txBox="1"/>
          <p:nvPr/>
        </p:nvSpPr>
        <p:spPr>
          <a:xfrm>
            <a:off x="857707" y="5524805"/>
            <a:ext cx="142875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Wie weit über gesunder Luft liegen Europas Städte?</a:t>
            </a:r>
            <a:endParaRPr lang="en-US" sz="2700" dirty="0"/>
          </a:p>
        </p:txBody>
      </p:sp>
      <p:sp>
        <p:nvSpPr>
          <p:cNvPr id="11" name="Text 6"/>
          <p:cNvSpPr txBox="1"/>
          <p:nvPr/>
        </p:nvSpPr>
        <p:spPr>
          <a:xfrm>
            <a:off x="857707" y="7524598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26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PIPELINE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857707" y="7791602"/>
            <a:ext cx="4953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EEA · Wikipedia · Open-Meteo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Kafka → Spark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Bronze / Silver / Gold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6762902" y="7524598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26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6762902" y="7791602"/>
            <a:ext cx="4953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Yesillik Nisa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Bandat Manuel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Wiesmüller Georg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668098" y="7524598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26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2668098" y="7791602"/>
            <a:ext cx="4763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github.com/OnlyMajorG/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euro-air-quality-pipeline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57707" y="9620402"/>
            <a:ext cx="16573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158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JUNI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7707" y="838505"/>
            <a:ext cx="1069116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21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Der Maßstab: WHO-2021-Richtwerte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82880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7707" y="476402"/>
            <a:ext cx="168889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66" kern="0" dirty="0">
                <a:solidFill>
                  <a:srgbClr val="9EB3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Leitfrage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335402" y="418795"/>
            <a:ext cx="2095805" cy="761695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fe2c04245ec4f3875483272b9a297f90.png">    </p:cNvPr>
          <p:cNvPicPr>
            <a:picLocks noChangeAspect="1"/>
          </p:cNvPicPr>
          <p:nvPr/>
        </p:nvPicPr>
        <p:blipFill>
          <a:blip r:embed="rId1"/>
          <a:srcRect l="-265" r="-265" t="0" b="0"/>
          <a:stretch/>
        </p:blipFill>
        <p:spPr>
          <a:xfrm>
            <a:off x="15790774" y="495605"/>
            <a:ext cx="1190549" cy="6099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57707" y="9773107"/>
            <a:ext cx="205191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Euro Air Quality Pipeline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346168" y="9773107"/>
            <a:ext cx="9509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7707" y="2286000"/>
            <a:ext cx="16573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Leitfrage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57707" y="2790749"/>
            <a:ext cx="14287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Wie unterscheiden sich 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PM2.5-</a:t>
            </a:r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PM10-</a:t>
            </a:r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und 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NO2-</a:t>
            </a:r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Werte zwischen acht europäischen Hauptstädten — und wie ordnet man sie </a:t>
            </a:r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gesundheitlich</a:t>
            </a:r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ein?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57707" y="4286707"/>
            <a:ext cx="16573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WHO-2021-Jahresrichtwerte </a:t>
            </a:r>
            <a:pPr algn="l" indent="0" marL="0">
              <a:buNone/>
            </a:pPr>
            <a:r>
              <a:rPr lang="en-US" sz="1600" b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(Gesundheits-Orientierung)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57707" y="5048402"/>
            <a:ext cx="5334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PM2.5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57707" y="5391302"/>
            <a:ext cx="533461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b="1" spc="-12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</a:t>
            </a:r>
            <a:pPr algn="l" indent="0" marL="0">
              <a:buNone/>
            </a:pPr>
            <a:r>
              <a:rPr lang="en-US" sz="2400" b="1" spc="-12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µg/m³</a:t>
            </a:r>
            <a:endParaRPr lang="en-US" sz="6000" dirty="0"/>
          </a:p>
        </p:txBody>
      </p:sp>
      <p:sp>
        <p:nvSpPr>
          <p:cNvPr id="16" name="Text 13"/>
          <p:cNvSpPr txBox="1"/>
          <p:nvPr/>
        </p:nvSpPr>
        <p:spPr>
          <a:xfrm>
            <a:off x="857707" y="6267298"/>
            <a:ext cx="5334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Feinstaub &lt; 2,5 µm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762902" y="5048402"/>
            <a:ext cx="5334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7F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PM10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762902" y="5391302"/>
            <a:ext cx="533461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b="1" spc="-12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</a:t>
            </a:r>
            <a:pPr algn="l" indent="0" marL="0">
              <a:buNone/>
            </a:pPr>
            <a:r>
              <a:rPr lang="en-US" sz="2400" b="1" spc="-12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µg/m³</a:t>
            </a:r>
            <a:endParaRPr lang="en-US" sz="6000" dirty="0"/>
          </a:p>
        </p:txBody>
      </p:sp>
      <p:sp>
        <p:nvSpPr>
          <p:cNvPr id="19" name="Text 16"/>
          <p:cNvSpPr txBox="1"/>
          <p:nvPr/>
        </p:nvSpPr>
        <p:spPr>
          <a:xfrm>
            <a:off x="6762902" y="6267298"/>
            <a:ext cx="5334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Staub &lt; 10 µm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2668098" y="5048402"/>
            <a:ext cx="4763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A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NO2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2668098" y="5391302"/>
            <a:ext cx="476311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b="1" spc="-12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</a:t>
            </a:r>
            <a:pPr algn="l" indent="0" marL="0">
              <a:buNone/>
            </a:pPr>
            <a:r>
              <a:rPr lang="en-US" sz="2400" b="1" spc="-12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µg/m³</a:t>
            </a:r>
            <a:endParaRPr lang="en-US" sz="6000" dirty="0"/>
          </a:p>
        </p:txBody>
      </p:sp>
      <p:sp>
        <p:nvSpPr>
          <p:cNvPr id="22" name="Text 19"/>
          <p:cNvSpPr txBox="1"/>
          <p:nvPr/>
        </p:nvSpPr>
        <p:spPr>
          <a:xfrm>
            <a:off x="12668098" y="6267298"/>
            <a:ext cx="4763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Stickstoffdioxid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57707" y="7239305"/>
            <a:ext cx="16573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Gesundheits-Orientierungswerte der WHO — </a:t>
            </a:r>
            <a:pPr algn="l" indent="0" marL="0">
              <a:buNone/>
            </a:pPr>
            <a:r>
              <a:rPr lang="en-US" sz="1500" b="1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keine</a:t>
            </a:r>
            <a:pPr algn="l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gesetzlichen EU-Grenzwerte (NO2-EU-Grenze: 40 µg/m³).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57707" y="8096098"/>
            <a:ext cx="16573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Datenjahr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857707" y="8563356"/>
            <a:ext cx="16573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Vollständiges Kalenderjahr </a:t>
            </a:r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2025</a:t>
            </a:r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</a:t>
            </a:r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Tagesauflösung</a:t>
            </a:r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gemessene Werte der </a:t>
            </a:r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EEA</a:t>
            </a:r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7707" y="838505"/>
            <a:ext cx="9201607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21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Was in die Analyse einfließt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82880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gen-dedup-231824d7f64e3eef2111b1a309779926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857707" y="8382305"/>
            <a:ext cx="16573500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7707" y="476402"/>
            <a:ext cx="257312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66" kern="0" dirty="0">
                <a:solidFill>
                  <a:srgbClr val="9EB3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Datengrundlage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5335402" y="418795"/>
            <a:ext cx="2095805" cy="761695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fe2c04245ec4f3875483272b9a297f90.png">    </p:cNvPr>
          <p:cNvPicPr>
            <a:picLocks noChangeAspect="1"/>
          </p:cNvPicPr>
          <p:nvPr/>
        </p:nvPicPr>
        <p:blipFill>
          <a:blip r:embed="rId2"/>
          <a:srcRect l="-265" r="-265" t="0" b="0"/>
          <a:stretch/>
        </p:blipFill>
        <p:spPr>
          <a:xfrm>
            <a:off x="15790774" y="495605"/>
            <a:ext cx="1190549" cy="6099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57707" y="9773107"/>
            <a:ext cx="205191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Euro Air Quality Pipeline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7346168" y="9773107"/>
            <a:ext cx="9509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57707" y="2190902"/>
            <a:ext cx="16573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Umfang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857707" y="2657246"/>
            <a:ext cx="16573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Hauptstädte</a:t>
            </a:r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</a:t>
            </a:r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365 Tage (2025)</a:t>
            </a:r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</a:t>
            </a:r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Schadstoffe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857707" y="3105302"/>
            <a:ext cx="16573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Wien · Berlin · Paris · Madrid · Rom · Amsterdam · Warschau · Prag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57707" y="3905402"/>
            <a:ext cx="16573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Gemessene Datenbasis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857707" y="4371746"/>
            <a:ext cx="16573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2,35 Mio.</a:t>
            </a:r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validierte EEA-Stundenmessungen → </a:t>
            </a:r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7.938</a:t>
            </a:r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Tagesmittel (Gold-Schicht).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857707" y="5429707"/>
            <a:ext cx="16573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Drei Quellarten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857707" y="6096305"/>
            <a:ext cx="5334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26" kern="0" dirty="0">
                <a:solidFill>
                  <a:srgbClr val="1F77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QUELLE 1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857707" y="6324905"/>
            <a:ext cx="5334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EEA-Download</a:t>
            </a:r>
            <a:endParaRPr lang="en-US" sz="2100" dirty="0"/>
          </a:p>
        </p:txBody>
      </p:sp>
      <p:sp>
        <p:nvSpPr>
          <p:cNvPr id="20" name="Text 16"/>
          <p:cNvSpPr txBox="1"/>
          <p:nvPr/>
        </p:nvSpPr>
        <p:spPr>
          <a:xfrm>
            <a:off x="857707" y="6667805"/>
            <a:ext cx="5334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Datei / Datenbank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857707" y="7019849"/>
            <a:ext cx="5334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Gemessene, validierte Stundenwerte — das Fundament aller historischen Aussagen.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6762902" y="6096305"/>
            <a:ext cx="5334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26" kern="0" dirty="0">
                <a:solidFill>
                  <a:srgbClr val="FF7F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QUELLE 2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762902" y="6324905"/>
            <a:ext cx="5334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Wikipedia</a:t>
            </a:r>
            <a:endParaRPr lang="en-US" sz="2100" dirty="0"/>
          </a:p>
        </p:txBody>
      </p:sp>
      <p:sp>
        <p:nvSpPr>
          <p:cNvPr id="24" name="Text 20"/>
          <p:cNvSpPr txBox="1"/>
          <p:nvPr/>
        </p:nvSpPr>
        <p:spPr>
          <a:xfrm>
            <a:off x="6762902" y="6667805"/>
            <a:ext cx="5334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Web-Scraping (HTML)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762902" y="7019849"/>
            <a:ext cx="5334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Stadtmetadaten: Einwohner, Fläche, Bevölkerungsdichte — explorativer Kontext.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2668098" y="6096305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26" kern="0" dirty="0">
                <a:solidFill>
                  <a:srgbClr val="2CA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QUELLE 3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2668098" y="6324905"/>
            <a:ext cx="4763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Open-Meteo</a:t>
            </a:r>
            <a:endParaRPr lang="en-US" sz="2100" dirty="0"/>
          </a:p>
        </p:txBody>
      </p:sp>
      <p:sp>
        <p:nvSpPr>
          <p:cNvPr id="28" name="Text 24"/>
          <p:cNvSpPr txBox="1"/>
          <p:nvPr/>
        </p:nvSpPr>
        <p:spPr>
          <a:xfrm>
            <a:off x="12668098" y="6667805"/>
            <a:ext cx="4763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REST-API (JSON)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12668098" y="7019849"/>
            <a:ext cx="4763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Live-Modellwerte: </a:t>
            </a:r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192 Ereignisse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über Kafka → Spark als Echtzeit-Nachweis.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857707" y="8667598"/>
            <a:ext cx="16573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Wissenschaftlicher Grundsatz</a:t>
            </a:r>
            <a:endParaRPr lang="en-US" sz="2400" dirty="0"/>
          </a:p>
        </p:txBody>
      </p:sp>
      <p:sp>
        <p:nvSpPr>
          <p:cNvPr id="31" name="Text 27"/>
          <p:cNvSpPr txBox="1"/>
          <p:nvPr/>
        </p:nvSpPr>
        <p:spPr>
          <a:xfrm>
            <a:off x="857707" y="9115654"/>
            <a:ext cx="165735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Erst Umfang &amp; Abdeckung zeigen, dann interpretieren —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Lücken bleiben Lücken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7707" y="838505"/>
            <a:ext cx="12003329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21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Alle Städte über den WHO-Richtwerten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82880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7707" y="476402"/>
            <a:ext cx="168889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66" kern="0" dirty="0">
                <a:solidFill>
                  <a:srgbClr val="9EB3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Befund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335402" y="418795"/>
            <a:ext cx="2095805" cy="761695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fe2c04245ec4f3875483272b9a297f90.png">    </p:cNvPr>
          <p:cNvPicPr>
            <a:picLocks noChangeAspect="1"/>
          </p:cNvPicPr>
          <p:nvPr/>
        </p:nvPicPr>
        <p:blipFill>
          <a:blip r:embed="rId1"/>
          <a:srcRect l="-265" r="-265" t="0" b="0"/>
          <a:stretch/>
        </p:blipFill>
        <p:spPr>
          <a:xfrm>
            <a:off x="15790774" y="495605"/>
            <a:ext cx="1190549" cy="6099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57707" y="9773107"/>
            <a:ext cx="205191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Euro Air Quality Pipeline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346168" y="9773107"/>
            <a:ext cx="9509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pic>
        <p:nvPicPr>
          <p:cNvPr id="11" name="Image 1" descr="gen-dedup-ad4fa1a22817275ac0e7a96077799810.jpg">    </p:cNvPr>
          <p:cNvPicPr>
            <a:picLocks noChangeAspect="1"/>
          </p:cNvPicPr>
          <p:nvPr/>
        </p:nvPicPr>
        <p:blipFill>
          <a:blip r:embed="rId2"/>
          <a:srcRect l="-6" r="-6" t="0" b="0"/>
          <a:stretch/>
        </p:blipFill>
        <p:spPr>
          <a:xfrm>
            <a:off x="2409444" y="3967582"/>
            <a:ext cx="7372807" cy="368594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11305" y="2286000"/>
            <a:ext cx="56199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HEADLINE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1811305" y="2542946"/>
            <a:ext cx="5619902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1,5× bis 2,5×</a:t>
            </a:r>
            <a:endParaRPr lang="en-US" sz="4200" dirty="0"/>
          </a:p>
        </p:txBody>
      </p:sp>
      <p:sp>
        <p:nvSpPr>
          <p:cNvPr id="14" name="Text 10"/>
          <p:cNvSpPr txBox="1"/>
          <p:nvPr/>
        </p:nvSpPr>
        <p:spPr>
          <a:xfrm>
            <a:off x="11811305" y="3186684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über dem WHO-NO2-Richtwert — 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keine</a:t>
            </a:r>
            <a:pPr algn="l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Stadt im grünen Bereich.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2094769" y="4381805"/>
            <a:ext cx="5343754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Jeder </a:t>
            </a:r>
            <a:pPr algn="l" indent="0" marL="0">
              <a:buNone/>
            </a:pPr>
            <a:r>
              <a:rPr lang="en-US" sz="1600" b="1" dirty="0">
                <a:solidFill>
                  <a:srgbClr val="2CA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NO2-Jahreswert (grün)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liegt über der WHO-Linie von 10 µg/m³. Spanne 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15,3 (Berlin) bis 25,0 (Rom)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2094769" y="5255971"/>
            <a:ext cx="5343754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77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PM2.5 (blau)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überschreitet bei allen Städten den Richtwert von 5 µg/m³.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2094769" y="6130138"/>
            <a:ext cx="5343754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Rom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hat nur validierte NO2-Werte — PM fehlt und wird offen ausgewiesen.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11811305" y="8667598"/>
            <a:ext cx="5619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Gestrichelte Linien = WHO-2021-Jahresrichtwerte (PM2.5 = 5, PM10 = 15, NO2 = 10 µg/m³).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7707" y="838505"/>
            <a:ext cx="12411151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21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PM2.5: Die östlichen Hauptstädte führen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82880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7707" y="476402"/>
            <a:ext cx="168889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66" kern="0" dirty="0">
                <a:solidFill>
                  <a:srgbClr val="9EB3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· Befund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335402" y="418795"/>
            <a:ext cx="2095805" cy="761695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fe2c04245ec4f3875483272b9a297f90.png">    </p:cNvPr>
          <p:cNvPicPr>
            <a:picLocks noChangeAspect="1"/>
          </p:cNvPicPr>
          <p:nvPr/>
        </p:nvPicPr>
        <p:blipFill>
          <a:blip r:embed="rId1"/>
          <a:srcRect l="-265" r="-265" t="0" b="0"/>
          <a:stretch/>
        </p:blipFill>
        <p:spPr>
          <a:xfrm>
            <a:off x="15790774" y="495605"/>
            <a:ext cx="1190549" cy="6099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57707" y="9773107"/>
            <a:ext cx="205191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Euro Air Quality Pipeline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346168" y="9773107"/>
            <a:ext cx="9509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pic>
        <p:nvPicPr>
          <p:cNvPr id="11" name="Image 1" descr="gen-dedup-dedfd16a39561b5a933ac5329658bbf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09444" y="3504895"/>
            <a:ext cx="7372807" cy="46104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11305" y="2286000"/>
            <a:ext cx="56199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PM2.5-JAHRESMITTEL (µg/m³)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1811305" y="2809951"/>
            <a:ext cx="56199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26" kern="0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HÖCHSTE BELASTUNG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1811305" y="3524098"/>
            <a:ext cx="5619902" cy="9144"/>
          </a:xfrm>
          <a:prstGeom prst="rect">
            <a:avLst/>
          </a:prstGeom>
          <a:solidFill>
            <a:srgbClr val="D9DEE5"/>
          </a:solidFill>
          <a:ln w="12700">
            <a:solidFill>
              <a:srgbClr val="D9DEE5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1811305" y="3161995"/>
            <a:ext cx="113842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Warschau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6837762" y="3095244"/>
            <a:ext cx="714146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14,7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11811305" y="4038905"/>
            <a:ext cx="5619902" cy="9144"/>
          </a:xfrm>
          <a:prstGeom prst="rect">
            <a:avLst/>
          </a:prstGeom>
          <a:solidFill>
            <a:srgbClr val="D9DEE5"/>
          </a:solidFill>
          <a:ln w="12700">
            <a:solidFill>
              <a:srgbClr val="D9DEE5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1811305" y="3676802"/>
            <a:ext cx="56875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Prag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16837762" y="3610051"/>
            <a:ext cx="714146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14,5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11811305" y="4190695"/>
            <a:ext cx="70317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Berlin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16854221" y="4123944"/>
            <a:ext cx="692201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11,4</a:t>
            </a:r>
            <a:endParaRPr lang="en-US" sz="2400" dirty="0"/>
          </a:p>
        </p:txBody>
      </p:sp>
      <p:sp>
        <p:nvSpPr>
          <p:cNvPr id="22" name="Text 18"/>
          <p:cNvSpPr txBox="1"/>
          <p:nvPr/>
        </p:nvSpPr>
        <p:spPr>
          <a:xfrm>
            <a:off x="11811305" y="5238598"/>
            <a:ext cx="56199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26" kern="0" dirty="0">
                <a:solidFill>
                  <a:srgbClr val="2CA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NIEDRIGSTE BELASTUNG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11811305" y="5953658"/>
            <a:ext cx="5619902" cy="9144"/>
          </a:xfrm>
          <a:prstGeom prst="rect">
            <a:avLst/>
          </a:prstGeom>
          <a:solidFill>
            <a:srgbClr val="D9DEE5"/>
          </a:solidFill>
          <a:ln w="12700">
            <a:solidFill>
              <a:srgbClr val="D9DEE5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1811305" y="5591556"/>
            <a:ext cx="56967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Wien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7006926" y="5524805"/>
            <a:ext cx="51023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9,8</a:t>
            </a:r>
            <a:endParaRPr lang="en-US" sz="2400" dirty="0"/>
          </a:p>
        </p:txBody>
      </p:sp>
      <p:sp>
        <p:nvSpPr>
          <p:cNvPr id="26" name="Shape 22"/>
          <p:cNvSpPr/>
          <p:nvPr/>
        </p:nvSpPr>
        <p:spPr>
          <a:xfrm>
            <a:off x="11811305" y="6467551"/>
            <a:ext cx="5619902" cy="9144"/>
          </a:xfrm>
          <a:prstGeom prst="rect">
            <a:avLst/>
          </a:prstGeom>
          <a:solidFill>
            <a:srgbClr val="D9DEE5"/>
          </a:solidFill>
          <a:ln w="12700">
            <a:solidFill>
              <a:srgbClr val="D9DEE5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1811305" y="6105449"/>
            <a:ext cx="1281989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Amsterdam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17006926" y="6038698"/>
            <a:ext cx="51023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9,5</a:t>
            </a:r>
            <a:endParaRPr lang="en-US" sz="2400" dirty="0"/>
          </a:p>
        </p:txBody>
      </p:sp>
      <p:sp>
        <p:nvSpPr>
          <p:cNvPr id="29" name="Text 25"/>
          <p:cNvSpPr txBox="1"/>
          <p:nvPr/>
        </p:nvSpPr>
        <p:spPr>
          <a:xfrm>
            <a:off x="11811305" y="6620256"/>
            <a:ext cx="839419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Madrid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17006926" y="6553505"/>
            <a:ext cx="51023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9,3</a:t>
            </a:r>
            <a:endParaRPr lang="en-US" sz="2400" dirty="0"/>
          </a:p>
        </p:txBody>
      </p:sp>
      <p:sp>
        <p:nvSpPr>
          <p:cNvPr id="31" name="Text 27"/>
          <p:cNvSpPr txBox="1"/>
          <p:nvPr/>
        </p:nvSpPr>
        <p:spPr>
          <a:xfrm>
            <a:off x="12094769" y="7905902"/>
            <a:ext cx="53437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Aber: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alle Werte liegen </a:t>
            </a:r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deutlich über WHO 5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teils um das Dreifache. Fehlerbalken zeigen Tag-zu-Tag-Streuung.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7707" y="838505"/>
            <a:ext cx="8722462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21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Verteilungen und Ausreißer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82880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7707" y="476402"/>
            <a:ext cx="168889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66" kern="0" dirty="0">
                <a:solidFill>
                  <a:srgbClr val="9EB3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· Befund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335402" y="418795"/>
            <a:ext cx="2095805" cy="761695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fe2c04245ec4f3875483272b9a297f90.png">    </p:cNvPr>
          <p:cNvPicPr>
            <a:picLocks noChangeAspect="1"/>
          </p:cNvPicPr>
          <p:nvPr/>
        </p:nvPicPr>
        <p:blipFill>
          <a:blip r:embed="rId1"/>
          <a:srcRect l="-265" r="-265" t="0" b="0"/>
          <a:stretch/>
        </p:blipFill>
        <p:spPr>
          <a:xfrm>
            <a:off x="15790774" y="495605"/>
            <a:ext cx="1190549" cy="6099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57707" y="9773107"/>
            <a:ext cx="205191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Euro Air Quality Pipeline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346168" y="9773107"/>
            <a:ext cx="9509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pic>
        <p:nvPicPr>
          <p:cNvPr id="11" name="Image 1" descr="gen-dedup-7e64a9fd9cc24c5942ee0de76251a15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09444" y="3504895"/>
            <a:ext cx="7372807" cy="46104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094769" y="2667305"/>
            <a:ext cx="534375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Der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Median jedes Schadstoffs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liegt über dem WHO-Richtwert — es ist also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nicht nur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ein Ausreißerproblem.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2094769" y="4058107"/>
            <a:ext cx="5343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Lange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Oberschwänze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einzelne stark belastete Tage, beim PM10 über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80 µg/m³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(Winterspitzen).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2094769" y="5105095"/>
            <a:ext cx="5343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Mittelwerte allein verbergen diese Streuung —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darum Verteilung zeigen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nicht nur Durchschnitt.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1811305" y="8667598"/>
            <a:ext cx="5619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Box = mittlere 50 % der Tage, Linie = Median, Punkte = Ausreißertage. Rot gestrichelt = WHO-2021.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7707" y="838505"/>
            <a:ext cx="113157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21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Saisonalität: der Winter treibt PM2.5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82880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7707" y="476402"/>
            <a:ext cx="168889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66" kern="0" dirty="0">
                <a:solidFill>
                  <a:srgbClr val="9EB3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· Befund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335402" y="418795"/>
            <a:ext cx="2095805" cy="761695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fe2c04245ec4f3875483272b9a297f90.png">    </p:cNvPr>
          <p:cNvPicPr>
            <a:picLocks noChangeAspect="1"/>
          </p:cNvPicPr>
          <p:nvPr/>
        </p:nvPicPr>
        <p:blipFill>
          <a:blip r:embed="rId1"/>
          <a:srcRect l="-265" r="-265" t="0" b="0"/>
          <a:stretch/>
        </p:blipFill>
        <p:spPr>
          <a:xfrm>
            <a:off x="15790774" y="495605"/>
            <a:ext cx="1190549" cy="6099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57707" y="9773107"/>
            <a:ext cx="205191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Euro Air Quality Pipeline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346168" y="9773107"/>
            <a:ext cx="9509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  <p:pic>
        <p:nvPicPr>
          <p:cNvPr id="11" name="Image 1" descr="gen-dedup-60221fad7ad6f621da10c9611edbffb9.jpg">    </p:cNvPr>
          <p:cNvPicPr>
            <a:picLocks noChangeAspect="1"/>
          </p:cNvPicPr>
          <p:nvPr/>
        </p:nvPicPr>
        <p:blipFill>
          <a:blip r:embed="rId2"/>
          <a:srcRect l="-6" r="-6" t="0" b="0"/>
          <a:stretch/>
        </p:blipFill>
        <p:spPr>
          <a:xfrm>
            <a:off x="2409444" y="3967582"/>
            <a:ext cx="7372807" cy="368594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094769" y="2667305"/>
            <a:ext cx="5343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Tagesverlauf der datenreichsten Städte —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Punkte = vorhandene Tage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Lücken bleiben sichtbar.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2094769" y="3715207"/>
            <a:ext cx="5343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Höhere Werte im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Winter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Spitzen 40–50 µg/m³. Sommer oft nahe WHO-5.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2094769" y="4762195"/>
            <a:ext cx="5343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Zwei Effekte: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Heizen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setzt Feinstaub frei,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Inversionswetterlagen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halten ihn am Boden.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1811305" y="8667598"/>
            <a:ext cx="5619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Methodisch: Wir interpolieren </a:t>
            </a:r>
            <a:pPr algn="l" indent="0" marL="0">
              <a:buNone/>
            </a:pPr>
            <a:r>
              <a:rPr lang="en-US" sz="1200" b="1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nicht</a:t>
            </a:r>
            <a:pPr algn="l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fehlende Tage sollen nicht wie Messwerte aussehen.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7707" y="838505"/>
            <a:ext cx="14116507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21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Bevölkerungsdichte erklärt die Belastung nicht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82880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gen-dedup-0edd744c7d902de150553ed4ec8a8855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811305" y="4667098"/>
            <a:ext cx="5619902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7707" y="476402"/>
            <a:ext cx="168889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66" kern="0" dirty="0">
                <a:solidFill>
                  <a:srgbClr val="9EB3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· Befund 5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5335402" y="418795"/>
            <a:ext cx="2095805" cy="761695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fe2c04245ec4f3875483272b9a297f90.png">    </p:cNvPr>
          <p:cNvPicPr>
            <a:picLocks noChangeAspect="1"/>
          </p:cNvPicPr>
          <p:nvPr/>
        </p:nvPicPr>
        <p:blipFill>
          <a:blip r:embed="rId2"/>
          <a:srcRect l="-265" r="-265" t="0" b="0"/>
          <a:stretch/>
        </p:blipFill>
        <p:spPr>
          <a:xfrm>
            <a:off x="15790774" y="495605"/>
            <a:ext cx="1190549" cy="6099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57707" y="9773107"/>
            <a:ext cx="205191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Euro Air Quality Pipeline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7346168" y="9773107"/>
            <a:ext cx="9509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  <p:pic>
        <p:nvPicPr>
          <p:cNvPr id="12" name="Image 2" descr="gen-dedup-638eae79527e5e32cf41f720006960b0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409444" y="3504895"/>
            <a:ext cx="7372807" cy="46104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11305" y="2286000"/>
            <a:ext cx="56199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KORRELATION DICHTE ↔ PM2.5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1811305" y="2857500"/>
            <a:ext cx="2667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26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ALLE STÄDTE · n = 7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1811305" y="3086100"/>
            <a:ext cx="2667305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−0,23</a:t>
            </a:r>
            <a:endParaRPr lang="en-US" sz="4800" dirty="0"/>
          </a:p>
        </p:txBody>
      </p:sp>
      <p:sp>
        <p:nvSpPr>
          <p:cNvPr id="16" name="Text 11"/>
          <p:cNvSpPr txBox="1"/>
          <p:nvPr/>
        </p:nvSpPr>
        <p:spPr>
          <a:xfrm>
            <a:off x="11811305" y="3764585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nahe null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4763902" y="2857500"/>
            <a:ext cx="2667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26" kern="0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OHNE PARIS · n = 6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4763902" y="3086100"/>
            <a:ext cx="2667305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−0,95</a:t>
            </a:r>
            <a:endParaRPr lang="en-US" sz="4800" dirty="0"/>
          </a:p>
        </p:txBody>
      </p:sp>
      <p:sp>
        <p:nvSpPr>
          <p:cNvPr id="19" name="Text 14"/>
          <p:cNvSpPr txBox="1"/>
          <p:nvPr/>
        </p:nvSpPr>
        <p:spPr>
          <a:xfrm>
            <a:off x="14763902" y="3764585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kippt komplett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2094769" y="4953305"/>
            <a:ext cx="5343754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Zusammenhang ist 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nicht robust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er hängt an einem einzigen Punkt.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2094769" y="5867705"/>
            <a:ext cx="5343754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Paris ist 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Kernkommune (~105 km²)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mit den größer abgegrenzten Städten nicht direkt vergleichbar (MAUP).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2094769" y="6782105"/>
            <a:ext cx="5343754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Bewusst 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explorativ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kein Signifikanztest, keine Kausalbehauptung.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7707" y="838505"/>
            <a:ext cx="11675059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21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Live-Momentaufnahme (Kafka → Spark)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82880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7707" y="476402"/>
            <a:ext cx="168889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66" kern="0" dirty="0">
                <a:solidFill>
                  <a:srgbClr val="9EB3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· Befund 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335402" y="418795"/>
            <a:ext cx="2095805" cy="761695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fe2c04245ec4f3875483272b9a297f90.png">    </p:cNvPr>
          <p:cNvPicPr>
            <a:picLocks noChangeAspect="1"/>
          </p:cNvPicPr>
          <p:nvPr/>
        </p:nvPicPr>
        <p:blipFill>
          <a:blip r:embed="rId1"/>
          <a:srcRect l="-265" r="-265" t="0" b="0"/>
          <a:stretch/>
        </p:blipFill>
        <p:spPr>
          <a:xfrm>
            <a:off x="15790774" y="495605"/>
            <a:ext cx="1190549" cy="6099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57707" y="9773107"/>
            <a:ext cx="205191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Euro Air Quality Pipeline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346168" y="9773107"/>
            <a:ext cx="9509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  <p:pic>
        <p:nvPicPr>
          <p:cNvPr id="11" name="Image 1" descr="gen-dedup-df4c828f3df48a00b8fae361bab48366.jpg">    </p:cNvPr>
          <p:cNvPicPr>
            <a:picLocks noChangeAspect="1"/>
          </p:cNvPicPr>
          <p:nvPr/>
        </p:nvPicPr>
        <p:blipFill>
          <a:blip r:embed="rId2"/>
          <a:srcRect l="-6" r="-6" t="0" b="0"/>
          <a:stretch/>
        </p:blipFill>
        <p:spPr>
          <a:xfrm>
            <a:off x="2409444" y="4347972"/>
            <a:ext cx="7372807" cy="368594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57707" y="2143354"/>
            <a:ext cx="676656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192</a:t>
            </a:r>
            <a:endParaRPr lang="en-US" sz="2700" dirty="0"/>
          </a:p>
        </p:txBody>
      </p:sp>
      <p:sp>
        <p:nvSpPr>
          <p:cNvPr id="13" name="Text 9"/>
          <p:cNvSpPr txBox="1"/>
          <p:nvPr/>
        </p:nvSpPr>
        <p:spPr>
          <a:xfrm>
            <a:off x="1514246" y="2305202"/>
            <a:ext cx="265267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Live-Events (8 Städte × 24 h)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911803" y="2247595"/>
            <a:ext cx="7955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9DEE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|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142232" y="2324405"/>
            <a:ext cx="58869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1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OPEN-METEO → KAFKA → SPARK STRUCTURED STREAMING → SILVER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2094769" y="2667305"/>
            <a:ext cx="5343754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Open-Meteo-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Modellwerte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über Kafka produziert und von Spark aus dem Topic gelesen.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2094769" y="3619195"/>
            <a:ext cx="5343754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Stundenwerte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bewusst 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getrennt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von den gemessenen EEA-Jahresdaten.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12094769" y="4572000"/>
            <a:ext cx="5343754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Belegt die Pipeline 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nicht als Ersatz für die historische Analyse.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811305" y="8382305"/>
            <a:ext cx="5619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Live-Stundenwerte werden bewusst </a:t>
            </a:r>
            <a:pPr algn="l" indent="0" marL="0">
              <a:buNone/>
            </a:pPr>
            <a:r>
              <a:rPr lang="en-US" sz="1200" b="1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nicht</a:t>
            </a:r>
            <a:pPr algn="l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gegen die WHO-</a:t>
            </a:r>
            <a:pPr algn="l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Jahres</a:t>
            </a:r>
            <a:pPr algn="l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werte gestellt. Quellen sauber getrennt.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7707" y="838505"/>
            <a:ext cx="9050731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21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Was die Daten (nicht) sagen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82880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gen-dedup-231824d7f64e3eef2111b1a309779926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857707" y="6381598"/>
            <a:ext cx="16573500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7707" y="476402"/>
            <a:ext cx="204094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66" kern="0" dirty="0">
                <a:solidFill>
                  <a:srgbClr val="9EB3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· Einordnung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5335402" y="418795"/>
            <a:ext cx="2095805" cy="761695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fe2c04245ec4f3875483272b9a297f90.png">    </p:cNvPr>
          <p:cNvPicPr>
            <a:picLocks noChangeAspect="1"/>
          </p:cNvPicPr>
          <p:nvPr/>
        </p:nvPicPr>
        <p:blipFill>
          <a:blip r:embed="rId2"/>
          <a:srcRect l="-265" r="-265" t="0" b="0"/>
          <a:stretch/>
        </p:blipFill>
        <p:spPr>
          <a:xfrm>
            <a:off x="15790774" y="495605"/>
            <a:ext cx="1190549" cy="6099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57707" y="9773107"/>
            <a:ext cx="205191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Euro Air Quality Pipeline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7346168" y="9773107"/>
            <a:ext cx="9509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57707" y="2238451"/>
            <a:ext cx="16573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Vier Prinzipien wissenschaftlicher Ehrlichkeit — Grenzen offen benennen macht eine Analyse </a:t>
            </a:r>
            <a:pPr algn="l" indent="0" marL="0">
              <a:buNone/>
            </a:pPr>
            <a:r>
              <a:rPr lang="en-US" sz="1800" b="1" i="1" dirty="0">
                <a:solidFill>
                  <a:srgbClr val="1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stärker</a:t>
            </a:r>
            <a:pPr algn="l"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nicht schwächer.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857707" y="3429000"/>
            <a:ext cx="772668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spc="-96" kern="0" dirty="0">
                <a:solidFill>
                  <a:srgbClr val="1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4800" dirty="0"/>
          </a:p>
        </p:txBody>
      </p:sp>
      <p:sp>
        <p:nvSpPr>
          <p:cNvPr id="14" name="Text 10"/>
          <p:cNvSpPr txBox="1"/>
          <p:nvPr/>
        </p:nvSpPr>
        <p:spPr>
          <a:xfrm>
            <a:off x="1740103" y="3666744"/>
            <a:ext cx="397032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12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Deskriptiv, nicht kausal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857707" y="4172407"/>
            <a:ext cx="7429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Wir 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beschreiben Muster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und behaupten 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keine Ursachen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Korrelation wird nie als Kausalität dargestellt.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9525305" y="3429000"/>
            <a:ext cx="772668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spc="-96" kern="0" dirty="0">
                <a:solidFill>
                  <a:srgbClr val="1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4800" dirty="0"/>
          </a:p>
        </p:txBody>
      </p:sp>
      <p:sp>
        <p:nvSpPr>
          <p:cNvPr id="17" name="Text 13"/>
          <p:cNvSpPr txBox="1"/>
          <p:nvPr/>
        </p:nvSpPr>
        <p:spPr>
          <a:xfrm>
            <a:off x="10407701" y="3666744"/>
            <a:ext cx="4515307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12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Keine pauschale Rangliste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9525305" y="4172407"/>
            <a:ext cx="7429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Die Reihenfolge 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hängt vom Schadstoff ab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deshalb betrachten wir jeden Schadstoff einzeln.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857707" y="6858000"/>
            <a:ext cx="772668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spc="-96" kern="0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4800" dirty="0"/>
          </a:p>
        </p:txBody>
      </p:sp>
      <p:sp>
        <p:nvSpPr>
          <p:cNvPr id="20" name="Text 16"/>
          <p:cNvSpPr txBox="1"/>
          <p:nvPr/>
        </p:nvSpPr>
        <p:spPr>
          <a:xfrm>
            <a:off x="1740103" y="7095744"/>
            <a:ext cx="321960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12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Ehrlich mit Lücken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857707" y="7601407"/>
            <a:ext cx="7429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Rom ohne validierte PM-Werte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wird ausgewiesen, nicht aufgefüllt. Keine erfundenen Werte, keine Interpolation.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9525305" y="6858000"/>
            <a:ext cx="772668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spc="-96" kern="0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4800" dirty="0"/>
          </a:p>
        </p:txBody>
      </p:sp>
      <p:sp>
        <p:nvSpPr>
          <p:cNvPr id="23" name="Text 19"/>
          <p:cNvSpPr txBox="1"/>
          <p:nvPr/>
        </p:nvSpPr>
        <p:spPr>
          <a:xfrm>
            <a:off x="10407701" y="7095744"/>
            <a:ext cx="2755087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12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Sauber getrennt</a:t>
            </a:r>
            <a:endParaRPr lang="en-US" sz="2400" dirty="0"/>
          </a:p>
        </p:txBody>
      </p:sp>
      <p:sp>
        <p:nvSpPr>
          <p:cNvPr id="24" name="Text 20"/>
          <p:cNvSpPr txBox="1"/>
          <p:nvPr/>
        </p:nvSpPr>
        <p:spPr>
          <a:xfrm>
            <a:off x="9525305" y="7601407"/>
            <a:ext cx="7429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Gemessene 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EEA-Historie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und 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Open-Meteo-Live-Modellwerte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werden nie vermischt.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7707" y="838505"/>
            <a:ext cx="413034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21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Kernaussagen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82880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gen-dedup-231824d7f64e3eef2111b1a309779926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857707" y="8001000"/>
            <a:ext cx="16573500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7707" y="476402"/>
            <a:ext cx="115671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66" kern="0" dirty="0">
                <a:solidFill>
                  <a:srgbClr val="9EB3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· Fazit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5335402" y="418795"/>
            <a:ext cx="2095805" cy="761695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fe2c04245ec4f3875483272b9a297f90.png">    </p:cNvPr>
          <p:cNvPicPr>
            <a:picLocks noChangeAspect="1"/>
          </p:cNvPicPr>
          <p:nvPr/>
        </p:nvPicPr>
        <p:blipFill>
          <a:blip r:embed="rId2"/>
          <a:srcRect l="-265" r="-265" t="0" b="0"/>
          <a:stretch/>
        </p:blipFill>
        <p:spPr>
          <a:xfrm>
            <a:off x="15790774" y="495605"/>
            <a:ext cx="1190549" cy="6099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57707" y="9773107"/>
            <a:ext cx="205191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Euro Air Quality Pipeline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7261129" y="9773107"/>
            <a:ext cx="19019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57707" y="2723998"/>
            <a:ext cx="20007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NO2-JAHRESMITTEL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160166" y="2238451"/>
            <a:ext cx="2465222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b="1" spc="-12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15–25</a:t>
            </a:r>
            <a:endParaRPr lang="en-US" sz="6000" dirty="0"/>
          </a:p>
        </p:txBody>
      </p:sp>
      <p:sp>
        <p:nvSpPr>
          <p:cNvPr id="14" name="Text 10"/>
          <p:cNvSpPr txBox="1"/>
          <p:nvPr/>
        </p:nvSpPr>
        <p:spPr>
          <a:xfrm>
            <a:off x="5508346" y="2667305"/>
            <a:ext cx="70317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µg/m³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01714" y="2619756"/>
            <a:ext cx="64648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statt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7246620" y="2238451"/>
            <a:ext cx="995782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b="1" spc="-120" kern="0" dirty="0">
                <a:solidFill>
                  <a:srgbClr val="2CA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6000" dirty="0"/>
          </a:p>
        </p:txBody>
      </p:sp>
      <p:sp>
        <p:nvSpPr>
          <p:cNvPr id="17" name="Text 13"/>
          <p:cNvSpPr txBox="1"/>
          <p:nvPr/>
        </p:nvSpPr>
        <p:spPr>
          <a:xfrm>
            <a:off x="8368589" y="2667305"/>
            <a:ext cx="227228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µg/m³ (WHO 2021)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857707" y="3152851"/>
            <a:ext cx="16573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Keine der acht Städte hält die WHO-Richtwerte für NO2 ein.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857707" y="4572000"/>
            <a:ext cx="533461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spc="-120" kern="0" dirty="0">
                <a:solidFill>
                  <a:srgbClr val="2CA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6000" dirty="0"/>
          </a:p>
        </p:txBody>
      </p:sp>
      <p:sp>
        <p:nvSpPr>
          <p:cNvPr id="20" name="Text 16"/>
          <p:cNvSpPr txBox="1"/>
          <p:nvPr/>
        </p:nvSpPr>
        <p:spPr>
          <a:xfrm>
            <a:off x="857707" y="5447995"/>
            <a:ext cx="5334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Überall zu viel NO2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857707" y="5939028"/>
            <a:ext cx="5334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Alle acht Städte überschreiten den WHO-NO2-Richtwert (15–25 µg/m³ statt 10 µg/m³).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6476695" y="4572000"/>
            <a:ext cx="533461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spc="-120" kern="0" dirty="0">
                <a:solidFill>
                  <a:srgbClr val="1F77B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6000" dirty="0"/>
          </a:p>
        </p:txBody>
      </p:sp>
      <p:sp>
        <p:nvSpPr>
          <p:cNvPr id="23" name="Text 19"/>
          <p:cNvSpPr txBox="1"/>
          <p:nvPr/>
        </p:nvSpPr>
        <p:spPr>
          <a:xfrm>
            <a:off x="6476695" y="5447995"/>
            <a:ext cx="5334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Schadstoff schlägt Stadt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6476695" y="5939028"/>
            <a:ext cx="5334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 und NO2 folgen unterschiedlichen Mustern — getrennt betrachten, keine pauschale Rangliste.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2096598" y="4572000"/>
            <a:ext cx="533461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spc="-120" kern="0" dirty="0">
                <a:solidFill>
                  <a:srgbClr val="FF7F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6000" dirty="0"/>
          </a:p>
        </p:txBody>
      </p:sp>
      <p:sp>
        <p:nvSpPr>
          <p:cNvPr id="26" name="Text 22"/>
          <p:cNvSpPr txBox="1"/>
          <p:nvPr/>
        </p:nvSpPr>
        <p:spPr>
          <a:xfrm>
            <a:off x="12096598" y="5447995"/>
            <a:ext cx="5334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Kontext erklärt wenig</a:t>
            </a:r>
            <a:endParaRPr lang="en-US" sz="2200" dirty="0"/>
          </a:p>
        </p:txBody>
      </p:sp>
      <p:sp>
        <p:nvSpPr>
          <p:cNvPr id="27" name="Text 23"/>
          <p:cNvSpPr txBox="1"/>
          <p:nvPr/>
        </p:nvSpPr>
        <p:spPr>
          <a:xfrm>
            <a:off x="12096598" y="5939028"/>
            <a:ext cx="5334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Bevölkerungsdichte ist kein Erklärungsfaktor — der Zusammenhang ist nicht robust.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857707" y="8334756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26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857707" y="8563356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github.com/OnlyMajorG/euro-air-quality-pipeline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10477195" y="8334756"/>
            <a:ext cx="69540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00" b="1" spc="126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10477195" y="8563356"/>
            <a:ext cx="6954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Yesillik Nisa · Bandat Manuel · Wiesmüller Georg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2026-06-29T13:53:01Z</dcterms:created>
  <dcterms:modified xsi:type="dcterms:W3CDTF">2026-06-29T13:53:01Z</dcterms:modified>
</cp:coreProperties>
</file>
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25" d="100"/>
          <a:sy n="125" d="100"/>
        </p:scale>
        <p:origin x="-102" y="-2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iris.who.int/server/api/core/bitstreams/551b515e-2a32-4e1a-a58c-cdaecd395b19/content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411480"/>
            <a:ext cx="2286000" cy="117513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475488"/>
            <a:ext cx="768096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Big-Data-Engineering · Abschlusspräsentation · Juli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97280"/>
            <a:ext cx="7498079" cy="10515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3700" b="1">
                <a:solidFill>
                  <a:srgbClr val="141414"/>
                </a:solidFill>
                <a:latin typeface="Aptos Display"/>
              </a:defRPr>
            </a:pPr>
            <a:r>
              <a:t>Luftqualität in 8</a:t>
            </a:r>
            <a:br/>
            <a:r>
              <a:t>europäischen Hauptstädten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04288"/>
            <a:ext cx="82296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000" b="0">
                <a:solidFill>
                  <a:srgbClr val="141414"/>
                </a:solidFill>
                <a:latin typeface="Aptos"/>
              </a:defRPr>
            </a:pPr>
            <a:r>
              <a:t>Historische EEA-Baseline und aktuelle Open-Meteo-Einordnung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063240"/>
            <a:ext cx="109728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3383280"/>
            <a:ext cx="8686800" cy="5943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800" b="0">
                <a:solidFill>
                  <a:srgbClr val="141414"/>
                </a:solidFill>
                <a:latin typeface="Aptos"/>
              </a:defRPr>
            </a:pPr>
            <a:r>
              <a:t>Wie liegen PM2.5, PM10 und NO2 in acht Städten - und was sagt die aktuelle Lage im Verhältnis zur historischen Mess-Baseline?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343400"/>
            <a:ext cx="128016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663440"/>
            <a:ext cx="886968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800" b="0">
                <a:solidFill>
                  <a:srgbClr val="141414"/>
                </a:solidFill>
                <a:latin typeface="Aptos"/>
              </a:defRPr>
            </a:pPr>
            <a:r>
              <a:t>EEA · Wikipedia · Open-Meteo  →  Kafka  →  Spark  →  Bronze / Silver / Gold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5440680"/>
            <a:ext cx="109728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760720"/>
            <a:ext cx="53035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600" b="0">
                <a:solidFill>
                  <a:srgbClr val="141414"/>
                </a:solidFill>
                <a:latin typeface="Aptos"/>
              </a:defRPr>
            </a:pPr>
            <a:r>
              <a:t>Yesillik Nisa · Bandat Manuel · Wiesmüller Georg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5760720"/>
            <a:ext cx="512064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400" b="0">
                <a:solidFill>
                  <a:srgbClr val="5C5C5C"/>
                </a:solidFill>
                <a:latin typeface="Aptos"/>
              </a:defRPr>
            </a:pPr>
            <a:r>
              <a:t>Repository: github.com/OnlyMajorG/euro-air-quality-pipeline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01 · Leitfrage &amp; Rahmen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Warum diese technische Umsetzung?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2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201168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000" b="1">
                <a:solidFill>
                  <a:srgbClr val="005B82"/>
                </a:solidFill>
                <a:latin typeface="Aptos"/>
              </a:defRPr>
            </a:pPr>
            <a:r>
              <a:t>Leitfrage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058400" cy="6400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000" b="0">
                <a:solidFill>
                  <a:srgbClr val="141414"/>
                </a:solidFill>
                <a:latin typeface="Aptos"/>
              </a:defRPr>
            </a:pPr>
            <a:r>
              <a:t>Wie unterscheiden sich PM2.5, PM10 und NO2 zwischen acht europäischen Hauptstädten - und wie lassen sie sich anhand historischer Messdaten und aktueller Modellwerte einordnen?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25603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000" b="1">
                <a:solidFill>
                  <a:srgbClr val="005B82"/>
                </a:solidFill>
                <a:latin typeface="Aptos"/>
              </a:defRPr>
            </a:pPr>
            <a:r>
              <a:t>Technische Logik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82112"/>
            <a:ext cx="9966960" cy="1828800"/>
          </a:xfrm>
          <a:prstGeom prst="rect">
            <a:avLst/>
          </a:prstGeom>
          <a:noFill/>
        </p:spPr>
        <p:txBody>
          <a:bodyPr wrap="square" lIns="45720" tIns="0" rIns="18288" bIns="0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141414"/>
                </a:solidFill>
                <a:latin typeface="Aptos"/>
              </a:defRPr>
            </a:pPr>
            <a:r>
              <a:t>▸  EEA liefert die historische Mess-Basis für robuste Jahres- und Medianvergleiche.</a:t>
            </a:r>
          </a:p>
          <a:p>
            <a:pPr>
              <a:spcAft>
                <a:spcPts val="900"/>
              </a:spcAft>
              <a:defRPr sz="1800">
                <a:solidFill>
                  <a:srgbClr val="141414"/>
                </a:solidFill>
                <a:latin typeface="Aptos"/>
              </a:defRPr>
            </a:pPr>
            <a:r>
              <a:t>▸  Wikipedia ergänzt Stadtkontext, vor allem Bevölkerungsdichte und Flächenbezug.</a:t>
            </a:r>
          </a:p>
          <a:p>
            <a:pPr>
              <a:spcAft>
                <a:spcPts val="900"/>
              </a:spcAft>
              <a:defRPr sz="1800">
                <a:solidFill>
                  <a:srgbClr val="141414"/>
                </a:solidFill>
                <a:latin typeface="Aptos"/>
              </a:defRPr>
            </a:pPr>
            <a:r>
              <a:t>▸  Open-Meteo liefert aktuelle Modellwerte; Kafka und Spark machen daraus einen Live-Pfad.</a:t>
            </a:r>
          </a:p>
          <a:p>
            <a:pPr>
              <a:spcAft>
                <a:spcPts val="900"/>
              </a:spcAft>
              <a:defRPr sz="1800">
                <a:solidFill>
                  <a:srgbClr val="141414"/>
                </a:solidFill>
                <a:latin typeface="Aptos"/>
              </a:defRPr>
            </a:pPr>
            <a:r>
              <a:t>▸  Bronze/Silver/Gold trennt Rohdaten, Bereinigung und analysefertige Findings.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532120"/>
            <a:ext cx="10241280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800" b="1">
                <a:solidFill>
                  <a:srgbClr val="141414"/>
                </a:solidFill>
                <a:latin typeface="Aptos"/>
              </a:defRPr>
            </a:pPr>
            <a:r>
              <a:t>Kernidee: Batch Analytics beantwortet die Jahresfrage; Streaming ordnet aktuelle Werte gegen die historische Baseline ein.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02 · Datengrundlage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Was in die Analyse einfließt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3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21945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3100" b="1">
                <a:solidFill>
                  <a:srgbClr val="005B82"/>
                </a:solidFill>
                <a:latin typeface="Aptos Display"/>
              </a:defRPr>
            </a:pPr>
            <a: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32004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550" b="0">
                <a:solidFill>
                  <a:srgbClr val="141414"/>
                </a:solidFill>
                <a:latin typeface="Aptos"/>
              </a:defRPr>
            </a:pPr>
            <a:r>
              <a:t>Hauptstädte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325880"/>
            <a:ext cx="21945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3100" b="1">
                <a:solidFill>
                  <a:srgbClr val="005B82"/>
                </a:solidFill>
                <a:latin typeface="Aptos Display"/>
              </a:defRPr>
            </a:pPr>
            <a:r>
              <a:t>365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828800"/>
            <a:ext cx="32004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550" b="0">
                <a:solidFill>
                  <a:srgbClr val="141414"/>
                </a:solidFill>
                <a:latin typeface="Aptos"/>
              </a:defRPr>
            </a:pPr>
            <a:r>
              <a:t>Tage in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1325880"/>
            <a:ext cx="21945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3100" b="1">
                <a:solidFill>
                  <a:srgbClr val="005B82"/>
                </a:solidFill>
                <a:latin typeface="Aptos Display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1828800"/>
            <a:ext cx="32004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550" b="0">
                <a:solidFill>
                  <a:srgbClr val="141414"/>
                </a:solidFill>
                <a:latin typeface="Aptos"/>
              </a:defRPr>
            </a:pPr>
            <a:r>
              <a:t>Schadstoffe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651760"/>
            <a:ext cx="21945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3100" b="1">
                <a:solidFill>
                  <a:srgbClr val="005B82"/>
                </a:solidFill>
                <a:latin typeface="Aptos Display"/>
              </a:defRPr>
            </a:pPr>
            <a:r>
              <a:t>2,35 Mio.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154680"/>
            <a:ext cx="32004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550" b="0">
                <a:solidFill>
                  <a:srgbClr val="141414"/>
                </a:solidFill>
                <a:latin typeface="Aptos"/>
              </a:defRPr>
            </a:pPr>
            <a:r>
              <a:t>validierte EEA-Stundenwerte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51760"/>
            <a:ext cx="21945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3100" b="1">
                <a:solidFill>
                  <a:srgbClr val="005B82"/>
                </a:solidFill>
                <a:latin typeface="Aptos Display"/>
              </a:defRPr>
            </a:pPr>
            <a:r>
              <a:t>7.938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154680"/>
            <a:ext cx="32004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550" b="0">
                <a:solidFill>
                  <a:srgbClr val="141414"/>
                </a:solidFill>
                <a:latin typeface="Aptos"/>
              </a:defRPr>
            </a:pPr>
            <a:r>
              <a:t>Tagesmittel in Gold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2651760"/>
            <a:ext cx="21945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3100" b="1">
                <a:solidFill>
                  <a:srgbClr val="005B82"/>
                </a:solidFill>
                <a:latin typeface="Aptos Display"/>
              </a:defRPr>
            </a:pPr>
            <a:r>
              <a:t>192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154680"/>
            <a:ext cx="32004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550" b="0">
                <a:solidFill>
                  <a:srgbClr val="141414"/>
                </a:solidFill>
                <a:latin typeface="Aptos"/>
              </a:defRPr>
            </a:pPr>
            <a:r>
              <a:t>Open-Meteo-Liveevents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51960"/>
            <a:ext cx="402336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000" b="1">
                <a:solidFill>
                  <a:srgbClr val="005B82"/>
                </a:solidFill>
                <a:latin typeface="Aptos"/>
              </a:defRPr>
            </a:pPr>
            <a:r>
              <a:t>Drei Quellen - drei Rollen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681728"/>
            <a:ext cx="10058400" cy="1005840"/>
          </a:xfrm>
          <a:prstGeom prst="rect">
            <a:avLst/>
          </a:prstGeom>
          <a:noFill/>
        </p:spPr>
        <p:txBody>
          <a:bodyPr wrap="square" lIns="45720" tIns="0" rIns="18288" bIns="0">
            <a:spAutoFit/>
          </a:bodyPr>
          <a:lstStyle/>
          <a:p>
            <a:pPr>
              <a:spcAft>
                <a:spcPts val="900"/>
              </a:spcAft>
              <a:defRPr sz="1750">
                <a:solidFill>
                  <a:srgbClr val="141414"/>
                </a:solidFill>
                <a:latin typeface="Aptos"/>
              </a:defRPr>
            </a:pPr>
            <a:r>
              <a:t>▸  EEA: gemessene und validierte Stundenwerte; Grundlage der historischen Findings.</a:t>
            </a:r>
          </a:p>
          <a:p>
            <a:pPr>
              <a:spcAft>
                <a:spcPts val="900"/>
              </a:spcAft>
              <a:defRPr sz="1750">
                <a:solidFill>
                  <a:srgbClr val="141414"/>
                </a:solidFill>
                <a:latin typeface="Aptos"/>
              </a:defRPr>
            </a:pPr>
            <a:r>
              <a:t>▸  Wikipedia: Web-Scraping für Kontextdaten; nützlich, aber mit Flächen-/Dichtegrenzen.</a:t>
            </a:r>
          </a:p>
          <a:p>
            <a:pPr>
              <a:spcAft>
                <a:spcPts val="900"/>
              </a:spcAft>
              <a:defRPr sz="1750">
                <a:solidFill>
                  <a:srgbClr val="141414"/>
                </a:solidFill>
                <a:latin typeface="Aptos"/>
              </a:defRPr>
            </a:pPr>
            <a:r>
              <a:t>▸  Open-Meteo: aktuelle Modellwerte; Live-Einordnung gegen historische Median-Baseline.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870448"/>
            <a:ext cx="914400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550" b="1">
                <a:solidFill>
                  <a:srgbClr val="141414"/>
                </a:solidFill>
                <a:latin typeface="Aptos"/>
              </a:defRPr>
            </a:pPr>
            <a:r>
              <a:t>Quellenunterschiede werden transparent gekennzeichnet.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03 · Befund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Alle Städte über dem NO2-WHO-Richtwert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4 / 10</a:t>
            </a:r>
          </a:p>
        </p:txBody>
      </p:sp>
      <p:pic>
        <p:nvPicPr>
          <p:cNvPr id="7" name="Picture 6" descr="image-4-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0200"/>
            <a:ext cx="6766560" cy="3383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26679" y="1325880"/>
            <a:ext cx="32004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000" b="1">
                <a:solidFill>
                  <a:srgbClr val="005B82"/>
                </a:solidFill>
                <a:latin typeface="Aptos"/>
              </a:defRPr>
            </a:pPr>
            <a:r>
              <a:t>Hauptaussage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783080"/>
            <a:ext cx="3840480" cy="2834640"/>
          </a:xfrm>
          <a:prstGeom prst="rect">
            <a:avLst/>
          </a:prstGeom>
          <a:noFill/>
        </p:spPr>
        <p:txBody>
          <a:bodyPr wrap="square" lIns="45720" tIns="0" rIns="18288" bIns="0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▸  Alle acht Städte liegen bei NO2 über dem WHO-2021-Jahresrichtwert von 10 µg/m³.</a:t>
            </a:r>
          </a:p>
          <a:p>
            <a:pPr>
              <a:spcAft>
                <a:spcPts val="9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▸  NO2-Spanne: 15,3 bis 25,0 µg/m³ - etwa 1,5× bis 2,5× über WHO.</a:t>
            </a:r>
          </a:p>
          <a:p>
            <a:pPr>
              <a:spcAft>
                <a:spcPts val="9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▸  PM2.5 liegt bei allen Städten mit validierter PM2.5-Referenz über WHO 5.</a:t>
            </a:r>
          </a:p>
          <a:p>
            <a:pPr>
              <a:spcAft>
                <a:spcPts val="9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▸  Rom: keine validierten PM2.5/PM10-Werte in der EEA-Historie - die Lücke bleibt sichtbar.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623560"/>
            <a:ext cx="8046720" cy="16773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850" b="0">
                <a:solidFill>
                  <a:srgbClr val="5C5C5C"/>
                </a:solidFill>
                <a:latin typeface="Aptos"/>
              </a:defRPr>
            </a:pPr>
            <a:r>
              <a:rPr dirty="0"/>
              <a:t>Quelle: EEA, </a:t>
            </a:r>
            <a:r>
              <a:rPr dirty="0" err="1"/>
              <a:t>Kalenderjahr</a:t>
            </a:r>
            <a:r>
              <a:rPr dirty="0"/>
              <a:t> 2025; </a:t>
            </a:r>
            <a:r>
              <a:rPr dirty="0" err="1"/>
              <a:t>gestrichelte</a:t>
            </a:r>
            <a:r>
              <a:rPr dirty="0"/>
              <a:t> </a:t>
            </a:r>
            <a:r>
              <a:rPr dirty="0" err="1"/>
              <a:t>Linien</a:t>
            </a:r>
            <a:r>
              <a:rPr dirty="0"/>
              <a:t> = WHO-2021-Jahresrichtwerte.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5257800"/>
            <a:ext cx="3749039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550" b="1">
                <a:solidFill>
                  <a:srgbClr val="141414"/>
                </a:solidFill>
                <a:latin typeface="Aptos"/>
              </a:defRPr>
            </a:pPr>
            <a:r>
              <a:t>Keine Rechtsaussage: WHO = Gesundheits-Orientierung, nicht EU-Grenzwert.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4A029C35-D66E-413A-9D6A-C539CAE9B1F3}"/>
              </a:ext>
            </a:extLst>
          </p:cNvPr>
          <p:cNvSpPr txBox="1"/>
          <p:nvPr/>
        </p:nvSpPr>
        <p:spPr>
          <a:xfrm>
            <a:off x="622434" y="5887052"/>
            <a:ext cx="243848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900" dirty="0">
                <a:latin typeface="Aptos"/>
              </a:rPr>
              <a:t>Quelle: </a:t>
            </a:r>
            <a:r>
              <a:rPr lang="en-GB" sz="900" dirty="0">
                <a:latin typeface="Aptos"/>
                <a:hlinkClick r:id="rId4"/>
              </a:rPr>
              <a:t>WHO global air quality guidelines (2021</a:t>
            </a:r>
            <a:r>
              <a:rPr lang="en-GB" sz="900" dirty="0">
                <a:latin typeface="Aptos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04 · Befund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PM2.5: Warschau und Prag führen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5 / 10</a:t>
            </a:r>
          </a:p>
        </p:txBody>
      </p:sp>
      <p:pic>
        <p:nvPicPr>
          <p:cNvPr id="7" name="Picture 6" descr="image-5-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04786"/>
            <a:ext cx="6675120" cy="41741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26679" y="1325880"/>
            <a:ext cx="32004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000" b="1">
                <a:solidFill>
                  <a:srgbClr val="005B82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783080"/>
            <a:ext cx="3840480" cy="3017520"/>
          </a:xfrm>
          <a:prstGeom prst="rect">
            <a:avLst/>
          </a:prstGeom>
          <a:noFill/>
        </p:spPr>
        <p:txBody>
          <a:bodyPr wrap="square" lIns="45720" tIns="0" rIns="18288" bIns="0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▸  Höchste PM2.5-Mittel: Warschau 14,7 und Prag 14,5 µg/m³.</a:t>
            </a:r>
          </a:p>
          <a:p>
            <a:pPr>
              <a:spcAft>
                <a:spcPts val="9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▸  Niedrigste PM2.5-Mittel: Madrid 9,3, Amsterdam 9,5, Wien 9,8 µg/m³.</a:t>
            </a:r>
          </a:p>
          <a:p>
            <a:pPr>
              <a:spcAft>
                <a:spcPts val="9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▸  Alle vergleichbaren Städte liegen deutlich über WHO 5.</a:t>
            </a:r>
          </a:p>
          <a:p>
            <a:pPr>
              <a:spcAft>
                <a:spcPts val="9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▸  Fehlerbalken zeigen starke Tag-zu-Tag-Streuung; kleine Rangunterschiede nicht überinterpretieren.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623560"/>
            <a:ext cx="768096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850" b="0">
                <a:solidFill>
                  <a:srgbClr val="5C5C5C"/>
                </a:solidFill>
                <a:latin typeface="Aptos"/>
              </a:defRPr>
            </a:pPr>
            <a:r>
              <a:t>Quelle: EEA, Tagesmittel 2025; Fehlerbalken = Standardabweichung.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05 · Befund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Mittelwerte allein reichen nicht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6 / 10</a:t>
            </a:r>
          </a:p>
        </p:txBody>
      </p:sp>
      <p:pic>
        <p:nvPicPr>
          <p:cNvPr id="7" name="Picture 6" descr="image-6-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37601"/>
            <a:ext cx="5120640" cy="3202053"/>
          </a:xfrm>
          <a:prstGeom prst="rect">
            <a:avLst/>
          </a:prstGeom>
        </p:spPr>
      </p:pic>
      <p:pic>
        <p:nvPicPr>
          <p:cNvPr id="8" name="Picture 7" descr="image-7-2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1412748"/>
            <a:ext cx="5303520" cy="2651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4617720"/>
            <a:ext cx="43891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850" b="1">
                <a:solidFill>
                  <a:srgbClr val="005B82"/>
                </a:solidFill>
                <a:latin typeface="Aptos"/>
              </a:defRPr>
            </a:pPr>
            <a:r>
              <a:t>Was die Verteilungen zeigen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4754880" cy="868680"/>
          </a:xfrm>
          <a:prstGeom prst="rect">
            <a:avLst/>
          </a:prstGeom>
          <a:noFill/>
        </p:spPr>
        <p:txBody>
          <a:bodyPr wrap="square" lIns="45720" tIns="0" rIns="18288" bIns="0">
            <a:spAutoFit/>
          </a:bodyPr>
          <a:lstStyle/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Der Median jedes Schadstoffs liegt über dem WHO-Richtwert.</a:t>
            </a:r>
          </a:p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Lange Oberschwänze markieren einzelne stark belastete Tage.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617720"/>
            <a:ext cx="43891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850" b="1">
                <a:solidFill>
                  <a:srgbClr val="005B82"/>
                </a:solidFill>
                <a:latin typeface="Aptos"/>
              </a:defRPr>
            </a:pPr>
            <a:r>
              <a:t>Was die Zeitreihe zeigt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4983480"/>
            <a:ext cx="4846320" cy="868680"/>
          </a:xfrm>
          <a:prstGeom prst="rect">
            <a:avLst/>
          </a:prstGeom>
          <a:noFill/>
        </p:spPr>
        <p:txBody>
          <a:bodyPr wrap="square" lIns="45720" tIns="0" rIns="18288" bIns="0">
            <a:spAutoFit/>
          </a:bodyPr>
          <a:lstStyle/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PM2.5-Spitzen häufen sich im Winter; Sommerwerte sind niedriger.</a:t>
            </a:r>
          </a:p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Heizen und Inversionswetter sind plausible Einordnung, kein Kausalnachweis.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108192"/>
            <a:ext cx="950976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850" b="0">
                <a:solidFill>
                  <a:srgbClr val="5C5C5C"/>
                </a:solidFill>
                <a:latin typeface="Aptos"/>
              </a:defRPr>
            </a:pPr>
            <a:r>
              <a:t>Quelle: EEA, Tagesmittel 2025. Lücken bleiben sichtbar; keine Interpolation.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06 · Befund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Bevölkerungsdichte erklärt PM2.5 nicht belastbar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7 / 10</a:t>
            </a:r>
          </a:p>
        </p:txBody>
      </p:sp>
      <p:pic>
        <p:nvPicPr>
          <p:cNvPr id="7" name="Picture 6" descr="image-8-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19081"/>
            <a:ext cx="6629400" cy="41455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26679" y="1325880"/>
            <a:ext cx="32004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000" b="1">
                <a:solidFill>
                  <a:srgbClr val="005B82"/>
                </a:solidFill>
                <a:latin typeface="Aptos"/>
              </a:defRPr>
            </a:pPr>
            <a:r>
              <a:t>Warum vorsichtig?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783080"/>
            <a:ext cx="3840480" cy="3383280"/>
          </a:xfrm>
          <a:prstGeom prst="rect">
            <a:avLst/>
          </a:prstGeom>
          <a:noFill/>
        </p:spPr>
        <p:txBody>
          <a:bodyPr wrap="square" lIns="45720" tIns="0" rIns="18288" bIns="0">
            <a:spAutoFit/>
          </a:bodyPr>
          <a:lstStyle/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Dichte und PM2.5 werden explorativ verknüpft: Wikipedia-Kontext plus EEA-Messdaten.</a:t>
            </a:r>
          </a:p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Korrelation ist nicht robust: r ≈ -0,23 über alle Städte, aber ≈ -0,95 ohne Paris.</a:t>
            </a:r>
          </a:p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Paris ist Kernkommune (~105 km²) und mit den anderen Stadtflächen nicht direkt vergleichbar.</a:t>
            </a:r>
          </a:p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Daraus folgt keine Kausalität und kein belastbarer Erklärungsfaktor.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623560"/>
            <a:ext cx="914400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850" b="0">
                <a:solidFill>
                  <a:srgbClr val="5C5C5C"/>
                </a:solidFill>
                <a:latin typeface="Aptos"/>
              </a:defRPr>
            </a:pPr>
            <a:r>
              <a:t>MAUP: Modifiable Areal Unit Problem - Flächenabgrenzungen beeinflussen Dichtewerte.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07 · Befund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Aktuelle Lage gegen historische EEA-Median-Baseline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8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310896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000" b="1">
                <a:solidFill>
                  <a:srgbClr val="005B82"/>
                </a:solidFill>
                <a:latin typeface="Aptos"/>
              </a:defRPr>
            </a:pPr>
            <a:r>
              <a:t>Neuer Vergleich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64208"/>
            <a:ext cx="5303520" cy="6583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900" b="0">
                <a:solidFill>
                  <a:srgbClr val="141414"/>
                </a:solidFill>
                <a:latin typeface="Aptos"/>
              </a:defRPr>
            </a:pPr>
            <a:r>
              <a:t>Open-Meteo-Livewert wird je Stadt und Schadstoff gegen den historischen EEA-Median 2025 eingeordnet.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9970" y="2601467"/>
            <a:ext cx="5442690" cy="34884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37960" y="1234440"/>
            <a:ext cx="310896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000" b="1">
                <a:solidFill>
                  <a:srgbClr val="005B82"/>
                </a:solidFill>
                <a:latin typeface="Aptos"/>
              </a:defRPr>
            </a:pPr>
            <a:r>
              <a:t>Wie wird gelesen?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664208"/>
            <a:ext cx="4937760" cy="2194560"/>
          </a:xfrm>
          <a:prstGeom prst="rect">
            <a:avLst/>
          </a:prstGeom>
          <a:noFill/>
        </p:spPr>
        <p:txBody>
          <a:bodyPr wrap="square" lIns="45720" tIns="0" rIns="18288" bIns="0">
            <a:spAutoFit/>
          </a:bodyPr>
          <a:lstStyle/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Historische Referenz: Median der EEA-Tagesmittel 2025.</a:t>
            </a:r>
          </a:p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Aktueller Wert: Open-Meteo-Modellwert aus dem Kafka/Spark-Livepfad.</a:t>
            </a:r>
          </a:p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Abweichung: (Live - Median) / Median in Prozent.</a:t>
            </a:r>
          </a:p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Ergebnisstruktur: 24 Paare, 22 vergleichbar, 2 ohne Referenz (Rom PM2.5/PM10).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251960"/>
            <a:ext cx="310896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850" b="1">
                <a:solidFill>
                  <a:srgbClr val="005B82"/>
                </a:solidFill>
                <a:latin typeface="Aptos"/>
              </a:defRPr>
            </a:pPr>
            <a:r>
              <a:t>Methodische Grenze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4617720"/>
            <a:ext cx="4892040" cy="6858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650" b="1">
                <a:solidFill>
                  <a:srgbClr val="141414"/>
                </a:solidFill>
                <a:latin typeface="Aptos"/>
              </a:defRPr>
            </a:pPr>
            <a:r>
              <a:t>Explorativer Vergleich: Modellwert vs. Messdaten, anderer Zeitraum, kein Trend-, Kausal- oder WHO-Jahresbezug.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181344"/>
            <a:ext cx="914400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850" b="0">
                <a:solidFill>
                  <a:srgbClr val="5C5C5C"/>
                </a:solidFill>
                <a:latin typeface="Aptos"/>
              </a:defRPr>
            </a:pPr>
            <a:r>
              <a:rPr dirty="0"/>
              <a:t>Die </a:t>
            </a:r>
            <a:r>
              <a:rPr dirty="0" err="1"/>
              <a:t>Grafik</a:t>
            </a:r>
            <a:r>
              <a:rPr dirty="0"/>
              <a:t> </a:t>
            </a:r>
            <a:r>
              <a:rPr dirty="0" err="1"/>
              <a:t>zeigt</a:t>
            </a:r>
            <a:r>
              <a:rPr dirty="0"/>
              <a:t> den Live-Snapshot; die </a:t>
            </a:r>
            <a:r>
              <a:rPr dirty="0" err="1"/>
              <a:t>Einordnung</a:t>
            </a:r>
            <a:r>
              <a:rPr dirty="0"/>
              <a:t> </a:t>
            </a:r>
            <a:r>
              <a:rPr dirty="0" err="1"/>
              <a:t>erfolgt</a:t>
            </a:r>
            <a:r>
              <a:rPr dirty="0"/>
              <a:t> </a:t>
            </a:r>
            <a:r>
              <a:rPr dirty="0" err="1"/>
              <a:t>gegen</a:t>
            </a:r>
            <a:r>
              <a:rPr dirty="0"/>
              <a:t> den </a:t>
            </a:r>
            <a:r>
              <a:rPr dirty="0" err="1"/>
              <a:t>historischen</a:t>
            </a:r>
            <a:r>
              <a:rPr dirty="0"/>
              <a:t> Median in Gold.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08 · Einordnung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Was die Daten nicht sagen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9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400" b="1">
                <a:solidFill>
                  <a:srgbClr val="005B82"/>
                </a:solidFill>
                <a:latin typeface="Aptos Display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344168"/>
            <a:ext cx="43891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900" b="1">
                <a:solidFill>
                  <a:srgbClr val="141414"/>
                </a:solidFill>
                <a:latin typeface="Aptos"/>
              </a:defRPr>
            </a:pPr>
            <a:r>
              <a:t>Deskriptiv, nicht kausal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828800"/>
            <a:ext cx="4480560" cy="6858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650" b="0">
                <a:solidFill>
                  <a:srgbClr val="141414"/>
                </a:solidFill>
                <a:latin typeface="Aptos"/>
              </a:defRPr>
            </a:pPr>
            <a:r>
              <a:t>Wir beschreiben Muster. Ursachen werden nicht behauptet.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3258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400" b="1">
                <a:solidFill>
                  <a:srgbClr val="005B82"/>
                </a:solidFill>
                <a:latin typeface="Aptos Display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344168"/>
            <a:ext cx="43891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900" b="1">
                <a:solidFill>
                  <a:srgbClr val="141414"/>
                </a:solidFill>
                <a:latin typeface="Aptos"/>
              </a:defRPr>
            </a:pPr>
            <a:r>
              <a:t>Keine pauschale Rangliste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1828800"/>
            <a:ext cx="4480560" cy="6858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650" b="0">
                <a:solidFill>
                  <a:srgbClr val="141414"/>
                </a:solidFill>
                <a:latin typeface="Aptos"/>
              </a:defRPr>
            </a:pPr>
            <a:r>
              <a:t>Die Reihenfolge hängt vom Schadstoff ab; jeder wird einzeln betrachtet.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4612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400" b="1">
                <a:solidFill>
                  <a:srgbClr val="005B82"/>
                </a:solidFill>
                <a:latin typeface="Aptos Display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264408"/>
            <a:ext cx="43891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900" b="1">
                <a:solidFill>
                  <a:srgbClr val="141414"/>
                </a:solidFill>
                <a:latin typeface="Aptos"/>
              </a:defRPr>
            </a:pPr>
            <a:r>
              <a:t>Lücken bleiben Lücken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49039"/>
            <a:ext cx="4480560" cy="6858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650" b="0">
                <a:solidFill>
                  <a:srgbClr val="141414"/>
                </a:solidFill>
                <a:latin typeface="Aptos"/>
              </a:defRPr>
            </a:pPr>
            <a:r>
              <a:t>Rom-PM wird ausgewiesen, nicht interpoliert oder aufgefüllt.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24612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400" b="1">
                <a:solidFill>
                  <a:srgbClr val="005B82"/>
                </a:solidFill>
                <a:latin typeface="Aptos Display"/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264408"/>
            <a:ext cx="43891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900" b="1">
                <a:solidFill>
                  <a:srgbClr val="141414"/>
                </a:solidFill>
                <a:latin typeface="Aptos"/>
              </a:defRPr>
            </a:pPr>
            <a:r>
              <a:t>Quellen sauber getrennt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749039"/>
            <a:ext cx="4480560" cy="6858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650" b="0">
                <a:solidFill>
                  <a:srgbClr val="141414"/>
                </a:solidFill>
                <a:latin typeface="Aptos"/>
              </a:defRPr>
            </a:pPr>
            <a:r>
              <a:t>EEA = historische Messdaten; Open-Meteo = aktueller Modellwert.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311140"/>
            <a:ext cx="1014984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750" b="1">
                <a:solidFill>
                  <a:srgbClr val="141414"/>
                </a:solidFill>
                <a:latin typeface="Aptos"/>
              </a:defRPr>
            </a:pPr>
            <a:r>
              <a:rPr dirty="0" err="1"/>
              <a:t>Besonders</a:t>
            </a:r>
            <a:r>
              <a:rPr dirty="0"/>
              <a:t> </a:t>
            </a:r>
            <a:r>
              <a:rPr dirty="0" err="1"/>
              <a:t>beim</a:t>
            </a:r>
            <a:r>
              <a:rPr dirty="0"/>
              <a:t> Live-vs-Median-</a:t>
            </a:r>
            <a:r>
              <a:rPr dirty="0" err="1"/>
              <a:t>Vergleich</a:t>
            </a:r>
            <a:r>
              <a:rPr dirty="0"/>
              <a:t> gilt: Er </a:t>
            </a:r>
            <a:r>
              <a:rPr dirty="0" err="1"/>
              <a:t>ordnet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aktuelle</a:t>
            </a:r>
            <a:r>
              <a:rPr dirty="0"/>
              <a:t> Lage </a:t>
            </a:r>
            <a:r>
              <a:rPr dirty="0" err="1"/>
              <a:t>ein</a:t>
            </a:r>
            <a:r>
              <a:rPr dirty="0"/>
              <a:t>, </a:t>
            </a:r>
            <a:r>
              <a:rPr dirty="0" err="1"/>
              <a:t>ersetzt</a:t>
            </a:r>
            <a:r>
              <a:rPr dirty="0"/>
              <a:t> </a:t>
            </a:r>
            <a:r>
              <a:rPr dirty="0" err="1"/>
              <a:t>aber</a:t>
            </a:r>
            <a:r>
              <a:rPr dirty="0"/>
              <a:t> </a:t>
            </a:r>
            <a:r>
              <a:rPr dirty="0" err="1"/>
              <a:t>keine</a:t>
            </a:r>
            <a:r>
              <a:rPr dirty="0"/>
              <a:t> </a:t>
            </a:r>
            <a:r>
              <a:rPr dirty="0" err="1"/>
              <a:t>historische</a:t>
            </a:r>
            <a:r>
              <a:rPr dirty="0"/>
              <a:t> </a:t>
            </a:r>
            <a:r>
              <a:rPr dirty="0" err="1"/>
              <a:t>Jahresanalyse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09 · Fazit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Drei Aussagen zum Mitnehmen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10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45720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900" b="1">
                <a:solidFill>
                  <a:srgbClr val="005B82"/>
                </a:solidFill>
                <a:latin typeface="Aptos Display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353312"/>
            <a:ext cx="86868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100" b="1">
                <a:solidFill>
                  <a:srgbClr val="141414"/>
                </a:solidFill>
                <a:latin typeface="Aptos"/>
              </a:defRPr>
            </a:pPr>
            <a:r>
              <a:t>NO2 bleibt der klarste Befund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828800"/>
            <a:ext cx="960120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750" b="0">
                <a:solidFill>
                  <a:srgbClr val="141414"/>
                </a:solidFill>
                <a:latin typeface="Aptos"/>
              </a:defRPr>
            </a:pPr>
            <a:r>
              <a:t>Alle acht Städte überschreiten den WHO-NO2-Richtwert: 15-25 statt 10 µg/m³.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43200"/>
            <a:ext cx="45720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900" b="1">
                <a:solidFill>
                  <a:srgbClr val="005B82"/>
                </a:solidFill>
                <a:latin typeface="Aptos Display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770632"/>
            <a:ext cx="86868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100" b="1">
                <a:solidFill>
                  <a:srgbClr val="141414"/>
                </a:solidFill>
                <a:latin typeface="Aptos"/>
              </a:defRPr>
            </a:pPr>
            <a:r>
              <a:t>Schadstoff schlägt Stadt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246120"/>
            <a:ext cx="960120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750" b="0">
                <a:solidFill>
                  <a:srgbClr val="141414"/>
                </a:solidFill>
                <a:latin typeface="Aptos"/>
              </a:defRPr>
            </a:pPr>
            <a:r>
              <a:t>PM2.5, PM10 und NO2 zeigen unterschiedliche Muster; eine Gesamtrangliste wäre irreführend.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160520"/>
            <a:ext cx="45720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900" b="1">
                <a:solidFill>
                  <a:srgbClr val="005B82"/>
                </a:solidFill>
                <a:latin typeface="Aptos Display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187952"/>
            <a:ext cx="86868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100" b="1">
                <a:solidFill>
                  <a:srgbClr val="141414"/>
                </a:solidFill>
                <a:latin typeface="Aptos"/>
              </a:defRPr>
            </a:pPr>
            <a:r>
              <a:t>Live wird sinnvoll eingeordnet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63440"/>
            <a:ext cx="960120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750" b="0">
                <a:solidFill>
                  <a:srgbClr val="141414"/>
                </a:solidFill>
                <a:latin typeface="Aptos"/>
              </a:defRPr>
            </a:pPr>
            <a:r>
              <a:t>Open-Meteo wird nicht mit EEA gleichgesetzt, sondern explorativ gegen den historischen EEA-Median gelesen.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715000"/>
            <a:ext cx="18288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300" b="1">
                <a:solidFill>
                  <a:srgbClr val="005B82"/>
                </a:solidFill>
                <a:latin typeface="Aptos"/>
              </a:defRPr>
            </a:pPr>
            <a:r>
              <a:t>Repository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5687568"/>
            <a:ext cx="53035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500" b="0">
                <a:solidFill>
                  <a:srgbClr val="141414"/>
                </a:solidFill>
                <a:latin typeface="Aptos"/>
              </a:defRPr>
            </a:pPr>
            <a:r>
              <a:t>github.com/OnlyMajorG/euro-air-quality-pipeline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687568"/>
            <a:ext cx="493776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350" b="0">
                <a:solidFill>
                  <a:srgbClr val="5C5C5C"/>
                </a:solidFill>
                <a:latin typeface="Aptos"/>
              </a:defRPr>
            </a:pPr>
            <a:r>
              <a:t>Team: Yesillik Nisa · Bandat Manuel · Wiesmüller Georg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939</Words>
  <Application>Microsoft Office PowerPoint</Application>
  <PresentationFormat>Breitbild</PresentationFormat>
  <Paragraphs>134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/>
  <cp:keywords/>
  <dc:description>generated using python-pptx</dc:description>
  <cp:lastModifiedBy>Wiesmüller Georg</cp:lastModifiedBy>
  <cp:revision>4</cp:revision>
  <dcterms:created xsi:type="dcterms:W3CDTF">2013-01-27T09:14:16Z</dcterms:created>
  <dcterms:modified xsi:type="dcterms:W3CDTF">2026-06-30T18:17:24Z</dcterms:modified>
  <cp:category/>
</cp:coreProperties>
</file>
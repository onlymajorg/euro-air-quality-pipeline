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19" d="100"/>
          <a:sy n="119" d="100"/>
        </p:scale>
        <p:origin x="234" y="102"/>
      </p:cViewPr>
      <p:guideLst>
        <p:guide orient="horz" pos="2160"/>
        <p:guide pos="2880"/>
      </p:guideLst>
    </p:cSldViewPr>
  </p:slideViewPr>
  <p:notesTextViewPr>
    <p:cViewPr>
      <p:scale>
        <a:sx n="100" d="100"/>
        <a:sy n="100" d="100"/>
      </p:scale>
      <p:origin x="0" y="-15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5ACE21-4851-466A-9C8E-42C231778794}" type="datetimeFigureOut">
              <a:rPr lang="en-GB" smtClean="0"/>
              <a:t>01/07/2026</a:t>
            </a:fld>
            <a:endParaRPr lang="en-GB"/>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5BD0C9-3F00-46B0-87F3-0290CBDB6516}" type="slidenum">
              <a:rPr lang="en-GB" smtClean="0"/>
              <a:t>‹Nr.›</a:t>
            </a:fld>
            <a:endParaRPr lang="en-GB"/>
          </a:p>
        </p:txBody>
      </p:sp>
    </p:spTree>
    <p:extLst>
      <p:ext uri="{BB962C8B-B14F-4D97-AF65-F5344CB8AC3E}">
        <p14:creationId xmlns:p14="http://schemas.microsoft.com/office/powerpoint/2010/main" val="733428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dirty="0">
                <a:effectLst/>
                <a:latin typeface="Aptos"/>
                <a:ea typeface="Aptos"/>
                <a:cs typeface="Times New Roman" panose="02020603050405020304" pitchFamily="18" charset="0"/>
              </a:rPr>
              <a:t>Wir zeigen heute die Luftqualität in acht europäischen Hauptstädten. Die fachliche Frage lautet: Wie hoch liegen PM2.5, PM10 und NO2 im betrachteten Datensatz, und wie lässt sich die aktuelle Lage im Verhältnis zur historischen Mess-Baseline einordnen? Technisch ist das ein Big-Data-Engineering-Projekt mit drei Quellen: EEA(European Environment Agency), Wikipedia und Open-Meteo. Die Daten werden in einer Bronze-</a:t>
            </a:r>
            <a:r>
              <a:rPr lang="de-DE" sz="1800" dirty="0" err="1">
                <a:effectLst/>
                <a:latin typeface="Aptos"/>
                <a:ea typeface="Aptos"/>
                <a:cs typeface="Times New Roman" panose="02020603050405020304" pitchFamily="18" charset="0"/>
              </a:rPr>
              <a:t>Silver</a:t>
            </a:r>
            <a:r>
              <a:rPr lang="de-DE" sz="1800" dirty="0">
                <a:effectLst/>
                <a:latin typeface="Aptos"/>
                <a:ea typeface="Aptos"/>
                <a:cs typeface="Times New Roman" panose="02020603050405020304" pitchFamily="18" charset="0"/>
              </a:rPr>
              <a:t>-Gold-Architektur verarbeitet. </a:t>
            </a:r>
            <a:endParaRPr lang="en-GB" sz="1800" dirty="0">
              <a:effectLst/>
              <a:latin typeface="Aptos"/>
              <a:ea typeface="Aptos"/>
              <a:cs typeface="Times New Roman" panose="02020603050405020304" pitchFamily="18" charset="0"/>
            </a:endParaRPr>
          </a:p>
          <a:p>
            <a:endParaRPr lang="en-GB" dirty="0"/>
          </a:p>
        </p:txBody>
      </p:sp>
      <p:sp>
        <p:nvSpPr>
          <p:cNvPr id="4" name="Foliennummernplatzhalter 3"/>
          <p:cNvSpPr>
            <a:spLocks noGrp="1"/>
          </p:cNvSpPr>
          <p:nvPr>
            <p:ph type="sldNum" sz="quarter" idx="5"/>
          </p:nvPr>
        </p:nvSpPr>
        <p:spPr/>
        <p:txBody>
          <a:bodyPr/>
          <a:lstStyle/>
          <a:p>
            <a:fld id="{C45BD0C9-3F00-46B0-87F3-0290CBDB6516}" type="slidenum">
              <a:rPr lang="en-GB" smtClean="0"/>
              <a:t>1</a:t>
            </a:fld>
            <a:endParaRPr lang="en-GB"/>
          </a:p>
        </p:txBody>
      </p:sp>
    </p:spTree>
    <p:extLst>
      <p:ext uri="{BB962C8B-B14F-4D97-AF65-F5344CB8AC3E}">
        <p14:creationId xmlns:p14="http://schemas.microsoft.com/office/powerpoint/2010/main" val="24527092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dirty="0">
                <a:effectLst/>
                <a:latin typeface="Aptos"/>
                <a:ea typeface="Aptos"/>
                <a:cs typeface="Times New Roman" panose="02020603050405020304" pitchFamily="18" charset="0"/>
              </a:rPr>
              <a:t>Unsere technische Umsetzung folgt direkt aus der Fragestellung. Für robuste Aussagen brauchen wir historische Messdaten; dafür nutzen wir die validierten EEA-Werte. Für Stadtkontext, etwa Bevölkerungsdichte, verwenden wir Wikipedia als Web-</a:t>
            </a:r>
            <a:r>
              <a:rPr lang="de-DE" sz="1800" dirty="0" err="1">
                <a:effectLst/>
                <a:latin typeface="Aptos"/>
                <a:ea typeface="Aptos"/>
                <a:cs typeface="Times New Roman" panose="02020603050405020304" pitchFamily="18" charset="0"/>
              </a:rPr>
              <a:t>Scraping</a:t>
            </a:r>
            <a:r>
              <a:rPr lang="de-DE" sz="1800" dirty="0">
                <a:effectLst/>
                <a:latin typeface="Aptos"/>
                <a:ea typeface="Aptos"/>
                <a:cs typeface="Times New Roman" panose="02020603050405020304" pitchFamily="18" charset="0"/>
              </a:rPr>
              <a:t>-Quelle. Open-Meteo ergänzt aktuelle Modellwerte und bildet den Live-Pfad. Kafka und Spark sind hier nicht Selbstzweck: Sie zeigen, dass aktuelle Ereignisse in dieselbe Pipeline aufgenommen und gegen eine historische Baseline eingeordnet werden können. Bronze, </a:t>
            </a:r>
            <a:r>
              <a:rPr lang="de-DE" sz="1800" dirty="0" err="1">
                <a:effectLst/>
                <a:latin typeface="Aptos"/>
                <a:ea typeface="Aptos"/>
                <a:cs typeface="Times New Roman" panose="02020603050405020304" pitchFamily="18" charset="0"/>
              </a:rPr>
              <a:t>Silver</a:t>
            </a:r>
            <a:r>
              <a:rPr lang="de-DE" sz="1800" dirty="0">
                <a:effectLst/>
                <a:latin typeface="Aptos"/>
                <a:ea typeface="Aptos"/>
                <a:cs typeface="Times New Roman" panose="02020603050405020304" pitchFamily="18" charset="0"/>
              </a:rPr>
              <a:t> und Gold trennen Rohdaten, Bereinigung und analysefertige Ergebnisse.</a:t>
            </a:r>
            <a:endParaRPr lang="en-GB" sz="1800" dirty="0">
              <a:effectLst/>
              <a:latin typeface="Aptos"/>
              <a:ea typeface="Aptos"/>
              <a:cs typeface="Times New Roman" panose="02020603050405020304" pitchFamily="18" charset="0"/>
            </a:endParaRPr>
          </a:p>
          <a:p>
            <a:endParaRPr lang="en-GB" dirty="0"/>
          </a:p>
        </p:txBody>
      </p:sp>
      <p:sp>
        <p:nvSpPr>
          <p:cNvPr id="4" name="Foliennummernplatzhalter 3"/>
          <p:cNvSpPr>
            <a:spLocks noGrp="1"/>
          </p:cNvSpPr>
          <p:nvPr>
            <p:ph type="sldNum" sz="quarter" idx="5"/>
          </p:nvPr>
        </p:nvSpPr>
        <p:spPr/>
        <p:txBody>
          <a:bodyPr/>
          <a:lstStyle/>
          <a:p>
            <a:fld id="{C45BD0C9-3F00-46B0-87F3-0290CBDB6516}" type="slidenum">
              <a:rPr lang="en-GB" smtClean="0"/>
              <a:t>2</a:t>
            </a:fld>
            <a:endParaRPr lang="en-GB"/>
          </a:p>
        </p:txBody>
      </p:sp>
    </p:spTree>
    <p:extLst>
      <p:ext uri="{BB962C8B-B14F-4D97-AF65-F5344CB8AC3E}">
        <p14:creationId xmlns:p14="http://schemas.microsoft.com/office/powerpoint/2010/main" val="511276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dirty="0">
                <a:effectLst/>
                <a:latin typeface="Aptos"/>
                <a:ea typeface="Aptos"/>
                <a:cs typeface="Times New Roman" panose="02020603050405020304" pitchFamily="18" charset="0"/>
              </a:rPr>
              <a:t>Die Datengrundlage ist bewusst zuerst sichtbar gemacht, bevor wir interpretieren. Wir betrachten acht Städte, das vollständige Kalenderjahr 2025 und drei Schadstoffe. Historisch stehen dahinter 2,35 Millionen validierte EEA-Stundenwerte, die zu 7.938 Tagesmitteln in der Gold-Schicht verdichtet wurden. Zusätzlich gibt es 192 Open-Meteo-Liveevents, also 8 Städte mal 24 Stunden. Die drei Quellen haben unterschiedliche Rollen: EEA ist die Messbasis, Wikipedia liefert Kontext, Open-Meteo liefert aktuelle Modellwerte. Diese Quellen werden nicht unkritisch gleichgesetzt.</a:t>
            </a:r>
            <a:endParaRPr lang="en-GB" sz="1800" dirty="0">
              <a:effectLst/>
              <a:latin typeface="Aptos"/>
              <a:ea typeface="Aptos"/>
              <a:cs typeface="Times New Roman" panose="02020603050405020304" pitchFamily="18" charset="0"/>
            </a:endParaRPr>
          </a:p>
          <a:p>
            <a:endParaRPr lang="en-GB" dirty="0"/>
          </a:p>
        </p:txBody>
      </p:sp>
      <p:sp>
        <p:nvSpPr>
          <p:cNvPr id="4" name="Foliennummernplatzhalter 3"/>
          <p:cNvSpPr>
            <a:spLocks noGrp="1"/>
          </p:cNvSpPr>
          <p:nvPr>
            <p:ph type="sldNum" sz="quarter" idx="5"/>
          </p:nvPr>
        </p:nvSpPr>
        <p:spPr/>
        <p:txBody>
          <a:bodyPr/>
          <a:lstStyle/>
          <a:p>
            <a:fld id="{C45BD0C9-3F00-46B0-87F3-0290CBDB6516}" type="slidenum">
              <a:rPr lang="en-GB" smtClean="0"/>
              <a:t>3</a:t>
            </a:fld>
            <a:endParaRPr lang="en-GB"/>
          </a:p>
        </p:txBody>
      </p:sp>
    </p:spTree>
    <p:extLst>
      <p:ext uri="{BB962C8B-B14F-4D97-AF65-F5344CB8AC3E}">
        <p14:creationId xmlns:p14="http://schemas.microsoft.com/office/powerpoint/2010/main" val="36607428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dirty="0">
                <a:effectLst/>
                <a:latin typeface="Aptos"/>
                <a:ea typeface="Aptos"/>
                <a:cs typeface="Times New Roman" panose="02020603050405020304" pitchFamily="18" charset="0"/>
              </a:rPr>
              <a:t>Der erste Befund ist der klarste: Alle acht Städte liegen beim Jahresmittel für NO2 über dem WHO-2021-Richtwert von 10 Mikrogramm pro Kubikmeter. Die Spannweite reicht von 15,3 bis 25,0 Mikrogramm, also ungefähr das 1,5- bis 2,5-Fache der WHO-Empfehlung. Auch PM2.5 liegt bei allen Städten mit validierter PM2.5-Referenz über dem WHO-Wert von 5. Wichtig ist die Einschränkung bei Rom: Dort fehlen validierte EEA-Werte für PM2.5 und PM10. Diese Lücke wird offengelegt, nicht aufgefüllt.</a:t>
            </a:r>
            <a:endParaRPr lang="en-GB" sz="1800" dirty="0">
              <a:effectLst/>
              <a:latin typeface="Aptos"/>
              <a:ea typeface="Aptos"/>
              <a:cs typeface="Times New Roman" panose="02020603050405020304" pitchFamily="18" charset="0"/>
            </a:endParaRPr>
          </a:p>
          <a:p>
            <a:endParaRPr lang="en-GB" dirty="0"/>
          </a:p>
        </p:txBody>
      </p:sp>
      <p:sp>
        <p:nvSpPr>
          <p:cNvPr id="4" name="Foliennummernplatzhalter 3"/>
          <p:cNvSpPr>
            <a:spLocks noGrp="1"/>
          </p:cNvSpPr>
          <p:nvPr>
            <p:ph type="sldNum" sz="quarter" idx="5"/>
          </p:nvPr>
        </p:nvSpPr>
        <p:spPr/>
        <p:txBody>
          <a:bodyPr/>
          <a:lstStyle/>
          <a:p>
            <a:fld id="{C45BD0C9-3F00-46B0-87F3-0290CBDB6516}" type="slidenum">
              <a:rPr lang="en-GB" smtClean="0"/>
              <a:t>4</a:t>
            </a:fld>
            <a:endParaRPr lang="en-GB"/>
          </a:p>
        </p:txBody>
      </p:sp>
    </p:spTree>
    <p:extLst>
      <p:ext uri="{BB962C8B-B14F-4D97-AF65-F5344CB8AC3E}">
        <p14:creationId xmlns:p14="http://schemas.microsoft.com/office/powerpoint/2010/main" val="2193709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dirty="0">
                <a:effectLst/>
                <a:latin typeface="Aptos"/>
                <a:ea typeface="Aptos"/>
                <a:cs typeface="Times New Roman" panose="02020603050405020304" pitchFamily="18" charset="0"/>
              </a:rPr>
              <a:t>Beim Feinstaub PM2.5 liegen Warschau und Prag mit etwa 14,7 beziehungsweise 14,5 Mikrogramm pro Kubikmeter an der Spitze. Am unteren Ende stehen Madrid, Amsterdam und Wien mit ungefähr 9 bis 10 Mikrogramm. Trotzdem liegen alle vergleichbaren Städte deutlich über dem WHO-Wert von 5. Die Fehlerbalken sind hier wesentlich: Sie zeigen die Schwankung der Tageswerte. Kleine Unterschiede zwischen benachbarten Städten dürfen daher nicht als sichere Rangunterschiede überinterpretiert werden. Die Aussage bleibt deskriptiv und auf den betrachteten Datensatz begrenzt.</a:t>
            </a:r>
            <a:endParaRPr lang="en-GB" sz="1800" dirty="0">
              <a:effectLst/>
              <a:latin typeface="Aptos"/>
              <a:ea typeface="Aptos"/>
              <a:cs typeface="Times New Roman" panose="02020603050405020304" pitchFamily="18" charset="0"/>
            </a:endParaRPr>
          </a:p>
          <a:p>
            <a:endParaRPr lang="en-GB" dirty="0"/>
          </a:p>
        </p:txBody>
      </p:sp>
      <p:sp>
        <p:nvSpPr>
          <p:cNvPr id="4" name="Foliennummernplatzhalter 3"/>
          <p:cNvSpPr>
            <a:spLocks noGrp="1"/>
          </p:cNvSpPr>
          <p:nvPr>
            <p:ph type="sldNum" sz="quarter" idx="5"/>
          </p:nvPr>
        </p:nvSpPr>
        <p:spPr/>
        <p:txBody>
          <a:bodyPr/>
          <a:lstStyle/>
          <a:p>
            <a:fld id="{C45BD0C9-3F00-46B0-87F3-0290CBDB6516}" type="slidenum">
              <a:rPr lang="en-GB" smtClean="0"/>
              <a:t>5</a:t>
            </a:fld>
            <a:endParaRPr lang="en-GB"/>
          </a:p>
        </p:txBody>
      </p:sp>
    </p:spTree>
    <p:extLst>
      <p:ext uri="{BB962C8B-B14F-4D97-AF65-F5344CB8AC3E}">
        <p14:creationId xmlns:p14="http://schemas.microsoft.com/office/powerpoint/2010/main" val="39911368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dirty="0">
                <a:effectLst/>
                <a:latin typeface="Aptos"/>
                <a:ea typeface="Aptos"/>
                <a:cs typeface="Times New Roman" panose="02020603050405020304" pitchFamily="18" charset="0"/>
              </a:rPr>
              <a:t>Die Mittelwerte erzählen nur einen Teil der Geschichte. Die Boxplots zeigen, dass der Median bei jedem Schadstoff bereits über dem WHO-Richtwert liegt. Es handelt sich also nicht nur um einzelne Ausreißer. Gleichzeitig zeigen die langen Oberschwänze stark belastete Tage. Die Zeitreihe macht sichtbar, dass PM2.5-Spitzen besonders im Winter auftreten. Eine plausible fachliche Einordnung sind Heizen und Inversionswetterlagen. Das ist aber kein kausaler Nachweis, sondern eine vorsichtige Interpretation eines bekannten Musters. Fehlende Tage werden nicht interpoliert. Anmerkung: Madrid Saharastaub.</a:t>
            </a:r>
            <a:endParaRPr lang="en-GB" sz="1800" dirty="0">
              <a:effectLst/>
              <a:latin typeface="Aptos"/>
              <a:ea typeface="Aptos"/>
              <a:cs typeface="Times New Roman" panose="02020603050405020304" pitchFamily="18" charset="0"/>
            </a:endParaRPr>
          </a:p>
          <a:p>
            <a:endParaRPr lang="en-GB" dirty="0"/>
          </a:p>
        </p:txBody>
      </p:sp>
      <p:sp>
        <p:nvSpPr>
          <p:cNvPr id="4" name="Foliennummernplatzhalter 3"/>
          <p:cNvSpPr>
            <a:spLocks noGrp="1"/>
          </p:cNvSpPr>
          <p:nvPr>
            <p:ph type="sldNum" sz="quarter" idx="5"/>
          </p:nvPr>
        </p:nvSpPr>
        <p:spPr/>
        <p:txBody>
          <a:bodyPr/>
          <a:lstStyle/>
          <a:p>
            <a:fld id="{C45BD0C9-3F00-46B0-87F3-0290CBDB6516}" type="slidenum">
              <a:rPr lang="en-GB" smtClean="0"/>
              <a:t>6</a:t>
            </a:fld>
            <a:endParaRPr lang="en-GB"/>
          </a:p>
        </p:txBody>
      </p:sp>
    </p:spTree>
    <p:extLst>
      <p:ext uri="{BB962C8B-B14F-4D97-AF65-F5344CB8AC3E}">
        <p14:creationId xmlns:p14="http://schemas.microsoft.com/office/powerpoint/2010/main" val="709806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dirty="0">
                <a:effectLst/>
                <a:latin typeface="Aptos"/>
                <a:ea typeface="Aptos"/>
                <a:cs typeface="Times New Roman" panose="02020603050405020304" pitchFamily="18" charset="0"/>
              </a:rPr>
              <a:t>Hier verknüpfen wir zwei Quellen: Bevölkerungsdichte aus Wikipedia und PM2.5 aus EEA-Messdaten. Die naheliegende Vermutung wäre: dichtere Städte haben höhere Belastung. Der Zusammenhang ist in unserem Datensatz aber nicht robust. Über alle vergleichbaren Städte liegt die Korrelation ungefähr bei minus 0,23, ohne Paris kippt sie auf etwa minus 0,95. Paris ist ein Sonderfall, weil Wikipedia Paris als Kernkommune mit rund 105 Quadratkilometern führt. Diese Flächenabgrenzung ist mit den anderen Städten nicht direkt vergleichbar. Deshalb keine Kausalbehauptung.</a:t>
            </a:r>
            <a:endParaRPr lang="en-GB" sz="1800" dirty="0">
              <a:effectLst/>
              <a:latin typeface="Aptos"/>
              <a:ea typeface="Aptos"/>
              <a:cs typeface="Times New Roman" panose="02020603050405020304" pitchFamily="18" charset="0"/>
            </a:endParaRPr>
          </a:p>
          <a:p>
            <a:endParaRPr lang="en-GB" dirty="0"/>
          </a:p>
        </p:txBody>
      </p:sp>
      <p:sp>
        <p:nvSpPr>
          <p:cNvPr id="4" name="Foliennummernplatzhalter 3"/>
          <p:cNvSpPr>
            <a:spLocks noGrp="1"/>
          </p:cNvSpPr>
          <p:nvPr>
            <p:ph type="sldNum" sz="quarter" idx="5"/>
          </p:nvPr>
        </p:nvSpPr>
        <p:spPr/>
        <p:txBody>
          <a:bodyPr/>
          <a:lstStyle/>
          <a:p>
            <a:fld id="{C45BD0C9-3F00-46B0-87F3-0290CBDB6516}" type="slidenum">
              <a:rPr lang="en-GB" smtClean="0"/>
              <a:t>7</a:t>
            </a:fld>
            <a:endParaRPr lang="en-GB"/>
          </a:p>
        </p:txBody>
      </p:sp>
    </p:spTree>
    <p:extLst>
      <p:ext uri="{BB962C8B-B14F-4D97-AF65-F5344CB8AC3E}">
        <p14:creationId xmlns:p14="http://schemas.microsoft.com/office/powerpoint/2010/main" val="2331405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dirty="0">
                <a:effectLst/>
                <a:latin typeface="Aptos"/>
                <a:ea typeface="Aptos"/>
                <a:cs typeface="Times New Roman" panose="02020603050405020304" pitchFamily="18" charset="0"/>
              </a:rPr>
              <a:t>Diese Folie verbindet die historische Analyse mit dem Live-Pfad. Aus den EEA-Tageswerten bilden wir je Stadt und Schadstoff den historischen Median für 2025. Die aktuellen Open-Meteo-Modellwerte werden über Kafka erzeugt, von Spark gelesen und anschließend gegen diesen Median eingeordnet. Positive Abweichungen bedeuten: Der aktuelle Modellwert liegt über der historischen Median-Baseline. Negative Abweichungen bedeuten: Er liegt darunter. Es gibt 24 mögliche Paare, davon 22 mit historischer Referenz und 2 ohne Referenz, nämlich Rom bei PM2.5 und PM10. Der Vergleich bleibt explorativ.</a:t>
            </a:r>
            <a:endParaRPr lang="en-GB" sz="1800" dirty="0">
              <a:effectLst/>
              <a:latin typeface="Aptos"/>
              <a:ea typeface="Aptos"/>
              <a:cs typeface="Times New Roman" panose="02020603050405020304" pitchFamily="18" charset="0"/>
            </a:endParaRPr>
          </a:p>
          <a:p>
            <a:endParaRPr lang="en-GB" dirty="0"/>
          </a:p>
        </p:txBody>
      </p:sp>
      <p:sp>
        <p:nvSpPr>
          <p:cNvPr id="4" name="Foliennummernplatzhalter 3"/>
          <p:cNvSpPr>
            <a:spLocks noGrp="1"/>
          </p:cNvSpPr>
          <p:nvPr>
            <p:ph type="sldNum" sz="quarter" idx="5"/>
          </p:nvPr>
        </p:nvSpPr>
        <p:spPr/>
        <p:txBody>
          <a:bodyPr/>
          <a:lstStyle/>
          <a:p>
            <a:fld id="{C45BD0C9-3F00-46B0-87F3-0290CBDB6516}" type="slidenum">
              <a:rPr lang="en-GB" smtClean="0"/>
              <a:t>8</a:t>
            </a:fld>
            <a:endParaRPr lang="en-GB"/>
          </a:p>
        </p:txBody>
      </p:sp>
    </p:spTree>
    <p:extLst>
      <p:ext uri="{BB962C8B-B14F-4D97-AF65-F5344CB8AC3E}">
        <p14:creationId xmlns:p14="http://schemas.microsoft.com/office/powerpoint/2010/main" val="22047991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dirty="0">
                <a:effectLst/>
                <a:latin typeface="Aptos"/>
                <a:ea typeface="Aptos"/>
                <a:cs typeface="Times New Roman" panose="02020603050405020304" pitchFamily="18" charset="0"/>
              </a:rPr>
              <a:t>Diese Folie ist methodisch wichtig. Erstens: Wir beschreiben Muster, behaupten aber keine Ursachen. Zweitens: Es gibt keine pauschale Rangliste der Städte, weil sich die Reihenfolge je Schadstoff ändert. Drittens: Datenlücken bleiben Datenlücken; Rom wird bei fehlenden PM-Werten nicht geschätzt. Viertens: EEA und Open-Meteo werden sauber getrennt. EEA sind historische Messdaten, Open-Meteo sind aktuelle Modellwerte. Besonders der Live-</a:t>
            </a:r>
            <a:r>
              <a:rPr lang="de-DE" sz="1800" dirty="0" err="1">
                <a:effectLst/>
                <a:latin typeface="Aptos"/>
                <a:ea typeface="Aptos"/>
                <a:cs typeface="Times New Roman" panose="02020603050405020304" pitchFamily="18" charset="0"/>
              </a:rPr>
              <a:t>vs</a:t>
            </a:r>
            <a:r>
              <a:rPr lang="de-DE" sz="1800" dirty="0">
                <a:effectLst/>
                <a:latin typeface="Aptos"/>
                <a:ea typeface="Aptos"/>
                <a:cs typeface="Times New Roman" panose="02020603050405020304" pitchFamily="18" charset="0"/>
              </a:rPr>
              <a:t>-Median-Vergleich ist daher eine Lageeinordnung, aber kein Ersatz für eine historische Jahresanalyse.</a:t>
            </a:r>
            <a:endParaRPr lang="en-GB" sz="1800" dirty="0">
              <a:effectLst/>
              <a:latin typeface="Aptos"/>
              <a:ea typeface="Aptos"/>
              <a:cs typeface="Times New Roman" panose="02020603050405020304" pitchFamily="18" charset="0"/>
            </a:endParaRPr>
          </a:p>
          <a:p>
            <a:endParaRPr lang="en-GB" dirty="0"/>
          </a:p>
        </p:txBody>
      </p:sp>
      <p:sp>
        <p:nvSpPr>
          <p:cNvPr id="4" name="Foliennummernplatzhalter 3"/>
          <p:cNvSpPr>
            <a:spLocks noGrp="1"/>
          </p:cNvSpPr>
          <p:nvPr>
            <p:ph type="sldNum" sz="quarter" idx="5"/>
          </p:nvPr>
        </p:nvSpPr>
        <p:spPr/>
        <p:txBody>
          <a:bodyPr/>
          <a:lstStyle/>
          <a:p>
            <a:fld id="{C45BD0C9-3F00-46B0-87F3-0290CBDB6516}" type="slidenum">
              <a:rPr lang="en-GB" smtClean="0"/>
              <a:t>9</a:t>
            </a:fld>
            <a:endParaRPr lang="en-GB"/>
          </a:p>
        </p:txBody>
      </p:sp>
    </p:spTree>
    <p:extLst>
      <p:ext uri="{BB962C8B-B14F-4D97-AF65-F5344CB8AC3E}">
        <p14:creationId xmlns:p14="http://schemas.microsoft.com/office/powerpoint/2010/main" val="9956423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dirty="0">
                <a:effectLst/>
                <a:latin typeface="Aptos"/>
                <a:ea typeface="Aptos"/>
                <a:cs typeface="Times New Roman" panose="02020603050405020304" pitchFamily="18" charset="0"/>
              </a:rPr>
              <a:t>Drei Aussagen sollen hängen bleiben. Erstens: NO2 ist der klarste Befund. Alle acht Städte überschreiten den WHO-NO2-Richtwert, mit Jahresmitteln zwischen 15 und 25 Mikrogramm statt 10. Zweitens: Schadstoff schlägt Stadt. PM2.5, PM10 und NO2 zeigen unterschiedliche Muster, daher wäre eine einzige Gesamtrangliste irreführend. Drittens: Die Live-Daten werden sinnvoll eingeordnet, aber nicht mit EEA gleichgesetzt. Open-Meteo liefert aktuelle Modellwerte, die explorativ gegen den historischen EEA-Median gelesen werden. Der Code und die Ergebnisse liegen im Repository.</a:t>
            </a:r>
            <a:endParaRPr lang="en-GB" sz="1800">
              <a:effectLst/>
              <a:latin typeface="Aptos"/>
              <a:ea typeface="Aptos"/>
              <a:cs typeface="Times New Roman" panose="02020603050405020304" pitchFamily="18" charset="0"/>
            </a:endParaRPr>
          </a:p>
          <a:p>
            <a:endParaRPr lang="en-GB" dirty="0"/>
          </a:p>
        </p:txBody>
      </p:sp>
      <p:sp>
        <p:nvSpPr>
          <p:cNvPr id="4" name="Foliennummernplatzhalter 3"/>
          <p:cNvSpPr>
            <a:spLocks noGrp="1"/>
          </p:cNvSpPr>
          <p:nvPr>
            <p:ph type="sldNum" sz="quarter" idx="5"/>
          </p:nvPr>
        </p:nvSpPr>
        <p:spPr/>
        <p:txBody>
          <a:bodyPr/>
          <a:lstStyle/>
          <a:p>
            <a:fld id="{C45BD0C9-3F00-46B0-87F3-0290CBDB6516}" type="slidenum">
              <a:rPr lang="en-GB" smtClean="0"/>
              <a:t>10</a:t>
            </a:fld>
            <a:endParaRPr lang="en-GB"/>
          </a:p>
        </p:txBody>
      </p:sp>
    </p:spTree>
    <p:extLst>
      <p:ext uri="{BB962C8B-B14F-4D97-AF65-F5344CB8AC3E}">
        <p14:creationId xmlns:p14="http://schemas.microsoft.com/office/powerpoint/2010/main" val="3527128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hyperlink" Target="https://iris.who.int/server/api/core/bitstreams/551b515e-2a32-4e1a-a58c-cdaecd395b19/content" TargetMode="Externa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5.jpg"/><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1.png"/>
          <p:cNvPicPr>
            <a:picLocks noChangeAspect="1"/>
          </p:cNvPicPr>
          <p:nvPr/>
        </p:nvPicPr>
        <p:blipFill>
          <a:blip r:embed="rId3"/>
          <a:stretch>
            <a:fillRect/>
          </a:stretch>
        </p:blipFill>
        <p:spPr>
          <a:xfrm>
            <a:off x="9235440" y="411480"/>
            <a:ext cx="2286000" cy="1175133"/>
          </a:xfrm>
          <a:prstGeom prst="rect">
            <a:avLst/>
          </a:prstGeom>
        </p:spPr>
      </p:pic>
      <p:sp>
        <p:nvSpPr>
          <p:cNvPr id="3" name="TextBox 2"/>
          <p:cNvSpPr txBox="1"/>
          <p:nvPr/>
        </p:nvSpPr>
        <p:spPr>
          <a:xfrm>
            <a:off x="594360" y="475488"/>
            <a:ext cx="7680960" cy="256032"/>
          </a:xfrm>
          <a:prstGeom prst="rect">
            <a:avLst/>
          </a:prstGeom>
          <a:noFill/>
        </p:spPr>
        <p:txBody>
          <a:bodyPr wrap="square" lIns="18288" tIns="18288" rIns="18288" bIns="18288" anchor="t">
            <a:spAutoFit/>
          </a:bodyPr>
          <a:lstStyle/>
          <a:p>
            <a:pPr>
              <a:defRPr sz="1200" b="1">
                <a:solidFill>
                  <a:srgbClr val="005B82"/>
                </a:solidFill>
                <a:latin typeface="Aptos"/>
              </a:defRPr>
            </a:pPr>
            <a:r>
              <a:t>Big-Data-Engineering · Abschlusspräsentation · Juli 2026</a:t>
            </a:r>
          </a:p>
        </p:txBody>
      </p:sp>
      <p:sp>
        <p:nvSpPr>
          <p:cNvPr id="4" name="TextBox 3"/>
          <p:cNvSpPr txBox="1"/>
          <p:nvPr/>
        </p:nvSpPr>
        <p:spPr>
          <a:xfrm>
            <a:off x="594360" y="1097280"/>
            <a:ext cx="7498079" cy="1051560"/>
          </a:xfrm>
          <a:prstGeom prst="rect">
            <a:avLst/>
          </a:prstGeom>
          <a:noFill/>
        </p:spPr>
        <p:txBody>
          <a:bodyPr wrap="square" lIns="18288" tIns="18288" rIns="18288" bIns="18288" anchor="t">
            <a:spAutoFit/>
          </a:bodyPr>
          <a:lstStyle/>
          <a:p>
            <a:pPr>
              <a:defRPr sz="3700" b="1">
                <a:solidFill>
                  <a:srgbClr val="141414"/>
                </a:solidFill>
                <a:latin typeface="Aptos Display"/>
              </a:defRPr>
            </a:pPr>
            <a:r>
              <a:t>Luftqualität in 8</a:t>
            </a:r>
            <a:br/>
            <a:r>
              <a:t>europäischen Hauptstädten</a:t>
            </a:r>
          </a:p>
        </p:txBody>
      </p:sp>
      <p:sp>
        <p:nvSpPr>
          <p:cNvPr id="5" name="TextBox 4"/>
          <p:cNvSpPr txBox="1"/>
          <p:nvPr/>
        </p:nvSpPr>
        <p:spPr>
          <a:xfrm>
            <a:off x="621792" y="2304288"/>
            <a:ext cx="8229600" cy="320040"/>
          </a:xfrm>
          <a:prstGeom prst="rect">
            <a:avLst/>
          </a:prstGeom>
          <a:noFill/>
        </p:spPr>
        <p:txBody>
          <a:bodyPr wrap="square" lIns="18288" tIns="18288" rIns="18288" bIns="18288" anchor="t">
            <a:spAutoFit/>
          </a:bodyPr>
          <a:lstStyle/>
          <a:p>
            <a:pPr>
              <a:defRPr sz="2000" b="0">
                <a:solidFill>
                  <a:srgbClr val="141414"/>
                </a:solidFill>
                <a:latin typeface="Aptos"/>
              </a:defRPr>
            </a:pPr>
            <a:r>
              <a:t>Historische EEA-Baseline und aktuelle Open-Meteo-Einordnung</a:t>
            </a:r>
          </a:p>
        </p:txBody>
      </p:sp>
      <p:sp>
        <p:nvSpPr>
          <p:cNvPr id="6" name="TextBox 5"/>
          <p:cNvSpPr txBox="1"/>
          <p:nvPr/>
        </p:nvSpPr>
        <p:spPr>
          <a:xfrm>
            <a:off x="621792" y="3063240"/>
            <a:ext cx="1097280" cy="256032"/>
          </a:xfrm>
          <a:prstGeom prst="rect">
            <a:avLst/>
          </a:prstGeom>
          <a:noFill/>
        </p:spPr>
        <p:txBody>
          <a:bodyPr wrap="square" lIns="18288" tIns="18288" rIns="18288" bIns="18288" anchor="t">
            <a:spAutoFit/>
          </a:bodyPr>
          <a:lstStyle/>
          <a:p>
            <a:pPr>
              <a:defRPr sz="1200" b="1">
                <a:solidFill>
                  <a:srgbClr val="005B82"/>
                </a:solidFill>
                <a:latin typeface="Aptos"/>
              </a:defRPr>
            </a:pPr>
            <a:r>
              <a:t>Story</a:t>
            </a:r>
          </a:p>
        </p:txBody>
      </p:sp>
      <p:sp>
        <p:nvSpPr>
          <p:cNvPr id="7" name="TextBox 6"/>
          <p:cNvSpPr txBox="1"/>
          <p:nvPr/>
        </p:nvSpPr>
        <p:spPr>
          <a:xfrm>
            <a:off x="621792" y="3383280"/>
            <a:ext cx="8686800" cy="594360"/>
          </a:xfrm>
          <a:prstGeom prst="rect">
            <a:avLst/>
          </a:prstGeom>
          <a:noFill/>
        </p:spPr>
        <p:txBody>
          <a:bodyPr wrap="square" lIns="18288" tIns="18288" rIns="18288" bIns="18288" anchor="t">
            <a:spAutoFit/>
          </a:bodyPr>
          <a:lstStyle/>
          <a:p>
            <a:pPr>
              <a:defRPr sz="1800" b="0">
                <a:solidFill>
                  <a:srgbClr val="141414"/>
                </a:solidFill>
                <a:latin typeface="Aptos"/>
              </a:defRPr>
            </a:pPr>
            <a:r>
              <a:t>Wie liegen PM2.5, PM10 und NO2 in acht Städten - und was sagt die aktuelle Lage im Verhältnis zur historischen Mess-Baseline?</a:t>
            </a:r>
          </a:p>
        </p:txBody>
      </p:sp>
      <p:sp>
        <p:nvSpPr>
          <p:cNvPr id="8" name="TextBox 7"/>
          <p:cNvSpPr txBox="1"/>
          <p:nvPr/>
        </p:nvSpPr>
        <p:spPr>
          <a:xfrm>
            <a:off x="621792" y="4343400"/>
            <a:ext cx="1280160" cy="256032"/>
          </a:xfrm>
          <a:prstGeom prst="rect">
            <a:avLst/>
          </a:prstGeom>
          <a:noFill/>
        </p:spPr>
        <p:txBody>
          <a:bodyPr wrap="square" lIns="18288" tIns="18288" rIns="18288" bIns="18288" anchor="t">
            <a:spAutoFit/>
          </a:bodyPr>
          <a:lstStyle/>
          <a:p>
            <a:pPr>
              <a:defRPr sz="1200" b="1">
                <a:solidFill>
                  <a:srgbClr val="005B82"/>
                </a:solidFill>
                <a:latin typeface="Aptos"/>
              </a:defRPr>
            </a:pPr>
            <a:r>
              <a:t>Pipeline</a:t>
            </a:r>
          </a:p>
        </p:txBody>
      </p:sp>
      <p:sp>
        <p:nvSpPr>
          <p:cNvPr id="9" name="TextBox 8"/>
          <p:cNvSpPr txBox="1"/>
          <p:nvPr/>
        </p:nvSpPr>
        <p:spPr>
          <a:xfrm>
            <a:off x="621792" y="4663440"/>
            <a:ext cx="8869680" cy="320040"/>
          </a:xfrm>
          <a:prstGeom prst="rect">
            <a:avLst/>
          </a:prstGeom>
          <a:noFill/>
        </p:spPr>
        <p:txBody>
          <a:bodyPr wrap="square" lIns="18288" tIns="18288" rIns="18288" bIns="18288" anchor="t">
            <a:spAutoFit/>
          </a:bodyPr>
          <a:lstStyle/>
          <a:p>
            <a:pPr>
              <a:defRPr sz="1800" b="0">
                <a:solidFill>
                  <a:srgbClr val="141414"/>
                </a:solidFill>
                <a:latin typeface="Aptos"/>
              </a:defRPr>
            </a:pPr>
            <a:r>
              <a:t>EEA · Wikipedia · Open-Meteo  →  Kafka  →  Spark  →  Bronze / Silver / Gold</a:t>
            </a:r>
          </a:p>
        </p:txBody>
      </p:sp>
      <p:sp>
        <p:nvSpPr>
          <p:cNvPr id="10" name="TextBox 9"/>
          <p:cNvSpPr txBox="1"/>
          <p:nvPr/>
        </p:nvSpPr>
        <p:spPr>
          <a:xfrm>
            <a:off x="621792" y="5440680"/>
            <a:ext cx="1097280" cy="256032"/>
          </a:xfrm>
          <a:prstGeom prst="rect">
            <a:avLst/>
          </a:prstGeom>
          <a:noFill/>
        </p:spPr>
        <p:txBody>
          <a:bodyPr wrap="square" lIns="18288" tIns="18288" rIns="18288" bIns="18288" anchor="t">
            <a:spAutoFit/>
          </a:bodyPr>
          <a:lstStyle/>
          <a:p>
            <a:pPr>
              <a:defRPr sz="1200" b="1">
                <a:solidFill>
                  <a:srgbClr val="005B82"/>
                </a:solidFill>
                <a:latin typeface="Aptos"/>
              </a:defRPr>
            </a:pPr>
            <a:r>
              <a:t>Team</a:t>
            </a:r>
          </a:p>
        </p:txBody>
      </p:sp>
      <p:sp>
        <p:nvSpPr>
          <p:cNvPr id="11" name="TextBox 10"/>
          <p:cNvSpPr txBox="1"/>
          <p:nvPr/>
        </p:nvSpPr>
        <p:spPr>
          <a:xfrm>
            <a:off x="621792" y="5760720"/>
            <a:ext cx="5303520" cy="274320"/>
          </a:xfrm>
          <a:prstGeom prst="rect">
            <a:avLst/>
          </a:prstGeom>
          <a:noFill/>
        </p:spPr>
        <p:txBody>
          <a:bodyPr wrap="square" lIns="18288" tIns="18288" rIns="18288" bIns="18288" anchor="t">
            <a:spAutoFit/>
          </a:bodyPr>
          <a:lstStyle/>
          <a:p>
            <a:pPr>
              <a:defRPr sz="1600" b="0">
                <a:solidFill>
                  <a:srgbClr val="141414"/>
                </a:solidFill>
                <a:latin typeface="Aptos"/>
              </a:defRPr>
            </a:pPr>
            <a:r>
              <a:t>Yesillik Nisa · Bandat Manuel · Wiesmüller Georg</a:t>
            </a:r>
          </a:p>
        </p:txBody>
      </p:sp>
      <p:sp>
        <p:nvSpPr>
          <p:cNvPr id="12" name="TextBox 11"/>
          <p:cNvSpPr txBox="1"/>
          <p:nvPr/>
        </p:nvSpPr>
        <p:spPr>
          <a:xfrm>
            <a:off x="5943600" y="5760720"/>
            <a:ext cx="5120640" cy="274320"/>
          </a:xfrm>
          <a:prstGeom prst="rect">
            <a:avLst/>
          </a:prstGeom>
          <a:noFill/>
        </p:spPr>
        <p:txBody>
          <a:bodyPr wrap="square" lIns="18288" tIns="18288" rIns="18288" bIns="18288" anchor="t">
            <a:spAutoFit/>
          </a:bodyPr>
          <a:lstStyle/>
          <a:p>
            <a:pPr>
              <a:defRPr sz="1400" b="0">
                <a:solidFill>
                  <a:srgbClr val="5C5C5C"/>
                </a:solidFill>
                <a:latin typeface="Aptos"/>
              </a:defRPr>
            </a:pPr>
            <a:r>
              <a:t>Repository: github.com/OnlyMajorG/euro-air-quality-pipeline</a:t>
            </a:r>
          </a:p>
        </p:txBody>
      </p:sp>
      <p:sp>
        <p:nvSpPr>
          <p:cNvPr id="13" name="TextBox 12"/>
          <p:cNvSpPr txBox="1"/>
          <p:nvPr/>
        </p:nvSpPr>
        <p:spPr>
          <a:xfrm>
            <a:off x="11155680" y="6473952"/>
            <a:ext cx="548640" cy="182880"/>
          </a:xfrm>
          <a:prstGeom prst="rect">
            <a:avLst/>
          </a:prstGeom>
          <a:noFill/>
        </p:spPr>
        <p:txBody>
          <a:bodyPr wrap="square" lIns="18288" tIns="18288" rIns="18288" bIns="18288" anchor="t">
            <a:spAutoFit/>
          </a:bodyPr>
          <a:lstStyle/>
          <a:p>
            <a:pPr algn="r">
              <a:defRPr sz="900" b="0">
                <a:solidFill>
                  <a:srgbClr val="5C5C5C"/>
                </a:solidFill>
                <a:latin typeface="Aptos"/>
              </a:defRPr>
            </a:pPr>
            <a:r>
              <a:t>1 / 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2743200" cy="228600"/>
          </a:xfrm>
          <a:prstGeom prst="rect">
            <a:avLst/>
          </a:prstGeom>
          <a:noFill/>
        </p:spPr>
        <p:txBody>
          <a:bodyPr wrap="square" lIns="18288" tIns="18288" rIns="18288" bIns="18288" anchor="t">
            <a:spAutoFit/>
          </a:bodyPr>
          <a:lstStyle/>
          <a:p>
            <a:pPr>
              <a:defRPr sz="1200" b="1">
                <a:solidFill>
                  <a:srgbClr val="005B82"/>
                </a:solidFill>
                <a:latin typeface="Aptos"/>
              </a:defRPr>
            </a:pPr>
            <a:r>
              <a:t>01 · Leitfrage &amp; Rahmen</a:t>
            </a:r>
          </a:p>
        </p:txBody>
      </p:sp>
      <p:sp>
        <p:nvSpPr>
          <p:cNvPr id="3" name="TextBox 2"/>
          <p:cNvSpPr txBox="1"/>
          <p:nvPr/>
        </p:nvSpPr>
        <p:spPr>
          <a:xfrm>
            <a:off x="502920" y="530352"/>
            <a:ext cx="8321040" cy="411480"/>
          </a:xfrm>
          <a:prstGeom prst="rect">
            <a:avLst/>
          </a:prstGeom>
          <a:noFill/>
        </p:spPr>
        <p:txBody>
          <a:bodyPr wrap="square" lIns="18288" tIns="18288" rIns="18288" bIns="18288" anchor="t">
            <a:spAutoFit/>
          </a:bodyPr>
          <a:lstStyle/>
          <a:p>
            <a:pPr>
              <a:defRPr sz="2700" b="1">
                <a:solidFill>
                  <a:srgbClr val="141414"/>
                </a:solidFill>
                <a:latin typeface="Aptos Display"/>
              </a:defRPr>
            </a:pPr>
            <a:r>
              <a:t>Warum diese technische Umsetzung?</a:t>
            </a:r>
          </a:p>
        </p:txBody>
      </p:sp>
      <p:pic>
        <p:nvPicPr>
          <p:cNvPr id="4" name="Picture 3" descr="image-1-1.png"/>
          <p:cNvPicPr>
            <a:picLocks noChangeAspect="1"/>
          </p:cNvPicPr>
          <p:nvPr/>
        </p:nvPicPr>
        <p:blipFill>
          <a:blip r:embed="rId3"/>
          <a:stretch>
            <a:fillRect/>
          </a:stretch>
        </p:blipFill>
        <p:spPr>
          <a:xfrm>
            <a:off x="9921240" y="201168"/>
            <a:ext cx="1691640" cy="869598"/>
          </a:xfrm>
          <a:prstGeom prst="rect">
            <a:avLst/>
          </a:prstGeom>
        </p:spPr>
      </p:pic>
      <p:sp>
        <p:nvSpPr>
          <p:cNvPr id="5" name="TextBox 4"/>
          <p:cNvSpPr txBox="1"/>
          <p:nvPr/>
        </p:nvSpPr>
        <p:spPr>
          <a:xfrm>
            <a:off x="502920" y="6473952"/>
            <a:ext cx="3200400" cy="182880"/>
          </a:xfrm>
          <a:prstGeom prst="rect">
            <a:avLst/>
          </a:prstGeom>
          <a:noFill/>
        </p:spPr>
        <p:txBody>
          <a:bodyPr wrap="square" lIns="18288" tIns="18288" rIns="18288" bIns="18288" anchor="t">
            <a:spAutoFit/>
          </a:bodyPr>
          <a:lstStyle/>
          <a:p>
            <a:pPr>
              <a:defRPr sz="900" b="0">
                <a:solidFill>
                  <a:srgbClr val="5C5C5C"/>
                </a:solidFill>
                <a:latin typeface="Aptos"/>
              </a:defRPr>
            </a:pPr>
            <a:r>
              <a:t>Euro Air Quality Pipeline</a:t>
            </a:r>
          </a:p>
        </p:txBody>
      </p:sp>
      <p:sp>
        <p:nvSpPr>
          <p:cNvPr id="6" name="TextBox 5"/>
          <p:cNvSpPr txBox="1"/>
          <p:nvPr/>
        </p:nvSpPr>
        <p:spPr>
          <a:xfrm>
            <a:off x="11155680" y="6473952"/>
            <a:ext cx="548640" cy="182880"/>
          </a:xfrm>
          <a:prstGeom prst="rect">
            <a:avLst/>
          </a:prstGeom>
          <a:noFill/>
        </p:spPr>
        <p:txBody>
          <a:bodyPr wrap="square" lIns="18288" tIns="18288" rIns="18288" bIns="18288" anchor="t">
            <a:spAutoFit/>
          </a:bodyPr>
          <a:lstStyle/>
          <a:p>
            <a:pPr algn="r">
              <a:defRPr sz="900" b="0">
                <a:solidFill>
                  <a:srgbClr val="5C5C5C"/>
                </a:solidFill>
                <a:latin typeface="Aptos"/>
              </a:defRPr>
            </a:pPr>
            <a:r>
              <a:t>2 / 10</a:t>
            </a:r>
          </a:p>
        </p:txBody>
      </p:sp>
      <p:sp>
        <p:nvSpPr>
          <p:cNvPr id="7" name="TextBox 6"/>
          <p:cNvSpPr txBox="1"/>
          <p:nvPr/>
        </p:nvSpPr>
        <p:spPr>
          <a:xfrm>
            <a:off x="685800" y="1325880"/>
            <a:ext cx="2011680" cy="320040"/>
          </a:xfrm>
          <a:prstGeom prst="rect">
            <a:avLst/>
          </a:prstGeom>
          <a:noFill/>
        </p:spPr>
        <p:txBody>
          <a:bodyPr wrap="square" lIns="18288" tIns="18288" rIns="18288" bIns="18288" anchor="t">
            <a:spAutoFit/>
          </a:bodyPr>
          <a:lstStyle/>
          <a:p>
            <a:pPr>
              <a:defRPr sz="2000" b="1">
                <a:solidFill>
                  <a:srgbClr val="005B82"/>
                </a:solidFill>
                <a:latin typeface="Aptos"/>
              </a:defRPr>
            </a:pPr>
            <a:r>
              <a:t>Leitfrage</a:t>
            </a:r>
          </a:p>
        </p:txBody>
      </p:sp>
      <p:sp>
        <p:nvSpPr>
          <p:cNvPr id="8" name="TextBox 7"/>
          <p:cNvSpPr txBox="1"/>
          <p:nvPr/>
        </p:nvSpPr>
        <p:spPr>
          <a:xfrm>
            <a:off x="685800" y="1737360"/>
            <a:ext cx="10058400" cy="640080"/>
          </a:xfrm>
          <a:prstGeom prst="rect">
            <a:avLst/>
          </a:prstGeom>
          <a:noFill/>
        </p:spPr>
        <p:txBody>
          <a:bodyPr wrap="square" lIns="18288" tIns="18288" rIns="18288" bIns="18288" anchor="t">
            <a:spAutoFit/>
          </a:bodyPr>
          <a:lstStyle/>
          <a:p>
            <a:pPr>
              <a:defRPr sz="2000" b="0">
                <a:solidFill>
                  <a:srgbClr val="141414"/>
                </a:solidFill>
                <a:latin typeface="Aptos"/>
              </a:defRPr>
            </a:pPr>
            <a:r>
              <a:t>Wie unterscheiden sich PM2.5, PM10 und NO2 zwischen acht europäischen Hauptstädten - und wie lassen sie sich anhand historischer Messdaten und aktueller Modellwerte einordnen?</a:t>
            </a:r>
          </a:p>
        </p:txBody>
      </p:sp>
      <p:sp>
        <p:nvSpPr>
          <p:cNvPr id="9" name="TextBox 8"/>
          <p:cNvSpPr txBox="1"/>
          <p:nvPr/>
        </p:nvSpPr>
        <p:spPr>
          <a:xfrm>
            <a:off x="685800" y="2743200"/>
            <a:ext cx="2560320" cy="320040"/>
          </a:xfrm>
          <a:prstGeom prst="rect">
            <a:avLst/>
          </a:prstGeom>
          <a:noFill/>
        </p:spPr>
        <p:txBody>
          <a:bodyPr wrap="square" lIns="18288" tIns="18288" rIns="18288" bIns="18288" anchor="t">
            <a:spAutoFit/>
          </a:bodyPr>
          <a:lstStyle/>
          <a:p>
            <a:pPr>
              <a:defRPr sz="2000" b="1">
                <a:solidFill>
                  <a:srgbClr val="005B82"/>
                </a:solidFill>
                <a:latin typeface="Aptos"/>
              </a:defRPr>
            </a:pPr>
            <a:r>
              <a:t>Technische Logik</a:t>
            </a:r>
          </a:p>
        </p:txBody>
      </p:sp>
      <p:sp>
        <p:nvSpPr>
          <p:cNvPr id="10" name="TextBox 9"/>
          <p:cNvSpPr txBox="1"/>
          <p:nvPr/>
        </p:nvSpPr>
        <p:spPr>
          <a:xfrm>
            <a:off x="777240" y="3182112"/>
            <a:ext cx="9966960" cy="1828800"/>
          </a:xfrm>
          <a:prstGeom prst="rect">
            <a:avLst/>
          </a:prstGeom>
          <a:noFill/>
        </p:spPr>
        <p:txBody>
          <a:bodyPr wrap="square" lIns="45720" tIns="0" rIns="18288" bIns="0">
            <a:spAutoFit/>
          </a:bodyPr>
          <a:lstStyle/>
          <a:p>
            <a:pPr>
              <a:spcAft>
                <a:spcPts val="900"/>
              </a:spcAft>
              <a:defRPr sz="1800">
                <a:solidFill>
                  <a:srgbClr val="141414"/>
                </a:solidFill>
                <a:latin typeface="Aptos"/>
              </a:defRPr>
            </a:pPr>
            <a:r>
              <a:t>▸  EEA liefert die historische Mess-Basis für robuste Jahres- und Medianvergleiche.</a:t>
            </a:r>
          </a:p>
          <a:p>
            <a:pPr>
              <a:spcAft>
                <a:spcPts val="900"/>
              </a:spcAft>
              <a:defRPr sz="1800">
                <a:solidFill>
                  <a:srgbClr val="141414"/>
                </a:solidFill>
                <a:latin typeface="Aptos"/>
              </a:defRPr>
            </a:pPr>
            <a:r>
              <a:t>▸  Wikipedia ergänzt Stadtkontext, vor allem Bevölkerungsdichte und Flächenbezug.</a:t>
            </a:r>
          </a:p>
          <a:p>
            <a:pPr>
              <a:spcAft>
                <a:spcPts val="900"/>
              </a:spcAft>
              <a:defRPr sz="1800">
                <a:solidFill>
                  <a:srgbClr val="141414"/>
                </a:solidFill>
                <a:latin typeface="Aptos"/>
              </a:defRPr>
            </a:pPr>
            <a:r>
              <a:t>▸  Open-Meteo liefert aktuelle Modellwerte; Kafka und Spark machen daraus einen Live-Pfad.</a:t>
            </a:r>
          </a:p>
          <a:p>
            <a:pPr>
              <a:spcAft>
                <a:spcPts val="900"/>
              </a:spcAft>
              <a:defRPr sz="1800">
                <a:solidFill>
                  <a:srgbClr val="141414"/>
                </a:solidFill>
                <a:latin typeface="Aptos"/>
              </a:defRPr>
            </a:pPr>
            <a:r>
              <a:t>▸  Bronze/Silver/Gold trennt Rohdaten, Bereinigung und analysefertige Findings.</a:t>
            </a:r>
          </a:p>
        </p:txBody>
      </p:sp>
      <p:sp>
        <p:nvSpPr>
          <p:cNvPr id="11" name="TextBox 10"/>
          <p:cNvSpPr txBox="1"/>
          <p:nvPr/>
        </p:nvSpPr>
        <p:spPr>
          <a:xfrm>
            <a:off x="777240" y="5532120"/>
            <a:ext cx="10241280" cy="457200"/>
          </a:xfrm>
          <a:prstGeom prst="rect">
            <a:avLst/>
          </a:prstGeom>
          <a:noFill/>
        </p:spPr>
        <p:txBody>
          <a:bodyPr wrap="square" lIns="18288" tIns="18288" rIns="18288" bIns="18288" anchor="t">
            <a:spAutoFit/>
          </a:bodyPr>
          <a:lstStyle/>
          <a:p>
            <a:pPr>
              <a:defRPr sz="1800" b="1">
                <a:solidFill>
                  <a:srgbClr val="141414"/>
                </a:solidFill>
                <a:latin typeface="Aptos"/>
              </a:defRPr>
            </a:pPr>
            <a:r>
              <a:t>Kernidee: Batch Analytics beantwortet die Jahresfrage; Streaming ordnet aktuelle Werte gegen die historische Baseline ein.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2743200" cy="228600"/>
          </a:xfrm>
          <a:prstGeom prst="rect">
            <a:avLst/>
          </a:prstGeom>
          <a:noFill/>
        </p:spPr>
        <p:txBody>
          <a:bodyPr wrap="square" lIns="18288" tIns="18288" rIns="18288" bIns="18288" anchor="t">
            <a:spAutoFit/>
          </a:bodyPr>
          <a:lstStyle/>
          <a:p>
            <a:pPr>
              <a:defRPr sz="1200" b="1">
                <a:solidFill>
                  <a:srgbClr val="005B82"/>
                </a:solidFill>
                <a:latin typeface="Aptos"/>
              </a:defRPr>
            </a:pPr>
            <a:r>
              <a:t>02 · Datengrundlage</a:t>
            </a:r>
          </a:p>
        </p:txBody>
      </p:sp>
      <p:sp>
        <p:nvSpPr>
          <p:cNvPr id="3" name="TextBox 2"/>
          <p:cNvSpPr txBox="1"/>
          <p:nvPr/>
        </p:nvSpPr>
        <p:spPr>
          <a:xfrm>
            <a:off x="502920" y="530352"/>
            <a:ext cx="8321040" cy="411480"/>
          </a:xfrm>
          <a:prstGeom prst="rect">
            <a:avLst/>
          </a:prstGeom>
          <a:noFill/>
        </p:spPr>
        <p:txBody>
          <a:bodyPr wrap="square" lIns="18288" tIns="18288" rIns="18288" bIns="18288" anchor="t">
            <a:spAutoFit/>
          </a:bodyPr>
          <a:lstStyle/>
          <a:p>
            <a:pPr>
              <a:defRPr sz="2700" b="1">
                <a:solidFill>
                  <a:srgbClr val="141414"/>
                </a:solidFill>
                <a:latin typeface="Aptos Display"/>
              </a:defRPr>
            </a:pPr>
            <a:r>
              <a:t>Was in die Analyse einfließt</a:t>
            </a:r>
          </a:p>
        </p:txBody>
      </p:sp>
      <p:pic>
        <p:nvPicPr>
          <p:cNvPr id="4" name="Picture 3" descr="image-1-1.png"/>
          <p:cNvPicPr>
            <a:picLocks noChangeAspect="1"/>
          </p:cNvPicPr>
          <p:nvPr/>
        </p:nvPicPr>
        <p:blipFill>
          <a:blip r:embed="rId3"/>
          <a:stretch>
            <a:fillRect/>
          </a:stretch>
        </p:blipFill>
        <p:spPr>
          <a:xfrm>
            <a:off x="9921240" y="201168"/>
            <a:ext cx="1691640" cy="869598"/>
          </a:xfrm>
          <a:prstGeom prst="rect">
            <a:avLst/>
          </a:prstGeom>
        </p:spPr>
      </p:pic>
      <p:sp>
        <p:nvSpPr>
          <p:cNvPr id="5" name="TextBox 4"/>
          <p:cNvSpPr txBox="1"/>
          <p:nvPr/>
        </p:nvSpPr>
        <p:spPr>
          <a:xfrm>
            <a:off x="502920" y="6473952"/>
            <a:ext cx="3200400" cy="182880"/>
          </a:xfrm>
          <a:prstGeom prst="rect">
            <a:avLst/>
          </a:prstGeom>
          <a:noFill/>
        </p:spPr>
        <p:txBody>
          <a:bodyPr wrap="square" lIns="18288" tIns="18288" rIns="18288" bIns="18288" anchor="t">
            <a:spAutoFit/>
          </a:bodyPr>
          <a:lstStyle/>
          <a:p>
            <a:pPr>
              <a:defRPr sz="900" b="0">
                <a:solidFill>
                  <a:srgbClr val="5C5C5C"/>
                </a:solidFill>
                <a:latin typeface="Aptos"/>
              </a:defRPr>
            </a:pPr>
            <a:r>
              <a:t>Euro Air Quality Pipeline</a:t>
            </a:r>
          </a:p>
        </p:txBody>
      </p:sp>
      <p:sp>
        <p:nvSpPr>
          <p:cNvPr id="6" name="TextBox 5"/>
          <p:cNvSpPr txBox="1"/>
          <p:nvPr/>
        </p:nvSpPr>
        <p:spPr>
          <a:xfrm>
            <a:off x="11155680" y="6473952"/>
            <a:ext cx="548640" cy="182880"/>
          </a:xfrm>
          <a:prstGeom prst="rect">
            <a:avLst/>
          </a:prstGeom>
          <a:noFill/>
        </p:spPr>
        <p:txBody>
          <a:bodyPr wrap="square" lIns="18288" tIns="18288" rIns="18288" bIns="18288" anchor="t">
            <a:spAutoFit/>
          </a:bodyPr>
          <a:lstStyle/>
          <a:p>
            <a:pPr algn="r">
              <a:defRPr sz="900" b="0">
                <a:solidFill>
                  <a:srgbClr val="5C5C5C"/>
                </a:solidFill>
                <a:latin typeface="Aptos"/>
              </a:defRPr>
            </a:pPr>
            <a:r>
              <a:t>3 / 10</a:t>
            </a:r>
          </a:p>
        </p:txBody>
      </p:sp>
      <p:sp>
        <p:nvSpPr>
          <p:cNvPr id="7" name="TextBox 6"/>
          <p:cNvSpPr txBox="1"/>
          <p:nvPr/>
        </p:nvSpPr>
        <p:spPr>
          <a:xfrm>
            <a:off x="685800" y="1325880"/>
            <a:ext cx="2194560" cy="411480"/>
          </a:xfrm>
          <a:prstGeom prst="rect">
            <a:avLst/>
          </a:prstGeom>
          <a:noFill/>
        </p:spPr>
        <p:txBody>
          <a:bodyPr wrap="square" lIns="18288" tIns="18288" rIns="18288" bIns="18288" anchor="t">
            <a:spAutoFit/>
          </a:bodyPr>
          <a:lstStyle/>
          <a:p>
            <a:pPr>
              <a:defRPr sz="3100" b="1">
                <a:solidFill>
                  <a:srgbClr val="005B82"/>
                </a:solidFill>
                <a:latin typeface="Aptos Display"/>
              </a:defRPr>
            </a:pPr>
            <a:r>
              <a:t>8</a:t>
            </a:r>
          </a:p>
        </p:txBody>
      </p:sp>
      <p:sp>
        <p:nvSpPr>
          <p:cNvPr id="8" name="TextBox 7"/>
          <p:cNvSpPr txBox="1"/>
          <p:nvPr/>
        </p:nvSpPr>
        <p:spPr>
          <a:xfrm>
            <a:off x="685800" y="1828800"/>
            <a:ext cx="3200400" cy="320040"/>
          </a:xfrm>
          <a:prstGeom prst="rect">
            <a:avLst/>
          </a:prstGeom>
          <a:noFill/>
        </p:spPr>
        <p:txBody>
          <a:bodyPr wrap="square" lIns="18288" tIns="18288" rIns="18288" bIns="18288" anchor="t">
            <a:spAutoFit/>
          </a:bodyPr>
          <a:lstStyle/>
          <a:p>
            <a:pPr>
              <a:defRPr sz="1550" b="0">
                <a:solidFill>
                  <a:srgbClr val="141414"/>
                </a:solidFill>
                <a:latin typeface="Aptos"/>
              </a:defRPr>
            </a:pPr>
            <a:r>
              <a:t>Hauptstädte</a:t>
            </a:r>
          </a:p>
        </p:txBody>
      </p:sp>
      <p:sp>
        <p:nvSpPr>
          <p:cNvPr id="9" name="TextBox 8"/>
          <p:cNvSpPr txBox="1"/>
          <p:nvPr/>
        </p:nvSpPr>
        <p:spPr>
          <a:xfrm>
            <a:off x="4434840" y="1325880"/>
            <a:ext cx="2194560" cy="411480"/>
          </a:xfrm>
          <a:prstGeom prst="rect">
            <a:avLst/>
          </a:prstGeom>
          <a:noFill/>
        </p:spPr>
        <p:txBody>
          <a:bodyPr wrap="square" lIns="18288" tIns="18288" rIns="18288" bIns="18288" anchor="t">
            <a:spAutoFit/>
          </a:bodyPr>
          <a:lstStyle/>
          <a:p>
            <a:pPr>
              <a:defRPr sz="3100" b="1">
                <a:solidFill>
                  <a:srgbClr val="005B82"/>
                </a:solidFill>
                <a:latin typeface="Aptos Display"/>
              </a:defRPr>
            </a:pPr>
            <a:r>
              <a:t>365</a:t>
            </a:r>
          </a:p>
        </p:txBody>
      </p:sp>
      <p:sp>
        <p:nvSpPr>
          <p:cNvPr id="10" name="TextBox 9"/>
          <p:cNvSpPr txBox="1"/>
          <p:nvPr/>
        </p:nvSpPr>
        <p:spPr>
          <a:xfrm>
            <a:off x="4434840" y="1828800"/>
            <a:ext cx="3200400" cy="320040"/>
          </a:xfrm>
          <a:prstGeom prst="rect">
            <a:avLst/>
          </a:prstGeom>
          <a:noFill/>
        </p:spPr>
        <p:txBody>
          <a:bodyPr wrap="square" lIns="18288" tIns="18288" rIns="18288" bIns="18288" anchor="t">
            <a:spAutoFit/>
          </a:bodyPr>
          <a:lstStyle/>
          <a:p>
            <a:pPr>
              <a:defRPr sz="1550" b="0">
                <a:solidFill>
                  <a:srgbClr val="141414"/>
                </a:solidFill>
                <a:latin typeface="Aptos"/>
              </a:defRPr>
            </a:pPr>
            <a:r>
              <a:t>Tage in 2025</a:t>
            </a:r>
          </a:p>
        </p:txBody>
      </p:sp>
      <p:sp>
        <p:nvSpPr>
          <p:cNvPr id="11" name="TextBox 10"/>
          <p:cNvSpPr txBox="1"/>
          <p:nvPr/>
        </p:nvSpPr>
        <p:spPr>
          <a:xfrm>
            <a:off x="8183879" y="1325880"/>
            <a:ext cx="2194560" cy="411480"/>
          </a:xfrm>
          <a:prstGeom prst="rect">
            <a:avLst/>
          </a:prstGeom>
          <a:noFill/>
        </p:spPr>
        <p:txBody>
          <a:bodyPr wrap="square" lIns="18288" tIns="18288" rIns="18288" bIns="18288" anchor="t">
            <a:spAutoFit/>
          </a:bodyPr>
          <a:lstStyle/>
          <a:p>
            <a:pPr>
              <a:defRPr sz="3100" b="1">
                <a:solidFill>
                  <a:srgbClr val="005B82"/>
                </a:solidFill>
                <a:latin typeface="Aptos Display"/>
              </a:defRPr>
            </a:pPr>
            <a:r>
              <a:t>3</a:t>
            </a:r>
          </a:p>
        </p:txBody>
      </p:sp>
      <p:sp>
        <p:nvSpPr>
          <p:cNvPr id="12" name="TextBox 11"/>
          <p:cNvSpPr txBox="1"/>
          <p:nvPr/>
        </p:nvSpPr>
        <p:spPr>
          <a:xfrm>
            <a:off x="8183879" y="1828800"/>
            <a:ext cx="3200400" cy="320040"/>
          </a:xfrm>
          <a:prstGeom prst="rect">
            <a:avLst/>
          </a:prstGeom>
          <a:noFill/>
        </p:spPr>
        <p:txBody>
          <a:bodyPr wrap="square" lIns="18288" tIns="18288" rIns="18288" bIns="18288" anchor="t">
            <a:spAutoFit/>
          </a:bodyPr>
          <a:lstStyle/>
          <a:p>
            <a:pPr>
              <a:defRPr sz="1550" b="0">
                <a:solidFill>
                  <a:srgbClr val="141414"/>
                </a:solidFill>
                <a:latin typeface="Aptos"/>
              </a:defRPr>
            </a:pPr>
            <a:r>
              <a:t>Schadstoffe</a:t>
            </a:r>
          </a:p>
        </p:txBody>
      </p:sp>
      <p:sp>
        <p:nvSpPr>
          <p:cNvPr id="13" name="TextBox 12"/>
          <p:cNvSpPr txBox="1"/>
          <p:nvPr/>
        </p:nvSpPr>
        <p:spPr>
          <a:xfrm>
            <a:off x="685800" y="2651760"/>
            <a:ext cx="2194560" cy="411480"/>
          </a:xfrm>
          <a:prstGeom prst="rect">
            <a:avLst/>
          </a:prstGeom>
          <a:noFill/>
        </p:spPr>
        <p:txBody>
          <a:bodyPr wrap="square" lIns="18288" tIns="18288" rIns="18288" bIns="18288" anchor="t">
            <a:spAutoFit/>
          </a:bodyPr>
          <a:lstStyle/>
          <a:p>
            <a:pPr>
              <a:defRPr sz="3100" b="1">
                <a:solidFill>
                  <a:srgbClr val="005B82"/>
                </a:solidFill>
                <a:latin typeface="Aptos Display"/>
              </a:defRPr>
            </a:pPr>
            <a:r>
              <a:t>2,35 Mio.</a:t>
            </a:r>
          </a:p>
        </p:txBody>
      </p:sp>
      <p:sp>
        <p:nvSpPr>
          <p:cNvPr id="14" name="TextBox 13"/>
          <p:cNvSpPr txBox="1"/>
          <p:nvPr/>
        </p:nvSpPr>
        <p:spPr>
          <a:xfrm>
            <a:off x="685800" y="3154680"/>
            <a:ext cx="3200400" cy="320040"/>
          </a:xfrm>
          <a:prstGeom prst="rect">
            <a:avLst/>
          </a:prstGeom>
          <a:noFill/>
        </p:spPr>
        <p:txBody>
          <a:bodyPr wrap="square" lIns="18288" tIns="18288" rIns="18288" bIns="18288" anchor="t">
            <a:spAutoFit/>
          </a:bodyPr>
          <a:lstStyle/>
          <a:p>
            <a:pPr>
              <a:defRPr sz="1550" b="0">
                <a:solidFill>
                  <a:srgbClr val="141414"/>
                </a:solidFill>
                <a:latin typeface="Aptos"/>
              </a:defRPr>
            </a:pPr>
            <a:r>
              <a:t>validierte EEA-Stundenwerte</a:t>
            </a:r>
          </a:p>
        </p:txBody>
      </p:sp>
      <p:sp>
        <p:nvSpPr>
          <p:cNvPr id="15" name="TextBox 14"/>
          <p:cNvSpPr txBox="1"/>
          <p:nvPr/>
        </p:nvSpPr>
        <p:spPr>
          <a:xfrm>
            <a:off x="4434840" y="2651760"/>
            <a:ext cx="2194560" cy="411480"/>
          </a:xfrm>
          <a:prstGeom prst="rect">
            <a:avLst/>
          </a:prstGeom>
          <a:noFill/>
        </p:spPr>
        <p:txBody>
          <a:bodyPr wrap="square" lIns="18288" tIns="18288" rIns="18288" bIns="18288" anchor="t">
            <a:spAutoFit/>
          </a:bodyPr>
          <a:lstStyle/>
          <a:p>
            <a:pPr>
              <a:defRPr sz="3100" b="1">
                <a:solidFill>
                  <a:srgbClr val="005B82"/>
                </a:solidFill>
                <a:latin typeface="Aptos Display"/>
              </a:defRPr>
            </a:pPr>
            <a:r>
              <a:t>7.938</a:t>
            </a:r>
          </a:p>
        </p:txBody>
      </p:sp>
      <p:sp>
        <p:nvSpPr>
          <p:cNvPr id="16" name="TextBox 15"/>
          <p:cNvSpPr txBox="1"/>
          <p:nvPr/>
        </p:nvSpPr>
        <p:spPr>
          <a:xfrm>
            <a:off x="4434840" y="3154680"/>
            <a:ext cx="3200400" cy="320040"/>
          </a:xfrm>
          <a:prstGeom prst="rect">
            <a:avLst/>
          </a:prstGeom>
          <a:noFill/>
        </p:spPr>
        <p:txBody>
          <a:bodyPr wrap="square" lIns="18288" tIns="18288" rIns="18288" bIns="18288" anchor="t">
            <a:spAutoFit/>
          </a:bodyPr>
          <a:lstStyle/>
          <a:p>
            <a:pPr>
              <a:defRPr sz="1550" b="0">
                <a:solidFill>
                  <a:srgbClr val="141414"/>
                </a:solidFill>
                <a:latin typeface="Aptos"/>
              </a:defRPr>
            </a:pPr>
            <a:r>
              <a:t>Tagesmittel in Gold</a:t>
            </a:r>
          </a:p>
        </p:txBody>
      </p:sp>
      <p:sp>
        <p:nvSpPr>
          <p:cNvPr id="17" name="TextBox 16"/>
          <p:cNvSpPr txBox="1"/>
          <p:nvPr/>
        </p:nvSpPr>
        <p:spPr>
          <a:xfrm>
            <a:off x="8183879" y="2651760"/>
            <a:ext cx="2194560" cy="411480"/>
          </a:xfrm>
          <a:prstGeom prst="rect">
            <a:avLst/>
          </a:prstGeom>
          <a:noFill/>
        </p:spPr>
        <p:txBody>
          <a:bodyPr wrap="square" lIns="18288" tIns="18288" rIns="18288" bIns="18288" anchor="t">
            <a:spAutoFit/>
          </a:bodyPr>
          <a:lstStyle/>
          <a:p>
            <a:pPr>
              <a:defRPr sz="3100" b="1">
                <a:solidFill>
                  <a:srgbClr val="005B82"/>
                </a:solidFill>
                <a:latin typeface="Aptos Display"/>
              </a:defRPr>
            </a:pPr>
            <a:r>
              <a:t>192</a:t>
            </a:r>
          </a:p>
        </p:txBody>
      </p:sp>
      <p:sp>
        <p:nvSpPr>
          <p:cNvPr id="18" name="TextBox 17"/>
          <p:cNvSpPr txBox="1"/>
          <p:nvPr/>
        </p:nvSpPr>
        <p:spPr>
          <a:xfrm>
            <a:off x="8183879" y="3154680"/>
            <a:ext cx="3200400" cy="320040"/>
          </a:xfrm>
          <a:prstGeom prst="rect">
            <a:avLst/>
          </a:prstGeom>
          <a:noFill/>
        </p:spPr>
        <p:txBody>
          <a:bodyPr wrap="square" lIns="18288" tIns="18288" rIns="18288" bIns="18288" anchor="t">
            <a:spAutoFit/>
          </a:bodyPr>
          <a:lstStyle/>
          <a:p>
            <a:pPr>
              <a:defRPr sz="1550" b="0">
                <a:solidFill>
                  <a:srgbClr val="141414"/>
                </a:solidFill>
                <a:latin typeface="Aptos"/>
              </a:defRPr>
            </a:pPr>
            <a:r>
              <a:t>Open-Meteo-Liveevents</a:t>
            </a:r>
          </a:p>
        </p:txBody>
      </p:sp>
      <p:sp>
        <p:nvSpPr>
          <p:cNvPr id="19" name="TextBox 18"/>
          <p:cNvSpPr txBox="1"/>
          <p:nvPr/>
        </p:nvSpPr>
        <p:spPr>
          <a:xfrm>
            <a:off x="685800" y="4251960"/>
            <a:ext cx="4023360" cy="320040"/>
          </a:xfrm>
          <a:prstGeom prst="rect">
            <a:avLst/>
          </a:prstGeom>
          <a:noFill/>
        </p:spPr>
        <p:txBody>
          <a:bodyPr wrap="square" lIns="18288" tIns="18288" rIns="18288" bIns="18288" anchor="t">
            <a:spAutoFit/>
          </a:bodyPr>
          <a:lstStyle/>
          <a:p>
            <a:pPr>
              <a:defRPr sz="2000" b="1">
                <a:solidFill>
                  <a:srgbClr val="005B82"/>
                </a:solidFill>
                <a:latin typeface="Aptos"/>
              </a:defRPr>
            </a:pPr>
            <a:r>
              <a:t>Drei Quellen - drei Rollen</a:t>
            </a:r>
          </a:p>
        </p:txBody>
      </p:sp>
      <p:sp>
        <p:nvSpPr>
          <p:cNvPr id="20" name="TextBox 19"/>
          <p:cNvSpPr txBox="1"/>
          <p:nvPr/>
        </p:nvSpPr>
        <p:spPr>
          <a:xfrm>
            <a:off x="777240" y="4681728"/>
            <a:ext cx="10058400" cy="1005840"/>
          </a:xfrm>
          <a:prstGeom prst="rect">
            <a:avLst/>
          </a:prstGeom>
          <a:noFill/>
        </p:spPr>
        <p:txBody>
          <a:bodyPr wrap="square" lIns="45720" tIns="0" rIns="18288" bIns="0">
            <a:spAutoFit/>
          </a:bodyPr>
          <a:lstStyle/>
          <a:p>
            <a:pPr>
              <a:spcAft>
                <a:spcPts val="900"/>
              </a:spcAft>
              <a:defRPr sz="1750">
                <a:solidFill>
                  <a:srgbClr val="141414"/>
                </a:solidFill>
                <a:latin typeface="Aptos"/>
              </a:defRPr>
            </a:pPr>
            <a:r>
              <a:t>▸  EEA: gemessene und validierte Stundenwerte; Grundlage der historischen Findings.</a:t>
            </a:r>
          </a:p>
          <a:p>
            <a:pPr>
              <a:spcAft>
                <a:spcPts val="900"/>
              </a:spcAft>
              <a:defRPr sz="1750">
                <a:solidFill>
                  <a:srgbClr val="141414"/>
                </a:solidFill>
                <a:latin typeface="Aptos"/>
              </a:defRPr>
            </a:pPr>
            <a:r>
              <a:t>▸  Wikipedia: Web-Scraping für Kontextdaten; nützlich, aber mit Flächen-/Dichtegrenzen.</a:t>
            </a:r>
          </a:p>
          <a:p>
            <a:pPr>
              <a:spcAft>
                <a:spcPts val="900"/>
              </a:spcAft>
              <a:defRPr sz="1750">
                <a:solidFill>
                  <a:srgbClr val="141414"/>
                </a:solidFill>
                <a:latin typeface="Aptos"/>
              </a:defRPr>
            </a:pPr>
            <a:r>
              <a:t>▸  Open-Meteo: aktuelle Modellwerte; Live-Einordnung gegen historische Median-Baseline.</a:t>
            </a:r>
          </a:p>
        </p:txBody>
      </p:sp>
      <p:sp>
        <p:nvSpPr>
          <p:cNvPr id="21" name="TextBox 20"/>
          <p:cNvSpPr txBox="1"/>
          <p:nvPr/>
        </p:nvSpPr>
        <p:spPr>
          <a:xfrm>
            <a:off x="777240" y="5870448"/>
            <a:ext cx="9144000" cy="292608"/>
          </a:xfrm>
          <a:prstGeom prst="rect">
            <a:avLst/>
          </a:prstGeom>
          <a:noFill/>
        </p:spPr>
        <p:txBody>
          <a:bodyPr wrap="square" lIns="18288" tIns="18288" rIns="18288" bIns="18288" anchor="t">
            <a:spAutoFit/>
          </a:bodyPr>
          <a:lstStyle/>
          <a:p>
            <a:pPr>
              <a:defRPr sz="1550" b="1">
                <a:solidFill>
                  <a:srgbClr val="141414"/>
                </a:solidFill>
                <a:latin typeface="Aptos"/>
              </a:defRPr>
            </a:pPr>
            <a:r>
              <a:t>Quellenunterschiede werden transparent gekennzeichnet.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2743200" cy="228600"/>
          </a:xfrm>
          <a:prstGeom prst="rect">
            <a:avLst/>
          </a:prstGeom>
          <a:noFill/>
        </p:spPr>
        <p:txBody>
          <a:bodyPr wrap="square" lIns="18288" tIns="18288" rIns="18288" bIns="18288" anchor="t">
            <a:spAutoFit/>
          </a:bodyPr>
          <a:lstStyle/>
          <a:p>
            <a:pPr>
              <a:defRPr sz="1200" b="1">
                <a:solidFill>
                  <a:srgbClr val="005B82"/>
                </a:solidFill>
                <a:latin typeface="Aptos"/>
              </a:defRPr>
            </a:pPr>
            <a:r>
              <a:t>03 · Befund 1</a:t>
            </a:r>
          </a:p>
        </p:txBody>
      </p:sp>
      <p:sp>
        <p:nvSpPr>
          <p:cNvPr id="3" name="TextBox 2"/>
          <p:cNvSpPr txBox="1"/>
          <p:nvPr/>
        </p:nvSpPr>
        <p:spPr>
          <a:xfrm>
            <a:off x="502920" y="530352"/>
            <a:ext cx="8321040" cy="411480"/>
          </a:xfrm>
          <a:prstGeom prst="rect">
            <a:avLst/>
          </a:prstGeom>
          <a:noFill/>
        </p:spPr>
        <p:txBody>
          <a:bodyPr wrap="square" lIns="18288" tIns="18288" rIns="18288" bIns="18288" anchor="t">
            <a:spAutoFit/>
          </a:bodyPr>
          <a:lstStyle/>
          <a:p>
            <a:pPr>
              <a:defRPr sz="2700" b="1">
                <a:solidFill>
                  <a:srgbClr val="141414"/>
                </a:solidFill>
                <a:latin typeface="Aptos Display"/>
              </a:defRPr>
            </a:pPr>
            <a:r>
              <a:t>Alle Städte über dem NO2-WHO-Richtwert</a:t>
            </a:r>
          </a:p>
        </p:txBody>
      </p:sp>
      <p:pic>
        <p:nvPicPr>
          <p:cNvPr id="4" name="Picture 3" descr="image-1-1.png"/>
          <p:cNvPicPr>
            <a:picLocks noChangeAspect="1"/>
          </p:cNvPicPr>
          <p:nvPr/>
        </p:nvPicPr>
        <p:blipFill>
          <a:blip r:embed="rId3"/>
          <a:stretch>
            <a:fillRect/>
          </a:stretch>
        </p:blipFill>
        <p:spPr>
          <a:xfrm>
            <a:off x="9921240" y="201168"/>
            <a:ext cx="1691640" cy="869598"/>
          </a:xfrm>
          <a:prstGeom prst="rect">
            <a:avLst/>
          </a:prstGeom>
        </p:spPr>
      </p:pic>
      <p:sp>
        <p:nvSpPr>
          <p:cNvPr id="5" name="TextBox 4"/>
          <p:cNvSpPr txBox="1"/>
          <p:nvPr/>
        </p:nvSpPr>
        <p:spPr>
          <a:xfrm>
            <a:off x="502920" y="6473952"/>
            <a:ext cx="3200400" cy="182880"/>
          </a:xfrm>
          <a:prstGeom prst="rect">
            <a:avLst/>
          </a:prstGeom>
          <a:noFill/>
        </p:spPr>
        <p:txBody>
          <a:bodyPr wrap="square" lIns="18288" tIns="18288" rIns="18288" bIns="18288" anchor="t">
            <a:spAutoFit/>
          </a:bodyPr>
          <a:lstStyle/>
          <a:p>
            <a:pPr>
              <a:defRPr sz="900" b="0">
                <a:solidFill>
                  <a:srgbClr val="5C5C5C"/>
                </a:solidFill>
                <a:latin typeface="Aptos"/>
              </a:defRPr>
            </a:pPr>
            <a:r>
              <a:t>Euro Air Quality Pipeline</a:t>
            </a:r>
          </a:p>
        </p:txBody>
      </p:sp>
      <p:sp>
        <p:nvSpPr>
          <p:cNvPr id="6" name="TextBox 5"/>
          <p:cNvSpPr txBox="1"/>
          <p:nvPr/>
        </p:nvSpPr>
        <p:spPr>
          <a:xfrm>
            <a:off x="11155680" y="6473952"/>
            <a:ext cx="548640" cy="182880"/>
          </a:xfrm>
          <a:prstGeom prst="rect">
            <a:avLst/>
          </a:prstGeom>
          <a:noFill/>
        </p:spPr>
        <p:txBody>
          <a:bodyPr wrap="square" lIns="18288" tIns="18288" rIns="18288" bIns="18288" anchor="t">
            <a:spAutoFit/>
          </a:bodyPr>
          <a:lstStyle/>
          <a:p>
            <a:pPr algn="r">
              <a:defRPr sz="900" b="0">
                <a:solidFill>
                  <a:srgbClr val="5C5C5C"/>
                </a:solidFill>
                <a:latin typeface="Aptos"/>
              </a:defRPr>
            </a:pPr>
            <a:r>
              <a:t>4 / 10</a:t>
            </a:r>
          </a:p>
        </p:txBody>
      </p:sp>
      <p:pic>
        <p:nvPicPr>
          <p:cNvPr id="7" name="Picture 6" descr="image-4-2.jpeg"/>
          <p:cNvPicPr>
            <a:picLocks noChangeAspect="1"/>
          </p:cNvPicPr>
          <p:nvPr/>
        </p:nvPicPr>
        <p:blipFill>
          <a:blip r:embed="rId4"/>
          <a:stretch>
            <a:fillRect/>
          </a:stretch>
        </p:blipFill>
        <p:spPr>
          <a:xfrm>
            <a:off x="685800" y="1600200"/>
            <a:ext cx="6766560" cy="3383280"/>
          </a:xfrm>
          <a:prstGeom prst="rect">
            <a:avLst/>
          </a:prstGeom>
        </p:spPr>
      </p:pic>
      <p:sp>
        <p:nvSpPr>
          <p:cNvPr id="8" name="TextBox 7"/>
          <p:cNvSpPr txBox="1"/>
          <p:nvPr/>
        </p:nvSpPr>
        <p:spPr>
          <a:xfrm>
            <a:off x="7726679" y="1325880"/>
            <a:ext cx="3200400" cy="320040"/>
          </a:xfrm>
          <a:prstGeom prst="rect">
            <a:avLst/>
          </a:prstGeom>
          <a:noFill/>
        </p:spPr>
        <p:txBody>
          <a:bodyPr wrap="square" lIns="18288" tIns="18288" rIns="18288" bIns="18288" anchor="t">
            <a:spAutoFit/>
          </a:bodyPr>
          <a:lstStyle/>
          <a:p>
            <a:pPr>
              <a:defRPr sz="2000" b="1">
                <a:solidFill>
                  <a:srgbClr val="005B82"/>
                </a:solidFill>
                <a:latin typeface="Aptos"/>
              </a:defRPr>
            </a:pPr>
            <a:r>
              <a:t>Hauptaussage</a:t>
            </a:r>
          </a:p>
        </p:txBody>
      </p:sp>
      <p:sp>
        <p:nvSpPr>
          <p:cNvPr id="9" name="TextBox 8"/>
          <p:cNvSpPr txBox="1"/>
          <p:nvPr/>
        </p:nvSpPr>
        <p:spPr>
          <a:xfrm>
            <a:off x="7726679" y="1783080"/>
            <a:ext cx="3840480" cy="2834640"/>
          </a:xfrm>
          <a:prstGeom prst="rect">
            <a:avLst/>
          </a:prstGeom>
          <a:noFill/>
        </p:spPr>
        <p:txBody>
          <a:bodyPr wrap="square" lIns="45720" tIns="0" rIns="18288" bIns="0">
            <a:spAutoFit/>
          </a:bodyPr>
          <a:lstStyle/>
          <a:p>
            <a:pPr>
              <a:spcAft>
                <a:spcPts val="900"/>
              </a:spcAft>
              <a:defRPr sz="1700">
                <a:solidFill>
                  <a:srgbClr val="141414"/>
                </a:solidFill>
                <a:latin typeface="Aptos"/>
              </a:defRPr>
            </a:pPr>
            <a:r>
              <a:t>▸  Alle acht Städte liegen bei NO2 über dem WHO-2021-Jahresrichtwert von 10 µg/m³.</a:t>
            </a:r>
          </a:p>
          <a:p>
            <a:pPr>
              <a:spcAft>
                <a:spcPts val="900"/>
              </a:spcAft>
              <a:defRPr sz="1700">
                <a:solidFill>
                  <a:srgbClr val="141414"/>
                </a:solidFill>
                <a:latin typeface="Aptos"/>
              </a:defRPr>
            </a:pPr>
            <a:r>
              <a:t>▸  NO2-Spanne: 15,3 bis 25,0 µg/m³ - etwa 1,5× bis 2,5× über WHO.</a:t>
            </a:r>
          </a:p>
          <a:p>
            <a:pPr>
              <a:spcAft>
                <a:spcPts val="900"/>
              </a:spcAft>
              <a:defRPr sz="1700">
                <a:solidFill>
                  <a:srgbClr val="141414"/>
                </a:solidFill>
                <a:latin typeface="Aptos"/>
              </a:defRPr>
            </a:pPr>
            <a:r>
              <a:t>▸  PM2.5 liegt bei allen Städten mit validierter PM2.5-Referenz über WHO 5.</a:t>
            </a:r>
          </a:p>
          <a:p>
            <a:pPr>
              <a:spcAft>
                <a:spcPts val="900"/>
              </a:spcAft>
              <a:defRPr sz="1700">
                <a:solidFill>
                  <a:srgbClr val="141414"/>
                </a:solidFill>
                <a:latin typeface="Aptos"/>
              </a:defRPr>
            </a:pPr>
            <a:r>
              <a:t>▸  Rom: keine validierten PM2.5/PM10-Werte in der EEA-Historie - die Lücke bleibt sichtbar.</a:t>
            </a:r>
          </a:p>
        </p:txBody>
      </p:sp>
      <p:sp>
        <p:nvSpPr>
          <p:cNvPr id="10" name="TextBox 9"/>
          <p:cNvSpPr txBox="1"/>
          <p:nvPr/>
        </p:nvSpPr>
        <p:spPr>
          <a:xfrm>
            <a:off x="685800" y="5623560"/>
            <a:ext cx="8046720" cy="167738"/>
          </a:xfrm>
          <a:prstGeom prst="rect">
            <a:avLst/>
          </a:prstGeom>
          <a:noFill/>
        </p:spPr>
        <p:txBody>
          <a:bodyPr wrap="square" lIns="18288" tIns="18288" rIns="18288" bIns="18288" anchor="t">
            <a:spAutoFit/>
          </a:bodyPr>
          <a:lstStyle/>
          <a:p>
            <a:pPr>
              <a:defRPr sz="850" b="0">
                <a:solidFill>
                  <a:srgbClr val="5C5C5C"/>
                </a:solidFill>
                <a:latin typeface="Aptos"/>
              </a:defRPr>
            </a:pPr>
            <a:r>
              <a:rPr dirty="0"/>
              <a:t>Quelle: EEA, </a:t>
            </a:r>
            <a:r>
              <a:rPr dirty="0" err="1"/>
              <a:t>Kalenderjahr</a:t>
            </a:r>
            <a:r>
              <a:rPr dirty="0"/>
              <a:t> 2025; </a:t>
            </a:r>
            <a:r>
              <a:rPr dirty="0" err="1"/>
              <a:t>gestrichelte</a:t>
            </a:r>
            <a:r>
              <a:rPr dirty="0"/>
              <a:t> </a:t>
            </a:r>
            <a:r>
              <a:rPr dirty="0" err="1"/>
              <a:t>Linien</a:t>
            </a:r>
            <a:r>
              <a:rPr dirty="0"/>
              <a:t> = WHO-2021-Jahresrichtwerte.</a:t>
            </a:r>
          </a:p>
        </p:txBody>
      </p:sp>
      <p:sp>
        <p:nvSpPr>
          <p:cNvPr id="11" name="TextBox 10"/>
          <p:cNvSpPr txBox="1"/>
          <p:nvPr/>
        </p:nvSpPr>
        <p:spPr>
          <a:xfrm>
            <a:off x="7726679" y="5257800"/>
            <a:ext cx="3749039" cy="457200"/>
          </a:xfrm>
          <a:prstGeom prst="rect">
            <a:avLst/>
          </a:prstGeom>
          <a:noFill/>
        </p:spPr>
        <p:txBody>
          <a:bodyPr wrap="square" lIns="18288" tIns="18288" rIns="18288" bIns="18288" anchor="t">
            <a:spAutoFit/>
          </a:bodyPr>
          <a:lstStyle/>
          <a:p>
            <a:pPr>
              <a:defRPr sz="1550" b="1">
                <a:solidFill>
                  <a:srgbClr val="141414"/>
                </a:solidFill>
                <a:latin typeface="Aptos"/>
              </a:defRPr>
            </a:pPr>
            <a:r>
              <a:t>Keine Rechtsaussage: WHO = Gesundheits-Orientierung, nicht EU-Grenzwert.</a:t>
            </a:r>
          </a:p>
        </p:txBody>
      </p:sp>
      <p:sp>
        <p:nvSpPr>
          <p:cNvPr id="12" name="Textfeld 11">
            <a:extLst>
              <a:ext uri="{FF2B5EF4-FFF2-40B4-BE49-F238E27FC236}">
                <a16:creationId xmlns:a16="http://schemas.microsoft.com/office/drawing/2014/main" id="{4A029C35-D66E-413A-9D6A-C539CAE9B1F3}"/>
              </a:ext>
            </a:extLst>
          </p:cNvPr>
          <p:cNvSpPr txBox="1"/>
          <p:nvPr/>
        </p:nvSpPr>
        <p:spPr>
          <a:xfrm>
            <a:off x="622434" y="5887052"/>
            <a:ext cx="2438488" cy="230832"/>
          </a:xfrm>
          <a:prstGeom prst="rect">
            <a:avLst/>
          </a:prstGeom>
          <a:noFill/>
        </p:spPr>
        <p:txBody>
          <a:bodyPr wrap="none" rtlCol="0">
            <a:spAutoFit/>
          </a:bodyPr>
          <a:lstStyle/>
          <a:p>
            <a:r>
              <a:rPr lang="en-GB" sz="900" dirty="0">
                <a:latin typeface="Aptos"/>
              </a:rPr>
              <a:t>Quelle: </a:t>
            </a:r>
            <a:r>
              <a:rPr lang="en-GB" sz="900" dirty="0">
                <a:latin typeface="Aptos"/>
                <a:hlinkClick r:id="rId5"/>
              </a:rPr>
              <a:t>WHO global air quality guidelines (2021</a:t>
            </a:r>
            <a:r>
              <a:rPr lang="en-GB" sz="900" dirty="0">
                <a:latin typeface="Aptos"/>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2743200" cy="228600"/>
          </a:xfrm>
          <a:prstGeom prst="rect">
            <a:avLst/>
          </a:prstGeom>
          <a:noFill/>
        </p:spPr>
        <p:txBody>
          <a:bodyPr wrap="square" lIns="18288" tIns="18288" rIns="18288" bIns="18288" anchor="t">
            <a:spAutoFit/>
          </a:bodyPr>
          <a:lstStyle/>
          <a:p>
            <a:pPr>
              <a:defRPr sz="1200" b="1">
                <a:solidFill>
                  <a:srgbClr val="005B82"/>
                </a:solidFill>
                <a:latin typeface="Aptos"/>
              </a:defRPr>
            </a:pPr>
            <a:r>
              <a:t>04 · Befund 2</a:t>
            </a:r>
          </a:p>
        </p:txBody>
      </p:sp>
      <p:sp>
        <p:nvSpPr>
          <p:cNvPr id="3" name="TextBox 2"/>
          <p:cNvSpPr txBox="1"/>
          <p:nvPr/>
        </p:nvSpPr>
        <p:spPr>
          <a:xfrm>
            <a:off x="502920" y="530352"/>
            <a:ext cx="8321040" cy="411480"/>
          </a:xfrm>
          <a:prstGeom prst="rect">
            <a:avLst/>
          </a:prstGeom>
          <a:noFill/>
        </p:spPr>
        <p:txBody>
          <a:bodyPr wrap="square" lIns="18288" tIns="18288" rIns="18288" bIns="18288" anchor="t">
            <a:spAutoFit/>
          </a:bodyPr>
          <a:lstStyle/>
          <a:p>
            <a:pPr>
              <a:defRPr sz="2700" b="1">
                <a:solidFill>
                  <a:srgbClr val="141414"/>
                </a:solidFill>
                <a:latin typeface="Aptos Display"/>
              </a:defRPr>
            </a:pPr>
            <a:r>
              <a:t>PM2.5: Warschau und Prag führen</a:t>
            </a:r>
          </a:p>
        </p:txBody>
      </p:sp>
      <p:pic>
        <p:nvPicPr>
          <p:cNvPr id="4" name="Picture 3" descr="image-1-1.png"/>
          <p:cNvPicPr>
            <a:picLocks noChangeAspect="1"/>
          </p:cNvPicPr>
          <p:nvPr/>
        </p:nvPicPr>
        <p:blipFill>
          <a:blip r:embed="rId3"/>
          <a:stretch>
            <a:fillRect/>
          </a:stretch>
        </p:blipFill>
        <p:spPr>
          <a:xfrm>
            <a:off x="9921240" y="201168"/>
            <a:ext cx="1691640" cy="869598"/>
          </a:xfrm>
          <a:prstGeom prst="rect">
            <a:avLst/>
          </a:prstGeom>
        </p:spPr>
      </p:pic>
      <p:sp>
        <p:nvSpPr>
          <p:cNvPr id="5" name="TextBox 4"/>
          <p:cNvSpPr txBox="1"/>
          <p:nvPr/>
        </p:nvSpPr>
        <p:spPr>
          <a:xfrm>
            <a:off x="502920" y="6473952"/>
            <a:ext cx="3200400" cy="182880"/>
          </a:xfrm>
          <a:prstGeom prst="rect">
            <a:avLst/>
          </a:prstGeom>
          <a:noFill/>
        </p:spPr>
        <p:txBody>
          <a:bodyPr wrap="square" lIns="18288" tIns="18288" rIns="18288" bIns="18288" anchor="t">
            <a:spAutoFit/>
          </a:bodyPr>
          <a:lstStyle/>
          <a:p>
            <a:pPr>
              <a:defRPr sz="900" b="0">
                <a:solidFill>
                  <a:srgbClr val="5C5C5C"/>
                </a:solidFill>
                <a:latin typeface="Aptos"/>
              </a:defRPr>
            </a:pPr>
            <a:r>
              <a:t>Euro Air Quality Pipeline</a:t>
            </a:r>
          </a:p>
        </p:txBody>
      </p:sp>
      <p:sp>
        <p:nvSpPr>
          <p:cNvPr id="6" name="TextBox 5"/>
          <p:cNvSpPr txBox="1"/>
          <p:nvPr/>
        </p:nvSpPr>
        <p:spPr>
          <a:xfrm>
            <a:off x="11155680" y="6473952"/>
            <a:ext cx="548640" cy="182880"/>
          </a:xfrm>
          <a:prstGeom prst="rect">
            <a:avLst/>
          </a:prstGeom>
          <a:noFill/>
        </p:spPr>
        <p:txBody>
          <a:bodyPr wrap="square" lIns="18288" tIns="18288" rIns="18288" bIns="18288" anchor="t">
            <a:spAutoFit/>
          </a:bodyPr>
          <a:lstStyle/>
          <a:p>
            <a:pPr algn="r">
              <a:defRPr sz="900" b="0">
                <a:solidFill>
                  <a:srgbClr val="5C5C5C"/>
                </a:solidFill>
                <a:latin typeface="Aptos"/>
              </a:defRPr>
            </a:pPr>
            <a:r>
              <a:t>5 / 10</a:t>
            </a:r>
          </a:p>
        </p:txBody>
      </p:sp>
      <p:pic>
        <p:nvPicPr>
          <p:cNvPr id="7" name="Picture 6" descr="image-5-2.jpeg"/>
          <p:cNvPicPr>
            <a:picLocks noChangeAspect="1"/>
          </p:cNvPicPr>
          <p:nvPr/>
        </p:nvPicPr>
        <p:blipFill>
          <a:blip r:embed="rId4"/>
          <a:stretch>
            <a:fillRect/>
          </a:stretch>
        </p:blipFill>
        <p:spPr>
          <a:xfrm>
            <a:off x="685800" y="1204786"/>
            <a:ext cx="6675120" cy="4174106"/>
          </a:xfrm>
          <a:prstGeom prst="rect">
            <a:avLst/>
          </a:prstGeom>
        </p:spPr>
      </p:pic>
      <p:sp>
        <p:nvSpPr>
          <p:cNvPr id="8" name="TextBox 7"/>
          <p:cNvSpPr txBox="1"/>
          <p:nvPr/>
        </p:nvSpPr>
        <p:spPr>
          <a:xfrm>
            <a:off x="7726679" y="1325880"/>
            <a:ext cx="3200400" cy="320040"/>
          </a:xfrm>
          <a:prstGeom prst="rect">
            <a:avLst/>
          </a:prstGeom>
          <a:noFill/>
        </p:spPr>
        <p:txBody>
          <a:bodyPr wrap="square" lIns="18288" tIns="18288" rIns="18288" bIns="18288" anchor="t">
            <a:spAutoFit/>
          </a:bodyPr>
          <a:lstStyle/>
          <a:p>
            <a:pPr>
              <a:defRPr sz="2000" b="1">
                <a:solidFill>
                  <a:srgbClr val="005B82"/>
                </a:solidFill>
                <a:latin typeface="Aptos"/>
              </a:defRPr>
            </a:pPr>
            <a:r>
              <a:t>Interpretation</a:t>
            </a:r>
          </a:p>
        </p:txBody>
      </p:sp>
      <p:sp>
        <p:nvSpPr>
          <p:cNvPr id="9" name="TextBox 8"/>
          <p:cNvSpPr txBox="1"/>
          <p:nvPr/>
        </p:nvSpPr>
        <p:spPr>
          <a:xfrm>
            <a:off x="7726679" y="1783080"/>
            <a:ext cx="3840480" cy="3017520"/>
          </a:xfrm>
          <a:prstGeom prst="rect">
            <a:avLst/>
          </a:prstGeom>
          <a:noFill/>
        </p:spPr>
        <p:txBody>
          <a:bodyPr wrap="square" lIns="45720" tIns="0" rIns="18288" bIns="0">
            <a:spAutoFit/>
          </a:bodyPr>
          <a:lstStyle/>
          <a:p>
            <a:pPr>
              <a:spcAft>
                <a:spcPts val="900"/>
              </a:spcAft>
              <a:defRPr sz="1700">
                <a:solidFill>
                  <a:srgbClr val="141414"/>
                </a:solidFill>
                <a:latin typeface="Aptos"/>
              </a:defRPr>
            </a:pPr>
            <a:r>
              <a:t>▸  Höchste PM2.5-Mittel: Warschau 14,7 und Prag 14,5 µg/m³.</a:t>
            </a:r>
          </a:p>
          <a:p>
            <a:pPr>
              <a:spcAft>
                <a:spcPts val="900"/>
              </a:spcAft>
              <a:defRPr sz="1700">
                <a:solidFill>
                  <a:srgbClr val="141414"/>
                </a:solidFill>
                <a:latin typeface="Aptos"/>
              </a:defRPr>
            </a:pPr>
            <a:r>
              <a:t>▸  Niedrigste PM2.5-Mittel: Madrid 9,3, Amsterdam 9,5, Wien 9,8 µg/m³.</a:t>
            </a:r>
          </a:p>
          <a:p>
            <a:pPr>
              <a:spcAft>
                <a:spcPts val="900"/>
              </a:spcAft>
              <a:defRPr sz="1700">
                <a:solidFill>
                  <a:srgbClr val="141414"/>
                </a:solidFill>
                <a:latin typeface="Aptos"/>
              </a:defRPr>
            </a:pPr>
            <a:r>
              <a:t>▸  Alle vergleichbaren Städte liegen deutlich über WHO 5.</a:t>
            </a:r>
          </a:p>
          <a:p>
            <a:pPr>
              <a:spcAft>
                <a:spcPts val="900"/>
              </a:spcAft>
              <a:defRPr sz="1700">
                <a:solidFill>
                  <a:srgbClr val="141414"/>
                </a:solidFill>
                <a:latin typeface="Aptos"/>
              </a:defRPr>
            </a:pPr>
            <a:r>
              <a:t>▸  Fehlerbalken zeigen starke Tag-zu-Tag-Streuung; kleine Rangunterschiede nicht überinterpretieren.</a:t>
            </a:r>
          </a:p>
        </p:txBody>
      </p:sp>
      <p:sp>
        <p:nvSpPr>
          <p:cNvPr id="10" name="TextBox 9"/>
          <p:cNvSpPr txBox="1"/>
          <p:nvPr/>
        </p:nvSpPr>
        <p:spPr>
          <a:xfrm>
            <a:off x="685800" y="5623560"/>
            <a:ext cx="7680960" cy="201168"/>
          </a:xfrm>
          <a:prstGeom prst="rect">
            <a:avLst/>
          </a:prstGeom>
          <a:noFill/>
        </p:spPr>
        <p:txBody>
          <a:bodyPr wrap="square" lIns="18288" tIns="18288" rIns="18288" bIns="18288" anchor="t">
            <a:spAutoFit/>
          </a:bodyPr>
          <a:lstStyle/>
          <a:p>
            <a:pPr>
              <a:defRPr sz="850" b="0">
                <a:solidFill>
                  <a:srgbClr val="5C5C5C"/>
                </a:solidFill>
                <a:latin typeface="Aptos"/>
              </a:defRPr>
            </a:pPr>
            <a:r>
              <a:t>Quelle: EEA, Tagesmittel 2025; Fehlerbalken = Standardabweichung.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2743200" cy="228600"/>
          </a:xfrm>
          <a:prstGeom prst="rect">
            <a:avLst/>
          </a:prstGeom>
          <a:noFill/>
        </p:spPr>
        <p:txBody>
          <a:bodyPr wrap="square" lIns="18288" tIns="18288" rIns="18288" bIns="18288" anchor="t">
            <a:spAutoFit/>
          </a:bodyPr>
          <a:lstStyle/>
          <a:p>
            <a:pPr>
              <a:defRPr sz="1200" b="1">
                <a:solidFill>
                  <a:srgbClr val="005B82"/>
                </a:solidFill>
                <a:latin typeface="Aptos"/>
              </a:defRPr>
            </a:pPr>
            <a:r>
              <a:t>05 · Befund 3</a:t>
            </a:r>
          </a:p>
        </p:txBody>
      </p:sp>
      <p:sp>
        <p:nvSpPr>
          <p:cNvPr id="3" name="TextBox 2"/>
          <p:cNvSpPr txBox="1"/>
          <p:nvPr/>
        </p:nvSpPr>
        <p:spPr>
          <a:xfrm>
            <a:off x="502920" y="530352"/>
            <a:ext cx="8321040" cy="411480"/>
          </a:xfrm>
          <a:prstGeom prst="rect">
            <a:avLst/>
          </a:prstGeom>
          <a:noFill/>
        </p:spPr>
        <p:txBody>
          <a:bodyPr wrap="square" lIns="18288" tIns="18288" rIns="18288" bIns="18288" anchor="t">
            <a:spAutoFit/>
          </a:bodyPr>
          <a:lstStyle/>
          <a:p>
            <a:pPr>
              <a:defRPr sz="2700" b="1">
                <a:solidFill>
                  <a:srgbClr val="141414"/>
                </a:solidFill>
                <a:latin typeface="Aptos Display"/>
              </a:defRPr>
            </a:pPr>
            <a:r>
              <a:t>Mittelwerte allein reichen nicht</a:t>
            </a:r>
          </a:p>
        </p:txBody>
      </p:sp>
      <p:pic>
        <p:nvPicPr>
          <p:cNvPr id="4" name="Picture 3" descr="image-1-1.png"/>
          <p:cNvPicPr>
            <a:picLocks noChangeAspect="1"/>
          </p:cNvPicPr>
          <p:nvPr/>
        </p:nvPicPr>
        <p:blipFill>
          <a:blip r:embed="rId3"/>
          <a:stretch>
            <a:fillRect/>
          </a:stretch>
        </p:blipFill>
        <p:spPr>
          <a:xfrm>
            <a:off x="9921240" y="201168"/>
            <a:ext cx="1691640" cy="869598"/>
          </a:xfrm>
          <a:prstGeom prst="rect">
            <a:avLst/>
          </a:prstGeom>
        </p:spPr>
      </p:pic>
      <p:sp>
        <p:nvSpPr>
          <p:cNvPr id="5" name="TextBox 4"/>
          <p:cNvSpPr txBox="1"/>
          <p:nvPr/>
        </p:nvSpPr>
        <p:spPr>
          <a:xfrm>
            <a:off x="502920" y="6473952"/>
            <a:ext cx="3200400" cy="182880"/>
          </a:xfrm>
          <a:prstGeom prst="rect">
            <a:avLst/>
          </a:prstGeom>
          <a:noFill/>
        </p:spPr>
        <p:txBody>
          <a:bodyPr wrap="square" lIns="18288" tIns="18288" rIns="18288" bIns="18288" anchor="t">
            <a:spAutoFit/>
          </a:bodyPr>
          <a:lstStyle/>
          <a:p>
            <a:pPr>
              <a:defRPr sz="900" b="0">
                <a:solidFill>
                  <a:srgbClr val="5C5C5C"/>
                </a:solidFill>
                <a:latin typeface="Aptos"/>
              </a:defRPr>
            </a:pPr>
            <a:r>
              <a:t>Euro Air Quality Pipeline</a:t>
            </a:r>
          </a:p>
        </p:txBody>
      </p:sp>
      <p:sp>
        <p:nvSpPr>
          <p:cNvPr id="6" name="TextBox 5"/>
          <p:cNvSpPr txBox="1"/>
          <p:nvPr/>
        </p:nvSpPr>
        <p:spPr>
          <a:xfrm>
            <a:off x="11155680" y="6473952"/>
            <a:ext cx="548640" cy="182880"/>
          </a:xfrm>
          <a:prstGeom prst="rect">
            <a:avLst/>
          </a:prstGeom>
          <a:noFill/>
        </p:spPr>
        <p:txBody>
          <a:bodyPr wrap="square" lIns="18288" tIns="18288" rIns="18288" bIns="18288" anchor="t">
            <a:spAutoFit/>
          </a:bodyPr>
          <a:lstStyle/>
          <a:p>
            <a:pPr algn="r">
              <a:defRPr sz="900" b="0">
                <a:solidFill>
                  <a:srgbClr val="5C5C5C"/>
                </a:solidFill>
                <a:latin typeface="Aptos"/>
              </a:defRPr>
            </a:pPr>
            <a:r>
              <a:t>6 / 10</a:t>
            </a:r>
          </a:p>
        </p:txBody>
      </p:sp>
      <p:pic>
        <p:nvPicPr>
          <p:cNvPr id="7" name="Picture 6" descr="image-6-2.jpeg"/>
          <p:cNvPicPr>
            <a:picLocks noChangeAspect="1"/>
          </p:cNvPicPr>
          <p:nvPr/>
        </p:nvPicPr>
        <p:blipFill>
          <a:blip r:embed="rId4"/>
          <a:stretch>
            <a:fillRect/>
          </a:stretch>
        </p:blipFill>
        <p:spPr>
          <a:xfrm>
            <a:off x="594360" y="1137601"/>
            <a:ext cx="5120640" cy="3202053"/>
          </a:xfrm>
          <a:prstGeom prst="rect">
            <a:avLst/>
          </a:prstGeom>
        </p:spPr>
      </p:pic>
      <p:pic>
        <p:nvPicPr>
          <p:cNvPr id="8" name="Picture 7" descr="image-7-2.jpeg"/>
          <p:cNvPicPr>
            <a:picLocks noChangeAspect="1"/>
          </p:cNvPicPr>
          <p:nvPr/>
        </p:nvPicPr>
        <p:blipFill>
          <a:blip r:embed="rId5"/>
          <a:stretch>
            <a:fillRect/>
          </a:stretch>
        </p:blipFill>
        <p:spPr>
          <a:xfrm>
            <a:off x="5989320" y="1412748"/>
            <a:ext cx="5303520" cy="2651760"/>
          </a:xfrm>
          <a:prstGeom prst="rect">
            <a:avLst/>
          </a:prstGeom>
        </p:spPr>
      </p:pic>
      <p:sp>
        <p:nvSpPr>
          <p:cNvPr id="9" name="TextBox 8"/>
          <p:cNvSpPr txBox="1"/>
          <p:nvPr/>
        </p:nvSpPr>
        <p:spPr>
          <a:xfrm>
            <a:off x="685800" y="4617720"/>
            <a:ext cx="4389120" cy="274320"/>
          </a:xfrm>
          <a:prstGeom prst="rect">
            <a:avLst/>
          </a:prstGeom>
          <a:noFill/>
        </p:spPr>
        <p:txBody>
          <a:bodyPr wrap="square" lIns="18288" tIns="18288" rIns="18288" bIns="18288" anchor="t">
            <a:spAutoFit/>
          </a:bodyPr>
          <a:lstStyle/>
          <a:p>
            <a:pPr>
              <a:defRPr sz="1850" b="1">
                <a:solidFill>
                  <a:srgbClr val="005B82"/>
                </a:solidFill>
                <a:latin typeface="Aptos"/>
              </a:defRPr>
            </a:pPr>
            <a:r>
              <a:t>Was die Verteilungen zeigen</a:t>
            </a:r>
          </a:p>
        </p:txBody>
      </p:sp>
      <p:sp>
        <p:nvSpPr>
          <p:cNvPr id="10" name="TextBox 9"/>
          <p:cNvSpPr txBox="1"/>
          <p:nvPr/>
        </p:nvSpPr>
        <p:spPr>
          <a:xfrm>
            <a:off x="777240" y="4983480"/>
            <a:ext cx="4754880" cy="868680"/>
          </a:xfrm>
          <a:prstGeom prst="rect">
            <a:avLst/>
          </a:prstGeom>
          <a:noFill/>
        </p:spPr>
        <p:txBody>
          <a:bodyPr wrap="square" lIns="45720" tIns="0" rIns="18288" bIns="0">
            <a:spAutoFit/>
          </a:bodyPr>
          <a:lstStyle/>
          <a:p>
            <a:pPr>
              <a:spcAft>
                <a:spcPts val="900"/>
              </a:spcAft>
              <a:defRPr sz="1650">
                <a:solidFill>
                  <a:srgbClr val="141414"/>
                </a:solidFill>
                <a:latin typeface="Aptos"/>
              </a:defRPr>
            </a:pPr>
            <a:r>
              <a:t>▸  Der Median jedes Schadstoffs liegt über dem WHO-Richtwert.</a:t>
            </a:r>
          </a:p>
          <a:p>
            <a:pPr>
              <a:spcAft>
                <a:spcPts val="900"/>
              </a:spcAft>
              <a:defRPr sz="1650">
                <a:solidFill>
                  <a:srgbClr val="141414"/>
                </a:solidFill>
                <a:latin typeface="Aptos"/>
              </a:defRPr>
            </a:pPr>
            <a:r>
              <a:t>▸  Lange Oberschwänze markieren einzelne stark belastete Tage.</a:t>
            </a:r>
          </a:p>
        </p:txBody>
      </p:sp>
      <p:sp>
        <p:nvSpPr>
          <p:cNvPr id="11" name="TextBox 10"/>
          <p:cNvSpPr txBox="1"/>
          <p:nvPr/>
        </p:nvSpPr>
        <p:spPr>
          <a:xfrm>
            <a:off x="6035040" y="4617720"/>
            <a:ext cx="4389120" cy="274320"/>
          </a:xfrm>
          <a:prstGeom prst="rect">
            <a:avLst/>
          </a:prstGeom>
          <a:noFill/>
        </p:spPr>
        <p:txBody>
          <a:bodyPr wrap="square" lIns="18288" tIns="18288" rIns="18288" bIns="18288" anchor="t">
            <a:spAutoFit/>
          </a:bodyPr>
          <a:lstStyle/>
          <a:p>
            <a:pPr>
              <a:defRPr sz="1850" b="1">
                <a:solidFill>
                  <a:srgbClr val="005B82"/>
                </a:solidFill>
                <a:latin typeface="Aptos"/>
              </a:defRPr>
            </a:pPr>
            <a:r>
              <a:t>Was die Zeitreihe zeigt</a:t>
            </a:r>
          </a:p>
        </p:txBody>
      </p:sp>
      <p:sp>
        <p:nvSpPr>
          <p:cNvPr id="12" name="TextBox 11"/>
          <p:cNvSpPr txBox="1"/>
          <p:nvPr/>
        </p:nvSpPr>
        <p:spPr>
          <a:xfrm>
            <a:off x="6126480" y="4983480"/>
            <a:ext cx="4846320" cy="868680"/>
          </a:xfrm>
          <a:prstGeom prst="rect">
            <a:avLst/>
          </a:prstGeom>
          <a:noFill/>
        </p:spPr>
        <p:txBody>
          <a:bodyPr wrap="square" lIns="45720" tIns="0" rIns="18288" bIns="0">
            <a:spAutoFit/>
          </a:bodyPr>
          <a:lstStyle/>
          <a:p>
            <a:pPr>
              <a:spcAft>
                <a:spcPts val="900"/>
              </a:spcAft>
              <a:defRPr sz="1650">
                <a:solidFill>
                  <a:srgbClr val="141414"/>
                </a:solidFill>
                <a:latin typeface="Aptos"/>
              </a:defRPr>
            </a:pPr>
            <a:r>
              <a:t>▸  PM2.5-Spitzen häufen sich im Winter; Sommerwerte sind niedriger.</a:t>
            </a:r>
          </a:p>
          <a:p>
            <a:pPr>
              <a:spcAft>
                <a:spcPts val="900"/>
              </a:spcAft>
              <a:defRPr sz="1650">
                <a:solidFill>
                  <a:srgbClr val="141414"/>
                </a:solidFill>
                <a:latin typeface="Aptos"/>
              </a:defRPr>
            </a:pPr>
            <a:r>
              <a:t>▸  Heizen und Inversionswetter sind plausible Einordnung, kein Kausalnachweis.</a:t>
            </a:r>
          </a:p>
        </p:txBody>
      </p:sp>
      <p:sp>
        <p:nvSpPr>
          <p:cNvPr id="13" name="TextBox 12"/>
          <p:cNvSpPr txBox="1"/>
          <p:nvPr/>
        </p:nvSpPr>
        <p:spPr>
          <a:xfrm>
            <a:off x="685800" y="6108192"/>
            <a:ext cx="9509760" cy="201168"/>
          </a:xfrm>
          <a:prstGeom prst="rect">
            <a:avLst/>
          </a:prstGeom>
          <a:noFill/>
        </p:spPr>
        <p:txBody>
          <a:bodyPr wrap="square" lIns="18288" tIns="18288" rIns="18288" bIns="18288" anchor="t">
            <a:spAutoFit/>
          </a:bodyPr>
          <a:lstStyle/>
          <a:p>
            <a:pPr>
              <a:defRPr sz="850" b="0">
                <a:solidFill>
                  <a:srgbClr val="5C5C5C"/>
                </a:solidFill>
                <a:latin typeface="Aptos"/>
              </a:defRPr>
            </a:pPr>
            <a:r>
              <a:t>Quelle: EEA, Tagesmittel 2025. Lücken bleiben sichtbar; keine Interpolation.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2743200" cy="228600"/>
          </a:xfrm>
          <a:prstGeom prst="rect">
            <a:avLst/>
          </a:prstGeom>
          <a:noFill/>
        </p:spPr>
        <p:txBody>
          <a:bodyPr wrap="square" lIns="18288" tIns="18288" rIns="18288" bIns="18288" anchor="t">
            <a:spAutoFit/>
          </a:bodyPr>
          <a:lstStyle/>
          <a:p>
            <a:pPr>
              <a:defRPr sz="1200" b="1">
                <a:solidFill>
                  <a:srgbClr val="005B82"/>
                </a:solidFill>
                <a:latin typeface="Aptos"/>
              </a:defRPr>
            </a:pPr>
            <a:r>
              <a:t>06 · Befund 4</a:t>
            </a:r>
          </a:p>
        </p:txBody>
      </p:sp>
      <p:sp>
        <p:nvSpPr>
          <p:cNvPr id="3" name="TextBox 2"/>
          <p:cNvSpPr txBox="1"/>
          <p:nvPr/>
        </p:nvSpPr>
        <p:spPr>
          <a:xfrm>
            <a:off x="502920" y="530352"/>
            <a:ext cx="8321040" cy="411480"/>
          </a:xfrm>
          <a:prstGeom prst="rect">
            <a:avLst/>
          </a:prstGeom>
          <a:noFill/>
        </p:spPr>
        <p:txBody>
          <a:bodyPr wrap="square" lIns="18288" tIns="18288" rIns="18288" bIns="18288" anchor="t">
            <a:spAutoFit/>
          </a:bodyPr>
          <a:lstStyle/>
          <a:p>
            <a:pPr>
              <a:defRPr sz="2700" b="1">
                <a:solidFill>
                  <a:srgbClr val="141414"/>
                </a:solidFill>
                <a:latin typeface="Aptos Display"/>
              </a:defRPr>
            </a:pPr>
            <a:r>
              <a:t>Bevölkerungsdichte erklärt PM2.5 nicht belastbar</a:t>
            </a:r>
          </a:p>
        </p:txBody>
      </p:sp>
      <p:pic>
        <p:nvPicPr>
          <p:cNvPr id="4" name="Picture 3" descr="image-1-1.png"/>
          <p:cNvPicPr>
            <a:picLocks noChangeAspect="1"/>
          </p:cNvPicPr>
          <p:nvPr/>
        </p:nvPicPr>
        <p:blipFill>
          <a:blip r:embed="rId3"/>
          <a:stretch>
            <a:fillRect/>
          </a:stretch>
        </p:blipFill>
        <p:spPr>
          <a:xfrm>
            <a:off x="9921240" y="201168"/>
            <a:ext cx="1691640" cy="869598"/>
          </a:xfrm>
          <a:prstGeom prst="rect">
            <a:avLst/>
          </a:prstGeom>
        </p:spPr>
      </p:pic>
      <p:sp>
        <p:nvSpPr>
          <p:cNvPr id="5" name="TextBox 4"/>
          <p:cNvSpPr txBox="1"/>
          <p:nvPr/>
        </p:nvSpPr>
        <p:spPr>
          <a:xfrm>
            <a:off x="502920" y="6473952"/>
            <a:ext cx="3200400" cy="182880"/>
          </a:xfrm>
          <a:prstGeom prst="rect">
            <a:avLst/>
          </a:prstGeom>
          <a:noFill/>
        </p:spPr>
        <p:txBody>
          <a:bodyPr wrap="square" lIns="18288" tIns="18288" rIns="18288" bIns="18288" anchor="t">
            <a:spAutoFit/>
          </a:bodyPr>
          <a:lstStyle/>
          <a:p>
            <a:pPr>
              <a:defRPr sz="900" b="0">
                <a:solidFill>
                  <a:srgbClr val="5C5C5C"/>
                </a:solidFill>
                <a:latin typeface="Aptos"/>
              </a:defRPr>
            </a:pPr>
            <a:r>
              <a:t>Euro Air Quality Pipeline</a:t>
            </a:r>
          </a:p>
        </p:txBody>
      </p:sp>
      <p:sp>
        <p:nvSpPr>
          <p:cNvPr id="6" name="TextBox 5"/>
          <p:cNvSpPr txBox="1"/>
          <p:nvPr/>
        </p:nvSpPr>
        <p:spPr>
          <a:xfrm>
            <a:off x="11155680" y="6473952"/>
            <a:ext cx="548640" cy="182880"/>
          </a:xfrm>
          <a:prstGeom prst="rect">
            <a:avLst/>
          </a:prstGeom>
          <a:noFill/>
        </p:spPr>
        <p:txBody>
          <a:bodyPr wrap="square" lIns="18288" tIns="18288" rIns="18288" bIns="18288" anchor="t">
            <a:spAutoFit/>
          </a:bodyPr>
          <a:lstStyle/>
          <a:p>
            <a:pPr algn="r">
              <a:defRPr sz="900" b="0">
                <a:solidFill>
                  <a:srgbClr val="5C5C5C"/>
                </a:solidFill>
                <a:latin typeface="Aptos"/>
              </a:defRPr>
            </a:pPr>
            <a:r>
              <a:t>7 / 10</a:t>
            </a:r>
          </a:p>
        </p:txBody>
      </p:sp>
      <p:pic>
        <p:nvPicPr>
          <p:cNvPr id="7" name="Picture 6" descr="image-8-2.jpeg"/>
          <p:cNvPicPr>
            <a:picLocks noChangeAspect="1"/>
          </p:cNvPicPr>
          <p:nvPr/>
        </p:nvPicPr>
        <p:blipFill>
          <a:blip r:embed="rId4"/>
          <a:stretch>
            <a:fillRect/>
          </a:stretch>
        </p:blipFill>
        <p:spPr>
          <a:xfrm>
            <a:off x="685800" y="1219081"/>
            <a:ext cx="6629400" cy="4145516"/>
          </a:xfrm>
          <a:prstGeom prst="rect">
            <a:avLst/>
          </a:prstGeom>
        </p:spPr>
      </p:pic>
      <p:sp>
        <p:nvSpPr>
          <p:cNvPr id="8" name="TextBox 7"/>
          <p:cNvSpPr txBox="1"/>
          <p:nvPr/>
        </p:nvSpPr>
        <p:spPr>
          <a:xfrm>
            <a:off x="7726679" y="1325880"/>
            <a:ext cx="3200400" cy="320040"/>
          </a:xfrm>
          <a:prstGeom prst="rect">
            <a:avLst/>
          </a:prstGeom>
          <a:noFill/>
        </p:spPr>
        <p:txBody>
          <a:bodyPr wrap="square" lIns="18288" tIns="18288" rIns="18288" bIns="18288" anchor="t">
            <a:spAutoFit/>
          </a:bodyPr>
          <a:lstStyle/>
          <a:p>
            <a:pPr>
              <a:defRPr sz="2000" b="1">
                <a:solidFill>
                  <a:srgbClr val="005B82"/>
                </a:solidFill>
                <a:latin typeface="Aptos"/>
              </a:defRPr>
            </a:pPr>
            <a:r>
              <a:t>Warum vorsichtig?</a:t>
            </a:r>
          </a:p>
        </p:txBody>
      </p:sp>
      <p:sp>
        <p:nvSpPr>
          <p:cNvPr id="9" name="TextBox 8"/>
          <p:cNvSpPr txBox="1"/>
          <p:nvPr/>
        </p:nvSpPr>
        <p:spPr>
          <a:xfrm>
            <a:off x="7726679" y="1783080"/>
            <a:ext cx="3840480" cy="3383280"/>
          </a:xfrm>
          <a:prstGeom prst="rect">
            <a:avLst/>
          </a:prstGeom>
          <a:noFill/>
        </p:spPr>
        <p:txBody>
          <a:bodyPr wrap="square" lIns="45720" tIns="0" rIns="18288" bIns="0">
            <a:spAutoFit/>
          </a:bodyPr>
          <a:lstStyle/>
          <a:p>
            <a:pPr>
              <a:spcAft>
                <a:spcPts val="900"/>
              </a:spcAft>
              <a:defRPr sz="1650">
                <a:solidFill>
                  <a:srgbClr val="141414"/>
                </a:solidFill>
                <a:latin typeface="Aptos"/>
              </a:defRPr>
            </a:pPr>
            <a:r>
              <a:t>▸  Dichte und PM2.5 werden explorativ verknüpft: Wikipedia-Kontext plus EEA-Messdaten.</a:t>
            </a:r>
          </a:p>
          <a:p>
            <a:pPr>
              <a:spcAft>
                <a:spcPts val="900"/>
              </a:spcAft>
              <a:defRPr sz="1650">
                <a:solidFill>
                  <a:srgbClr val="141414"/>
                </a:solidFill>
                <a:latin typeface="Aptos"/>
              </a:defRPr>
            </a:pPr>
            <a:r>
              <a:t>▸  Korrelation ist nicht robust: r ≈ -0,23 über alle Städte, aber ≈ -0,95 ohne Paris.</a:t>
            </a:r>
          </a:p>
          <a:p>
            <a:pPr>
              <a:spcAft>
                <a:spcPts val="900"/>
              </a:spcAft>
              <a:defRPr sz="1650">
                <a:solidFill>
                  <a:srgbClr val="141414"/>
                </a:solidFill>
                <a:latin typeface="Aptos"/>
              </a:defRPr>
            </a:pPr>
            <a:r>
              <a:t>▸  Paris ist Kernkommune (~105 km²) und mit den anderen Stadtflächen nicht direkt vergleichbar.</a:t>
            </a:r>
          </a:p>
          <a:p>
            <a:pPr>
              <a:spcAft>
                <a:spcPts val="900"/>
              </a:spcAft>
              <a:defRPr sz="1650">
                <a:solidFill>
                  <a:srgbClr val="141414"/>
                </a:solidFill>
                <a:latin typeface="Aptos"/>
              </a:defRPr>
            </a:pPr>
            <a:r>
              <a:t>▸  Daraus folgt keine Kausalität und kein belastbarer Erklärungsfaktor.</a:t>
            </a:r>
          </a:p>
        </p:txBody>
      </p:sp>
      <p:sp>
        <p:nvSpPr>
          <p:cNvPr id="10" name="TextBox 9"/>
          <p:cNvSpPr txBox="1"/>
          <p:nvPr/>
        </p:nvSpPr>
        <p:spPr>
          <a:xfrm>
            <a:off x="685800" y="5623560"/>
            <a:ext cx="9144000" cy="201168"/>
          </a:xfrm>
          <a:prstGeom prst="rect">
            <a:avLst/>
          </a:prstGeom>
          <a:noFill/>
        </p:spPr>
        <p:txBody>
          <a:bodyPr wrap="square" lIns="18288" tIns="18288" rIns="18288" bIns="18288" anchor="t">
            <a:spAutoFit/>
          </a:bodyPr>
          <a:lstStyle/>
          <a:p>
            <a:pPr>
              <a:defRPr sz="850" b="0">
                <a:solidFill>
                  <a:srgbClr val="5C5C5C"/>
                </a:solidFill>
                <a:latin typeface="Aptos"/>
              </a:defRPr>
            </a:pPr>
            <a:r>
              <a:t>MAUP: Modifiable Areal Unit Problem - Flächenabgrenzungen beeinflussen Dichtewerte.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2743200" cy="228600"/>
          </a:xfrm>
          <a:prstGeom prst="rect">
            <a:avLst/>
          </a:prstGeom>
          <a:noFill/>
        </p:spPr>
        <p:txBody>
          <a:bodyPr wrap="square" lIns="18288" tIns="18288" rIns="18288" bIns="18288" anchor="t">
            <a:spAutoFit/>
          </a:bodyPr>
          <a:lstStyle/>
          <a:p>
            <a:pPr>
              <a:defRPr sz="1200" b="1">
                <a:solidFill>
                  <a:srgbClr val="005B82"/>
                </a:solidFill>
                <a:latin typeface="Aptos"/>
              </a:defRPr>
            </a:pPr>
            <a:r>
              <a:t>07 · Befund 5</a:t>
            </a:r>
          </a:p>
        </p:txBody>
      </p:sp>
      <p:sp>
        <p:nvSpPr>
          <p:cNvPr id="3" name="TextBox 2"/>
          <p:cNvSpPr txBox="1"/>
          <p:nvPr/>
        </p:nvSpPr>
        <p:spPr>
          <a:xfrm>
            <a:off x="502920" y="530352"/>
            <a:ext cx="8321040" cy="411480"/>
          </a:xfrm>
          <a:prstGeom prst="rect">
            <a:avLst/>
          </a:prstGeom>
          <a:noFill/>
        </p:spPr>
        <p:txBody>
          <a:bodyPr wrap="square" lIns="18288" tIns="18288" rIns="18288" bIns="18288" anchor="t">
            <a:spAutoFit/>
          </a:bodyPr>
          <a:lstStyle/>
          <a:p>
            <a:pPr>
              <a:defRPr sz="2700" b="1">
                <a:solidFill>
                  <a:srgbClr val="141414"/>
                </a:solidFill>
                <a:latin typeface="Aptos Display"/>
              </a:defRPr>
            </a:pPr>
            <a:r>
              <a:t>Aktuelle Lage gegen historische EEA-Median-Baseline</a:t>
            </a:r>
          </a:p>
        </p:txBody>
      </p:sp>
      <p:pic>
        <p:nvPicPr>
          <p:cNvPr id="4" name="Picture 3" descr="image-1-1.png"/>
          <p:cNvPicPr>
            <a:picLocks noChangeAspect="1"/>
          </p:cNvPicPr>
          <p:nvPr/>
        </p:nvPicPr>
        <p:blipFill>
          <a:blip r:embed="rId3"/>
          <a:stretch>
            <a:fillRect/>
          </a:stretch>
        </p:blipFill>
        <p:spPr>
          <a:xfrm>
            <a:off x="9921240" y="201168"/>
            <a:ext cx="1691640" cy="869598"/>
          </a:xfrm>
          <a:prstGeom prst="rect">
            <a:avLst/>
          </a:prstGeom>
        </p:spPr>
      </p:pic>
      <p:sp>
        <p:nvSpPr>
          <p:cNvPr id="5" name="TextBox 4"/>
          <p:cNvSpPr txBox="1"/>
          <p:nvPr/>
        </p:nvSpPr>
        <p:spPr>
          <a:xfrm>
            <a:off x="502920" y="6473952"/>
            <a:ext cx="3200400" cy="182880"/>
          </a:xfrm>
          <a:prstGeom prst="rect">
            <a:avLst/>
          </a:prstGeom>
          <a:noFill/>
        </p:spPr>
        <p:txBody>
          <a:bodyPr wrap="square" lIns="18288" tIns="18288" rIns="18288" bIns="18288" anchor="t">
            <a:spAutoFit/>
          </a:bodyPr>
          <a:lstStyle/>
          <a:p>
            <a:pPr>
              <a:defRPr sz="900" b="0">
                <a:solidFill>
                  <a:srgbClr val="5C5C5C"/>
                </a:solidFill>
                <a:latin typeface="Aptos"/>
              </a:defRPr>
            </a:pPr>
            <a:r>
              <a:t>Euro Air Quality Pipeline</a:t>
            </a:r>
          </a:p>
        </p:txBody>
      </p:sp>
      <p:sp>
        <p:nvSpPr>
          <p:cNvPr id="6" name="TextBox 5"/>
          <p:cNvSpPr txBox="1"/>
          <p:nvPr/>
        </p:nvSpPr>
        <p:spPr>
          <a:xfrm>
            <a:off x="11155680" y="6473952"/>
            <a:ext cx="548640" cy="182880"/>
          </a:xfrm>
          <a:prstGeom prst="rect">
            <a:avLst/>
          </a:prstGeom>
          <a:noFill/>
        </p:spPr>
        <p:txBody>
          <a:bodyPr wrap="square" lIns="18288" tIns="18288" rIns="18288" bIns="18288" anchor="t">
            <a:spAutoFit/>
          </a:bodyPr>
          <a:lstStyle/>
          <a:p>
            <a:pPr algn="r">
              <a:defRPr sz="900" b="0">
                <a:solidFill>
                  <a:srgbClr val="5C5C5C"/>
                </a:solidFill>
                <a:latin typeface="Aptos"/>
              </a:defRPr>
            </a:pPr>
            <a:r>
              <a:t>8 / 10</a:t>
            </a:r>
          </a:p>
        </p:txBody>
      </p:sp>
      <p:sp>
        <p:nvSpPr>
          <p:cNvPr id="7" name="TextBox 6"/>
          <p:cNvSpPr txBox="1"/>
          <p:nvPr/>
        </p:nvSpPr>
        <p:spPr>
          <a:xfrm>
            <a:off x="685800" y="1234440"/>
            <a:ext cx="3108960" cy="320040"/>
          </a:xfrm>
          <a:prstGeom prst="rect">
            <a:avLst/>
          </a:prstGeom>
          <a:noFill/>
        </p:spPr>
        <p:txBody>
          <a:bodyPr wrap="square" lIns="18288" tIns="18288" rIns="18288" bIns="18288" anchor="t">
            <a:spAutoFit/>
          </a:bodyPr>
          <a:lstStyle/>
          <a:p>
            <a:pPr>
              <a:defRPr sz="2000" b="1">
                <a:solidFill>
                  <a:srgbClr val="005B82"/>
                </a:solidFill>
                <a:latin typeface="Aptos"/>
              </a:defRPr>
            </a:pPr>
            <a:r>
              <a:t>Neuer Vergleich</a:t>
            </a:r>
          </a:p>
        </p:txBody>
      </p:sp>
      <p:sp>
        <p:nvSpPr>
          <p:cNvPr id="8" name="TextBox 7"/>
          <p:cNvSpPr txBox="1"/>
          <p:nvPr/>
        </p:nvSpPr>
        <p:spPr>
          <a:xfrm>
            <a:off x="685800" y="1664208"/>
            <a:ext cx="5303520" cy="658368"/>
          </a:xfrm>
          <a:prstGeom prst="rect">
            <a:avLst/>
          </a:prstGeom>
          <a:noFill/>
        </p:spPr>
        <p:txBody>
          <a:bodyPr wrap="square" lIns="18288" tIns="18288" rIns="18288" bIns="18288" anchor="t">
            <a:spAutoFit/>
          </a:bodyPr>
          <a:lstStyle/>
          <a:p>
            <a:pPr>
              <a:defRPr sz="1900" b="0">
                <a:solidFill>
                  <a:srgbClr val="141414"/>
                </a:solidFill>
                <a:latin typeface="Aptos"/>
              </a:defRPr>
            </a:pPr>
            <a:r>
              <a:t>Open-Meteo-Livewert wird je Stadt und Schadstoff gegen den historischen EEA-Median 2025 eingeordnet.</a:t>
            </a:r>
          </a:p>
        </p:txBody>
      </p:sp>
      <p:pic>
        <p:nvPicPr>
          <p:cNvPr id="9" name="Picture 8"/>
          <p:cNvPicPr>
            <a:picLocks noChangeAspect="1"/>
          </p:cNvPicPr>
          <p:nvPr/>
        </p:nvPicPr>
        <p:blipFill>
          <a:blip r:embed="rId4"/>
          <a:srcRect/>
          <a:stretch/>
        </p:blipFill>
        <p:spPr>
          <a:xfrm>
            <a:off x="599970" y="2601467"/>
            <a:ext cx="5442690" cy="3488437"/>
          </a:xfrm>
          <a:prstGeom prst="rect">
            <a:avLst/>
          </a:prstGeom>
        </p:spPr>
      </p:pic>
      <p:sp>
        <p:nvSpPr>
          <p:cNvPr id="10" name="TextBox 9"/>
          <p:cNvSpPr txBox="1"/>
          <p:nvPr/>
        </p:nvSpPr>
        <p:spPr>
          <a:xfrm>
            <a:off x="6537960" y="1234440"/>
            <a:ext cx="3108960" cy="320040"/>
          </a:xfrm>
          <a:prstGeom prst="rect">
            <a:avLst/>
          </a:prstGeom>
          <a:noFill/>
        </p:spPr>
        <p:txBody>
          <a:bodyPr wrap="square" lIns="18288" tIns="18288" rIns="18288" bIns="18288" anchor="t">
            <a:spAutoFit/>
          </a:bodyPr>
          <a:lstStyle/>
          <a:p>
            <a:pPr>
              <a:defRPr sz="2000" b="1">
                <a:solidFill>
                  <a:srgbClr val="005B82"/>
                </a:solidFill>
                <a:latin typeface="Aptos"/>
              </a:defRPr>
            </a:pPr>
            <a:r>
              <a:t>Wie wird gelesen?</a:t>
            </a:r>
          </a:p>
        </p:txBody>
      </p:sp>
      <p:sp>
        <p:nvSpPr>
          <p:cNvPr id="11" name="TextBox 10"/>
          <p:cNvSpPr txBox="1"/>
          <p:nvPr/>
        </p:nvSpPr>
        <p:spPr>
          <a:xfrm>
            <a:off x="6537960" y="1664208"/>
            <a:ext cx="4937760" cy="2194560"/>
          </a:xfrm>
          <a:prstGeom prst="rect">
            <a:avLst/>
          </a:prstGeom>
          <a:noFill/>
        </p:spPr>
        <p:txBody>
          <a:bodyPr wrap="square" lIns="45720" tIns="0" rIns="18288" bIns="0">
            <a:spAutoFit/>
          </a:bodyPr>
          <a:lstStyle/>
          <a:p>
            <a:pPr>
              <a:spcAft>
                <a:spcPts val="900"/>
              </a:spcAft>
              <a:defRPr sz="1650">
                <a:solidFill>
                  <a:srgbClr val="141414"/>
                </a:solidFill>
                <a:latin typeface="Aptos"/>
              </a:defRPr>
            </a:pPr>
            <a:r>
              <a:t>▸  Historische Referenz: Median der EEA-Tagesmittel 2025.</a:t>
            </a:r>
          </a:p>
          <a:p>
            <a:pPr>
              <a:spcAft>
                <a:spcPts val="900"/>
              </a:spcAft>
              <a:defRPr sz="1650">
                <a:solidFill>
                  <a:srgbClr val="141414"/>
                </a:solidFill>
                <a:latin typeface="Aptos"/>
              </a:defRPr>
            </a:pPr>
            <a:r>
              <a:t>▸  Aktueller Wert: Open-Meteo-Modellwert aus dem Kafka/Spark-Livepfad.</a:t>
            </a:r>
          </a:p>
          <a:p>
            <a:pPr>
              <a:spcAft>
                <a:spcPts val="900"/>
              </a:spcAft>
              <a:defRPr sz="1650">
                <a:solidFill>
                  <a:srgbClr val="141414"/>
                </a:solidFill>
                <a:latin typeface="Aptos"/>
              </a:defRPr>
            </a:pPr>
            <a:r>
              <a:t>▸  Abweichung: (Live - Median) / Median in Prozent.</a:t>
            </a:r>
          </a:p>
          <a:p>
            <a:pPr>
              <a:spcAft>
                <a:spcPts val="900"/>
              </a:spcAft>
              <a:defRPr sz="1650">
                <a:solidFill>
                  <a:srgbClr val="141414"/>
                </a:solidFill>
                <a:latin typeface="Aptos"/>
              </a:defRPr>
            </a:pPr>
            <a:r>
              <a:t>▸  Ergebnisstruktur: 24 Paare, 22 vergleichbar, 2 ohne Referenz (Rom PM2.5/PM10).</a:t>
            </a:r>
          </a:p>
        </p:txBody>
      </p:sp>
      <p:sp>
        <p:nvSpPr>
          <p:cNvPr id="12" name="TextBox 11"/>
          <p:cNvSpPr txBox="1"/>
          <p:nvPr/>
        </p:nvSpPr>
        <p:spPr>
          <a:xfrm>
            <a:off x="6537960" y="4251960"/>
            <a:ext cx="3108960" cy="274320"/>
          </a:xfrm>
          <a:prstGeom prst="rect">
            <a:avLst/>
          </a:prstGeom>
          <a:noFill/>
        </p:spPr>
        <p:txBody>
          <a:bodyPr wrap="square" lIns="18288" tIns="18288" rIns="18288" bIns="18288" anchor="t">
            <a:spAutoFit/>
          </a:bodyPr>
          <a:lstStyle/>
          <a:p>
            <a:pPr>
              <a:defRPr sz="1850" b="1">
                <a:solidFill>
                  <a:srgbClr val="005B82"/>
                </a:solidFill>
                <a:latin typeface="Aptos"/>
              </a:defRPr>
            </a:pPr>
            <a:r>
              <a:t>Methodische Grenze</a:t>
            </a:r>
          </a:p>
        </p:txBody>
      </p:sp>
      <p:sp>
        <p:nvSpPr>
          <p:cNvPr id="13" name="TextBox 12"/>
          <p:cNvSpPr txBox="1"/>
          <p:nvPr/>
        </p:nvSpPr>
        <p:spPr>
          <a:xfrm>
            <a:off x="6537960" y="4617720"/>
            <a:ext cx="4892040" cy="685800"/>
          </a:xfrm>
          <a:prstGeom prst="rect">
            <a:avLst/>
          </a:prstGeom>
          <a:noFill/>
        </p:spPr>
        <p:txBody>
          <a:bodyPr wrap="square" lIns="18288" tIns="18288" rIns="18288" bIns="18288" anchor="t">
            <a:spAutoFit/>
          </a:bodyPr>
          <a:lstStyle/>
          <a:p>
            <a:pPr>
              <a:defRPr sz="1650" b="1">
                <a:solidFill>
                  <a:srgbClr val="141414"/>
                </a:solidFill>
                <a:latin typeface="Aptos"/>
              </a:defRPr>
            </a:pPr>
            <a:r>
              <a:t>Explorativer Vergleich: Modellwert vs. Messdaten, anderer Zeitraum, kein Trend-, Kausal- oder WHO-Jahresbezug.</a:t>
            </a:r>
          </a:p>
        </p:txBody>
      </p:sp>
      <p:sp>
        <p:nvSpPr>
          <p:cNvPr id="14" name="TextBox 13"/>
          <p:cNvSpPr txBox="1"/>
          <p:nvPr/>
        </p:nvSpPr>
        <p:spPr>
          <a:xfrm>
            <a:off x="685800" y="6181344"/>
            <a:ext cx="9144000" cy="201168"/>
          </a:xfrm>
          <a:prstGeom prst="rect">
            <a:avLst/>
          </a:prstGeom>
          <a:noFill/>
        </p:spPr>
        <p:txBody>
          <a:bodyPr wrap="square" lIns="18288" tIns="18288" rIns="18288" bIns="18288" anchor="t">
            <a:spAutoFit/>
          </a:bodyPr>
          <a:lstStyle/>
          <a:p>
            <a:pPr>
              <a:defRPr sz="850" b="0">
                <a:solidFill>
                  <a:srgbClr val="5C5C5C"/>
                </a:solidFill>
                <a:latin typeface="Aptos"/>
              </a:defRPr>
            </a:pPr>
            <a:r>
              <a:rPr dirty="0"/>
              <a:t>Die </a:t>
            </a:r>
            <a:r>
              <a:rPr dirty="0" err="1"/>
              <a:t>Grafik</a:t>
            </a:r>
            <a:r>
              <a:rPr dirty="0"/>
              <a:t> </a:t>
            </a:r>
            <a:r>
              <a:rPr dirty="0" err="1"/>
              <a:t>zeigt</a:t>
            </a:r>
            <a:r>
              <a:rPr dirty="0"/>
              <a:t> den Live-Snapshot; die </a:t>
            </a:r>
            <a:r>
              <a:rPr dirty="0" err="1"/>
              <a:t>Einordnung</a:t>
            </a:r>
            <a:r>
              <a:rPr dirty="0"/>
              <a:t> </a:t>
            </a:r>
            <a:r>
              <a:rPr dirty="0" err="1"/>
              <a:t>erfolgt</a:t>
            </a:r>
            <a:r>
              <a:rPr dirty="0"/>
              <a:t> </a:t>
            </a:r>
            <a:r>
              <a:rPr dirty="0" err="1"/>
              <a:t>gegen</a:t>
            </a:r>
            <a:r>
              <a:rPr dirty="0"/>
              <a:t> den </a:t>
            </a:r>
            <a:r>
              <a:rPr dirty="0" err="1"/>
              <a:t>historischen</a:t>
            </a:r>
            <a:r>
              <a:rPr dirty="0"/>
              <a:t> Median in Gold.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2743200" cy="228600"/>
          </a:xfrm>
          <a:prstGeom prst="rect">
            <a:avLst/>
          </a:prstGeom>
          <a:noFill/>
        </p:spPr>
        <p:txBody>
          <a:bodyPr wrap="square" lIns="18288" tIns="18288" rIns="18288" bIns="18288" anchor="t">
            <a:spAutoFit/>
          </a:bodyPr>
          <a:lstStyle/>
          <a:p>
            <a:pPr>
              <a:defRPr sz="1200" b="1">
                <a:solidFill>
                  <a:srgbClr val="005B82"/>
                </a:solidFill>
                <a:latin typeface="Aptos"/>
              </a:defRPr>
            </a:pPr>
            <a:r>
              <a:t>08 · Einordnung</a:t>
            </a:r>
          </a:p>
        </p:txBody>
      </p:sp>
      <p:sp>
        <p:nvSpPr>
          <p:cNvPr id="3" name="TextBox 2"/>
          <p:cNvSpPr txBox="1"/>
          <p:nvPr/>
        </p:nvSpPr>
        <p:spPr>
          <a:xfrm>
            <a:off x="502920" y="530352"/>
            <a:ext cx="8321040" cy="411480"/>
          </a:xfrm>
          <a:prstGeom prst="rect">
            <a:avLst/>
          </a:prstGeom>
          <a:noFill/>
        </p:spPr>
        <p:txBody>
          <a:bodyPr wrap="square" lIns="18288" tIns="18288" rIns="18288" bIns="18288" anchor="t">
            <a:spAutoFit/>
          </a:bodyPr>
          <a:lstStyle/>
          <a:p>
            <a:pPr>
              <a:defRPr sz="2700" b="1">
                <a:solidFill>
                  <a:srgbClr val="141414"/>
                </a:solidFill>
                <a:latin typeface="Aptos Display"/>
              </a:defRPr>
            </a:pPr>
            <a:r>
              <a:t>Was die Daten nicht sagen</a:t>
            </a:r>
          </a:p>
        </p:txBody>
      </p:sp>
      <p:pic>
        <p:nvPicPr>
          <p:cNvPr id="4" name="Picture 3" descr="image-1-1.png"/>
          <p:cNvPicPr>
            <a:picLocks noChangeAspect="1"/>
          </p:cNvPicPr>
          <p:nvPr/>
        </p:nvPicPr>
        <p:blipFill>
          <a:blip r:embed="rId3"/>
          <a:stretch>
            <a:fillRect/>
          </a:stretch>
        </p:blipFill>
        <p:spPr>
          <a:xfrm>
            <a:off x="9921240" y="201168"/>
            <a:ext cx="1691640" cy="869598"/>
          </a:xfrm>
          <a:prstGeom prst="rect">
            <a:avLst/>
          </a:prstGeom>
        </p:spPr>
      </p:pic>
      <p:sp>
        <p:nvSpPr>
          <p:cNvPr id="5" name="TextBox 4"/>
          <p:cNvSpPr txBox="1"/>
          <p:nvPr/>
        </p:nvSpPr>
        <p:spPr>
          <a:xfrm>
            <a:off x="502920" y="6473952"/>
            <a:ext cx="3200400" cy="182880"/>
          </a:xfrm>
          <a:prstGeom prst="rect">
            <a:avLst/>
          </a:prstGeom>
          <a:noFill/>
        </p:spPr>
        <p:txBody>
          <a:bodyPr wrap="square" lIns="18288" tIns="18288" rIns="18288" bIns="18288" anchor="t">
            <a:spAutoFit/>
          </a:bodyPr>
          <a:lstStyle/>
          <a:p>
            <a:pPr>
              <a:defRPr sz="900" b="0">
                <a:solidFill>
                  <a:srgbClr val="5C5C5C"/>
                </a:solidFill>
                <a:latin typeface="Aptos"/>
              </a:defRPr>
            </a:pPr>
            <a:r>
              <a:t>Euro Air Quality Pipeline</a:t>
            </a:r>
          </a:p>
        </p:txBody>
      </p:sp>
      <p:sp>
        <p:nvSpPr>
          <p:cNvPr id="6" name="TextBox 5"/>
          <p:cNvSpPr txBox="1"/>
          <p:nvPr/>
        </p:nvSpPr>
        <p:spPr>
          <a:xfrm>
            <a:off x="11155680" y="6473952"/>
            <a:ext cx="548640" cy="182880"/>
          </a:xfrm>
          <a:prstGeom prst="rect">
            <a:avLst/>
          </a:prstGeom>
          <a:noFill/>
        </p:spPr>
        <p:txBody>
          <a:bodyPr wrap="square" lIns="18288" tIns="18288" rIns="18288" bIns="18288" anchor="t">
            <a:spAutoFit/>
          </a:bodyPr>
          <a:lstStyle/>
          <a:p>
            <a:pPr algn="r">
              <a:defRPr sz="900" b="0">
                <a:solidFill>
                  <a:srgbClr val="5C5C5C"/>
                </a:solidFill>
                <a:latin typeface="Aptos"/>
              </a:defRPr>
            </a:pPr>
            <a:r>
              <a:t>9 / 10</a:t>
            </a:r>
          </a:p>
        </p:txBody>
      </p:sp>
      <p:sp>
        <p:nvSpPr>
          <p:cNvPr id="7" name="TextBox 6"/>
          <p:cNvSpPr txBox="1"/>
          <p:nvPr/>
        </p:nvSpPr>
        <p:spPr>
          <a:xfrm>
            <a:off x="777240" y="1325880"/>
            <a:ext cx="640080" cy="365760"/>
          </a:xfrm>
          <a:prstGeom prst="rect">
            <a:avLst/>
          </a:prstGeom>
          <a:noFill/>
        </p:spPr>
        <p:txBody>
          <a:bodyPr wrap="square" lIns="18288" tIns="18288" rIns="18288" bIns="18288" anchor="t">
            <a:spAutoFit/>
          </a:bodyPr>
          <a:lstStyle/>
          <a:p>
            <a:pPr>
              <a:defRPr sz="2400" b="1">
                <a:solidFill>
                  <a:srgbClr val="005B82"/>
                </a:solidFill>
                <a:latin typeface="Aptos Display"/>
              </a:defRPr>
            </a:pPr>
            <a:r>
              <a:t>01</a:t>
            </a:r>
          </a:p>
        </p:txBody>
      </p:sp>
      <p:sp>
        <p:nvSpPr>
          <p:cNvPr id="8" name="TextBox 7"/>
          <p:cNvSpPr txBox="1"/>
          <p:nvPr/>
        </p:nvSpPr>
        <p:spPr>
          <a:xfrm>
            <a:off x="1463040" y="1344168"/>
            <a:ext cx="4389120" cy="320040"/>
          </a:xfrm>
          <a:prstGeom prst="rect">
            <a:avLst/>
          </a:prstGeom>
          <a:noFill/>
        </p:spPr>
        <p:txBody>
          <a:bodyPr wrap="square" lIns="18288" tIns="18288" rIns="18288" bIns="18288" anchor="t">
            <a:spAutoFit/>
          </a:bodyPr>
          <a:lstStyle/>
          <a:p>
            <a:pPr>
              <a:defRPr sz="1900" b="1">
                <a:solidFill>
                  <a:srgbClr val="141414"/>
                </a:solidFill>
                <a:latin typeface="Aptos"/>
              </a:defRPr>
            </a:pPr>
            <a:r>
              <a:t>Deskriptiv, nicht kausal</a:t>
            </a:r>
          </a:p>
        </p:txBody>
      </p:sp>
      <p:sp>
        <p:nvSpPr>
          <p:cNvPr id="9" name="TextBox 8"/>
          <p:cNvSpPr txBox="1"/>
          <p:nvPr/>
        </p:nvSpPr>
        <p:spPr>
          <a:xfrm>
            <a:off x="1463040" y="1828800"/>
            <a:ext cx="4480560" cy="685800"/>
          </a:xfrm>
          <a:prstGeom prst="rect">
            <a:avLst/>
          </a:prstGeom>
          <a:noFill/>
        </p:spPr>
        <p:txBody>
          <a:bodyPr wrap="square" lIns="18288" tIns="18288" rIns="18288" bIns="18288" anchor="t">
            <a:spAutoFit/>
          </a:bodyPr>
          <a:lstStyle/>
          <a:p>
            <a:pPr>
              <a:defRPr sz="1650" b="0">
                <a:solidFill>
                  <a:srgbClr val="141414"/>
                </a:solidFill>
                <a:latin typeface="Aptos"/>
              </a:defRPr>
            </a:pPr>
            <a:r>
              <a:t>Wir beschreiben Muster. Ursachen werden nicht behauptet.</a:t>
            </a:r>
          </a:p>
        </p:txBody>
      </p:sp>
      <p:sp>
        <p:nvSpPr>
          <p:cNvPr id="10" name="TextBox 9"/>
          <p:cNvSpPr txBox="1"/>
          <p:nvPr/>
        </p:nvSpPr>
        <p:spPr>
          <a:xfrm>
            <a:off x="6263640" y="1325880"/>
            <a:ext cx="640080" cy="365760"/>
          </a:xfrm>
          <a:prstGeom prst="rect">
            <a:avLst/>
          </a:prstGeom>
          <a:noFill/>
        </p:spPr>
        <p:txBody>
          <a:bodyPr wrap="square" lIns="18288" tIns="18288" rIns="18288" bIns="18288" anchor="t">
            <a:spAutoFit/>
          </a:bodyPr>
          <a:lstStyle/>
          <a:p>
            <a:pPr>
              <a:defRPr sz="2400" b="1">
                <a:solidFill>
                  <a:srgbClr val="005B82"/>
                </a:solidFill>
                <a:latin typeface="Aptos Display"/>
              </a:defRPr>
            </a:pPr>
            <a:r>
              <a:t>02</a:t>
            </a:r>
          </a:p>
        </p:txBody>
      </p:sp>
      <p:sp>
        <p:nvSpPr>
          <p:cNvPr id="11" name="TextBox 10"/>
          <p:cNvSpPr txBox="1"/>
          <p:nvPr/>
        </p:nvSpPr>
        <p:spPr>
          <a:xfrm>
            <a:off x="6949440" y="1344168"/>
            <a:ext cx="4389120" cy="320040"/>
          </a:xfrm>
          <a:prstGeom prst="rect">
            <a:avLst/>
          </a:prstGeom>
          <a:noFill/>
        </p:spPr>
        <p:txBody>
          <a:bodyPr wrap="square" lIns="18288" tIns="18288" rIns="18288" bIns="18288" anchor="t">
            <a:spAutoFit/>
          </a:bodyPr>
          <a:lstStyle/>
          <a:p>
            <a:pPr>
              <a:defRPr sz="1900" b="1">
                <a:solidFill>
                  <a:srgbClr val="141414"/>
                </a:solidFill>
                <a:latin typeface="Aptos"/>
              </a:defRPr>
            </a:pPr>
            <a:r>
              <a:t>Keine pauschale Rangliste</a:t>
            </a:r>
          </a:p>
        </p:txBody>
      </p:sp>
      <p:sp>
        <p:nvSpPr>
          <p:cNvPr id="12" name="TextBox 11"/>
          <p:cNvSpPr txBox="1"/>
          <p:nvPr/>
        </p:nvSpPr>
        <p:spPr>
          <a:xfrm>
            <a:off x="6949440" y="1828800"/>
            <a:ext cx="4480560" cy="685800"/>
          </a:xfrm>
          <a:prstGeom prst="rect">
            <a:avLst/>
          </a:prstGeom>
          <a:noFill/>
        </p:spPr>
        <p:txBody>
          <a:bodyPr wrap="square" lIns="18288" tIns="18288" rIns="18288" bIns="18288" anchor="t">
            <a:spAutoFit/>
          </a:bodyPr>
          <a:lstStyle/>
          <a:p>
            <a:pPr>
              <a:defRPr sz="1650" b="0">
                <a:solidFill>
                  <a:srgbClr val="141414"/>
                </a:solidFill>
                <a:latin typeface="Aptos"/>
              </a:defRPr>
            </a:pPr>
            <a:r>
              <a:t>Die Reihenfolge hängt vom Schadstoff ab; jeder wird einzeln betrachtet.</a:t>
            </a:r>
          </a:p>
        </p:txBody>
      </p:sp>
      <p:sp>
        <p:nvSpPr>
          <p:cNvPr id="13" name="TextBox 12"/>
          <p:cNvSpPr txBox="1"/>
          <p:nvPr/>
        </p:nvSpPr>
        <p:spPr>
          <a:xfrm>
            <a:off x="777240" y="3246120"/>
            <a:ext cx="640080" cy="365760"/>
          </a:xfrm>
          <a:prstGeom prst="rect">
            <a:avLst/>
          </a:prstGeom>
          <a:noFill/>
        </p:spPr>
        <p:txBody>
          <a:bodyPr wrap="square" lIns="18288" tIns="18288" rIns="18288" bIns="18288" anchor="t">
            <a:spAutoFit/>
          </a:bodyPr>
          <a:lstStyle/>
          <a:p>
            <a:pPr>
              <a:defRPr sz="2400" b="1">
                <a:solidFill>
                  <a:srgbClr val="005B82"/>
                </a:solidFill>
                <a:latin typeface="Aptos Display"/>
              </a:defRPr>
            </a:pPr>
            <a:r>
              <a:t>03</a:t>
            </a:r>
          </a:p>
        </p:txBody>
      </p:sp>
      <p:sp>
        <p:nvSpPr>
          <p:cNvPr id="14" name="TextBox 13"/>
          <p:cNvSpPr txBox="1"/>
          <p:nvPr/>
        </p:nvSpPr>
        <p:spPr>
          <a:xfrm>
            <a:off x="1463040" y="3264408"/>
            <a:ext cx="4389120" cy="320040"/>
          </a:xfrm>
          <a:prstGeom prst="rect">
            <a:avLst/>
          </a:prstGeom>
          <a:noFill/>
        </p:spPr>
        <p:txBody>
          <a:bodyPr wrap="square" lIns="18288" tIns="18288" rIns="18288" bIns="18288" anchor="t">
            <a:spAutoFit/>
          </a:bodyPr>
          <a:lstStyle/>
          <a:p>
            <a:pPr>
              <a:defRPr sz="1900" b="1">
                <a:solidFill>
                  <a:srgbClr val="141414"/>
                </a:solidFill>
                <a:latin typeface="Aptos"/>
              </a:defRPr>
            </a:pPr>
            <a:r>
              <a:t>Lücken bleiben Lücken</a:t>
            </a:r>
          </a:p>
        </p:txBody>
      </p:sp>
      <p:sp>
        <p:nvSpPr>
          <p:cNvPr id="15" name="TextBox 14"/>
          <p:cNvSpPr txBox="1"/>
          <p:nvPr/>
        </p:nvSpPr>
        <p:spPr>
          <a:xfrm>
            <a:off x="1463040" y="3749039"/>
            <a:ext cx="4480560" cy="685800"/>
          </a:xfrm>
          <a:prstGeom prst="rect">
            <a:avLst/>
          </a:prstGeom>
          <a:noFill/>
        </p:spPr>
        <p:txBody>
          <a:bodyPr wrap="square" lIns="18288" tIns="18288" rIns="18288" bIns="18288" anchor="t">
            <a:spAutoFit/>
          </a:bodyPr>
          <a:lstStyle/>
          <a:p>
            <a:pPr>
              <a:defRPr sz="1650" b="0">
                <a:solidFill>
                  <a:srgbClr val="141414"/>
                </a:solidFill>
                <a:latin typeface="Aptos"/>
              </a:defRPr>
            </a:pPr>
            <a:r>
              <a:t>Rom-PM wird ausgewiesen, nicht interpoliert oder aufgefüllt.</a:t>
            </a:r>
          </a:p>
        </p:txBody>
      </p:sp>
      <p:sp>
        <p:nvSpPr>
          <p:cNvPr id="16" name="TextBox 15"/>
          <p:cNvSpPr txBox="1"/>
          <p:nvPr/>
        </p:nvSpPr>
        <p:spPr>
          <a:xfrm>
            <a:off x="6263640" y="3246120"/>
            <a:ext cx="640080" cy="365760"/>
          </a:xfrm>
          <a:prstGeom prst="rect">
            <a:avLst/>
          </a:prstGeom>
          <a:noFill/>
        </p:spPr>
        <p:txBody>
          <a:bodyPr wrap="square" lIns="18288" tIns="18288" rIns="18288" bIns="18288" anchor="t">
            <a:spAutoFit/>
          </a:bodyPr>
          <a:lstStyle/>
          <a:p>
            <a:pPr>
              <a:defRPr sz="2400" b="1">
                <a:solidFill>
                  <a:srgbClr val="005B82"/>
                </a:solidFill>
                <a:latin typeface="Aptos Display"/>
              </a:defRPr>
            </a:pPr>
            <a:r>
              <a:t>04</a:t>
            </a:r>
          </a:p>
        </p:txBody>
      </p:sp>
      <p:sp>
        <p:nvSpPr>
          <p:cNvPr id="17" name="TextBox 16"/>
          <p:cNvSpPr txBox="1"/>
          <p:nvPr/>
        </p:nvSpPr>
        <p:spPr>
          <a:xfrm>
            <a:off x="6949440" y="3264408"/>
            <a:ext cx="4389120" cy="320040"/>
          </a:xfrm>
          <a:prstGeom prst="rect">
            <a:avLst/>
          </a:prstGeom>
          <a:noFill/>
        </p:spPr>
        <p:txBody>
          <a:bodyPr wrap="square" lIns="18288" tIns="18288" rIns="18288" bIns="18288" anchor="t">
            <a:spAutoFit/>
          </a:bodyPr>
          <a:lstStyle/>
          <a:p>
            <a:pPr>
              <a:defRPr sz="1900" b="1">
                <a:solidFill>
                  <a:srgbClr val="141414"/>
                </a:solidFill>
                <a:latin typeface="Aptos"/>
              </a:defRPr>
            </a:pPr>
            <a:r>
              <a:t>Quellen sauber getrennt</a:t>
            </a:r>
          </a:p>
        </p:txBody>
      </p:sp>
      <p:sp>
        <p:nvSpPr>
          <p:cNvPr id="18" name="TextBox 17"/>
          <p:cNvSpPr txBox="1"/>
          <p:nvPr/>
        </p:nvSpPr>
        <p:spPr>
          <a:xfrm>
            <a:off x="6949440" y="3749039"/>
            <a:ext cx="4480560" cy="685800"/>
          </a:xfrm>
          <a:prstGeom prst="rect">
            <a:avLst/>
          </a:prstGeom>
          <a:noFill/>
        </p:spPr>
        <p:txBody>
          <a:bodyPr wrap="square" lIns="18288" tIns="18288" rIns="18288" bIns="18288" anchor="t">
            <a:spAutoFit/>
          </a:bodyPr>
          <a:lstStyle/>
          <a:p>
            <a:pPr>
              <a:defRPr sz="1650" b="0">
                <a:solidFill>
                  <a:srgbClr val="141414"/>
                </a:solidFill>
                <a:latin typeface="Aptos"/>
              </a:defRPr>
            </a:pPr>
            <a:r>
              <a:t>EEA = historische Messdaten; Open-Meteo = aktueller Modellwert.</a:t>
            </a:r>
          </a:p>
        </p:txBody>
      </p:sp>
      <p:sp>
        <p:nvSpPr>
          <p:cNvPr id="19" name="TextBox 18"/>
          <p:cNvSpPr txBox="1"/>
          <p:nvPr/>
        </p:nvSpPr>
        <p:spPr>
          <a:xfrm>
            <a:off x="868680" y="5311140"/>
            <a:ext cx="10149840" cy="411480"/>
          </a:xfrm>
          <a:prstGeom prst="rect">
            <a:avLst/>
          </a:prstGeom>
          <a:noFill/>
        </p:spPr>
        <p:txBody>
          <a:bodyPr wrap="square" lIns="18288" tIns="18288" rIns="18288" bIns="18288" anchor="t">
            <a:spAutoFit/>
          </a:bodyPr>
          <a:lstStyle/>
          <a:p>
            <a:pPr>
              <a:defRPr sz="1750" b="1">
                <a:solidFill>
                  <a:srgbClr val="141414"/>
                </a:solidFill>
                <a:latin typeface="Aptos"/>
              </a:defRPr>
            </a:pPr>
            <a:r>
              <a:rPr dirty="0" err="1"/>
              <a:t>Besonders</a:t>
            </a:r>
            <a:r>
              <a:rPr dirty="0"/>
              <a:t> </a:t>
            </a:r>
            <a:r>
              <a:rPr dirty="0" err="1"/>
              <a:t>beim</a:t>
            </a:r>
            <a:r>
              <a:rPr dirty="0"/>
              <a:t> Live-vs-Median-</a:t>
            </a:r>
            <a:r>
              <a:rPr dirty="0" err="1"/>
              <a:t>Vergleich</a:t>
            </a:r>
            <a:r>
              <a:rPr dirty="0"/>
              <a:t> gilt: Er </a:t>
            </a:r>
            <a:r>
              <a:rPr dirty="0" err="1"/>
              <a:t>ordnet</a:t>
            </a:r>
            <a:r>
              <a:rPr dirty="0"/>
              <a:t> </a:t>
            </a:r>
            <a:r>
              <a:rPr dirty="0" err="1"/>
              <a:t>eine</a:t>
            </a:r>
            <a:r>
              <a:rPr dirty="0"/>
              <a:t> </a:t>
            </a:r>
            <a:r>
              <a:rPr dirty="0" err="1"/>
              <a:t>aktuelle</a:t>
            </a:r>
            <a:r>
              <a:rPr dirty="0"/>
              <a:t> Lage </a:t>
            </a:r>
            <a:r>
              <a:rPr dirty="0" err="1"/>
              <a:t>ein</a:t>
            </a:r>
            <a:r>
              <a:rPr dirty="0"/>
              <a:t>, </a:t>
            </a:r>
            <a:r>
              <a:rPr dirty="0" err="1"/>
              <a:t>ersetzt</a:t>
            </a:r>
            <a:r>
              <a:rPr dirty="0"/>
              <a:t> </a:t>
            </a:r>
            <a:r>
              <a:rPr dirty="0" err="1"/>
              <a:t>aber</a:t>
            </a:r>
            <a:r>
              <a:rPr dirty="0"/>
              <a:t> </a:t>
            </a:r>
            <a:r>
              <a:rPr dirty="0" err="1"/>
              <a:t>keine</a:t>
            </a:r>
            <a:r>
              <a:rPr dirty="0"/>
              <a:t> </a:t>
            </a:r>
            <a:r>
              <a:rPr dirty="0" err="1"/>
              <a:t>historische</a:t>
            </a:r>
            <a:r>
              <a:rPr dirty="0"/>
              <a:t> </a:t>
            </a:r>
            <a:r>
              <a:rPr dirty="0" err="1"/>
              <a:t>Jahresanalyse</a:t>
            </a:r>
            <a:r>
              <a:rPr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2743200" cy="228600"/>
          </a:xfrm>
          <a:prstGeom prst="rect">
            <a:avLst/>
          </a:prstGeom>
          <a:noFill/>
        </p:spPr>
        <p:txBody>
          <a:bodyPr wrap="square" lIns="18288" tIns="18288" rIns="18288" bIns="18288" anchor="t">
            <a:spAutoFit/>
          </a:bodyPr>
          <a:lstStyle/>
          <a:p>
            <a:pPr>
              <a:defRPr sz="1200" b="1">
                <a:solidFill>
                  <a:srgbClr val="005B82"/>
                </a:solidFill>
                <a:latin typeface="Aptos"/>
              </a:defRPr>
            </a:pPr>
            <a:r>
              <a:t>09 · Fazit</a:t>
            </a:r>
          </a:p>
        </p:txBody>
      </p:sp>
      <p:sp>
        <p:nvSpPr>
          <p:cNvPr id="3" name="TextBox 2"/>
          <p:cNvSpPr txBox="1"/>
          <p:nvPr/>
        </p:nvSpPr>
        <p:spPr>
          <a:xfrm>
            <a:off x="502920" y="530352"/>
            <a:ext cx="8321040" cy="411480"/>
          </a:xfrm>
          <a:prstGeom prst="rect">
            <a:avLst/>
          </a:prstGeom>
          <a:noFill/>
        </p:spPr>
        <p:txBody>
          <a:bodyPr wrap="square" lIns="18288" tIns="18288" rIns="18288" bIns="18288" anchor="t">
            <a:spAutoFit/>
          </a:bodyPr>
          <a:lstStyle/>
          <a:p>
            <a:pPr>
              <a:defRPr sz="2700" b="1">
                <a:solidFill>
                  <a:srgbClr val="141414"/>
                </a:solidFill>
                <a:latin typeface="Aptos Display"/>
              </a:defRPr>
            </a:pPr>
            <a:r>
              <a:t>Drei Aussagen zum Mitnehmen</a:t>
            </a:r>
          </a:p>
        </p:txBody>
      </p:sp>
      <p:pic>
        <p:nvPicPr>
          <p:cNvPr id="4" name="Picture 3" descr="image-1-1.png"/>
          <p:cNvPicPr>
            <a:picLocks noChangeAspect="1"/>
          </p:cNvPicPr>
          <p:nvPr/>
        </p:nvPicPr>
        <p:blipFill>
          <a:blip r:embed="rId3"/>
          <a:stretch>
            <a:fillRect/>
          </a:stretch>
        </p:blipFill>
        <p:spPr>
          <a:xfrm>
            <a:off x="9921240" y="201168"/>
            <a:ext cx="1691640" cy="869598"/>
          </a:xfrm>
          <a:prstGeom prst="rect">
            <a:avLst/>
          </a:prstGeom>
        </p:spPr>
      </p:pic>
      <p:sp>
        <p:nvSpPr>
          <p:cNvPr id="5" name="TextBox 4"/>
          <p:cNvSpPr txBox="1"/>
          <p:nvPr/>
        </p:nvSpPr>
        <p:spPr>
          <a:xfrm>
            <a:off x="502920" y="6473952"/>
            <a:ext cx="3200400" cy="182880"/>
          </a:xfrm>
          <a:prstGeom prst="rect">
            <a:avLst/>
          </a:prstGeom>
          <a:noFill/>
        </p:spPr>
        <p:txBody>
          <a:bodyPr wrap="square" lIns="18288" tIns="18288" rIns="18288" bIns="18288" anchor="t">
            <a:spAutoFit/>
          </a:bodyPr>
          <a:lstStyle/>
          <a:p>
            <a:pPr>
              <a:defRPr sz="900" b="0">
                <a:solidFill>
                  <a:srgbClr val="5C5C5C"/>
                </a:solidFill>
                <a:latin typeface="Aptos"/>
              </a:defRPr>
            </a:pPr>
            <a:r>
              <a:t>Euro Air Quality Pipeline</a:t>
            </a:r>
          </a:p>
        </p:txBody>
      </p:sp>
      <p:sp>
        <p:nvSpPr>
          <p:cNvPr id="6" name="TextBox 5"/>
          <p:cNvSpPr txBox="1"/>
          <p:nvPr/>
        </p:nvSpPr>
        <p:spPr>
          <a:xfrm>
            <a:off x="11155680" y="6473952"/>
            <a:ext cx="548640" cy="182880"/>
          </a:xfrm>
          <a:prstGeom prst="rect">
            <a:avLst/>
          </a:prstGeom>
          <a:noFill/>
        </p:spPr>
        <p:txBody>
          <a:bodyPr wrap="square" lIns="18288" tIns="18288" rIns="18288" bIns="18288" anchor="t">
            <a:spAutoFit/>
          </a:bodyPr>
          <a:lstStyle/>
          <a:p>
            <a:pPr algn="r">
              <a:defRPr sz="900" b="0">
                <a:solidFill>
                  <a:srgbClr val="5C5C5C"/>
                </a:solidFill>
                <a:latin typeface="Aptos"/>
              </a:defRPr>
            </a:pPr>
            <a:r>
              <a:t>10 / 10</a:t>
            </a:r>
          </a:p>
        </p:txBody>
      </p:sp>
      <p:sp>
        <p:nvSpPr>
          <p:cNvPr id="7" name="TextBox 6"/>
          <p:cNvSpPr txBox="1"/>
          <p:nvPr/>
        </p:nvSpPr>
        <p:spPr>
          <a:xfrm>
            <a:off x="777240" y="1325880"/>
            <a:ext cx="457200" cy="411480"/>
          </a:xfrm>
          <a:prstGeom prst="rect">
            <a:avLst/>
          </a:prstGeom>
          <a:noFill/>
        </p:spPr>
        <p:txBody>
          <a:bodyPr wrap="square" lIns="18288" tIns="18288" rIns="18288" bIns="18288" anchor="t">
            <a:spAutoFit/>
          </a:bodyPr>
          <a:lstStyle/>
          <a:p>
            <a:pPr>
              <a:defRPr sz="2900" b="1">
                <a:solidFill>
                  <a:srgbClr val="005B82"/>
                </a:solidFill>
                <a:latin typeface="Aptos Display"/>
              </a:defRPr>
            </a:pPr>
            <a:r>
              <a:t>1</a:t>
            </a:r>
          </a:p>
        </p:txBody>
      </p:sp>
      <p:sp>
        <p:nvSpPr>
          <p:cNvPr id="8" name="TextBox 7"/>
          <p:cNvSpPr txBox="1"/>
          <p:nvPr/>
        </p:nvSpPr>
        <p:spPr>
          <a:xfrm>
            <a:off x="1325880" y="1353312"/>
            <a:ext cx="8686800" cy="320040"/>
          </a:xfrm>
          <a:prstGeom prst="rect">
            <a:avLst/>
          </a:prstGeom>
          <a:noFill/>
        </p:spPr>
        <p:txBody>
          <a:bodyPr wrap="square" lIns="18288" tIns="18288" rIns="18288" bIns="18288" anchor="t">
            <a:spAutoFit/>
          </a:bodyPr>
          <a:lstStyle/>
          <a:p>
            <a:pPr>
              <a:defRPr sz="2100" b="1">
                <a:solidFill>
                  <a:srgbClr val="141414"/>
                </a:solidFill>
                <a:latin typeface="Aptos"/>
              </a:defRPr>
            </a:pPr>
            <a:r>
              <a:t>NO2 bleibt der klarste Befund</a:t>
            </a:r>
          </a:p>
        </p:txBody>
      </p:sp>
      <p:sp>
        <p:nvSpPr>
          <p:cNvPr id="9" name="TextBox 8"/>
          <p:cNvSpPr txBox="1"/>
          <p:nvPr/>
        </p:nvSpPr>
        <p:spPr>
          <a:xfrm>
            <a:off x="1325880" y="1828800"/>
            <a:ext cx="9601200" cy="411480"/>
          </a:xfrm>
          <a:prstGeom prst="rect">
            <a:avLst/>
          </a:prstGeom>
          <a:noFill/>
        </p:spPr>
        <p:txBody>
          <a:bodyPr wrap="square" lIns="18288" tIns="18288" rIns="18288" bIns="18288" anchor="t">
            <a:spAutoFit/>
          </a:bodyPr>
          <a:lstStyle/>
          <a:p>
            <a:pPr>
              <a:defRPr sz="1750" b="0">
                <a:solidFill>
                  <a:srgbClr val="141414"/>
                </a:solidFill>
                <a:latin typeface="Aptos"/>
              </a:defRPr>
            </a:pPr>
            <a:r>
              <a:t>Alle acht Städte überschreiten den WHO-NO2-Richtwert: 15-25 statt 10 µg/m³.</a:t>
            </a:r>
          </a:p>
        </p:txBody>
      </p:sp>
      <p:sp>
        <p:nvSpPr>
          <p:cNvPr id="10" name="TextBox 9"/>
          <p:cNvSpPr txBox="1"/>
          <p:nvPr/>
        </p:nvSpPr>
        <p:spPr>
          <a:xfrm>
            <a:off x="777240" y="2743200"/>
            <a:ext cx="457200" cy="411480"/>
          </a:xfrm>
          <a:prstGeom prst="rect">
            <a:avLst/>
          </a:prstGeom>
          <a:noFill/>
        </p:spPr>
        <p:txBody>
          <a:bodyPr wrap="square" lIns="18288" tIns="18288" rIns="18288" bIns="18288" anchor="t">
            <a:spAutoFit/>
          </a:bodyPr>
          <a:lstStyle/>
          <a:p>
            <a:pPr>
              <a:defRPr sz="2900" b="1">
                <a:solidFill>
                  <a:srgbClr val="005B82"/>
                </a:solidFill>
                <a:latin typeface="Aptos Display"/>
              </a:defRPr>
            </a:pPr>
            <a:r>
              <a:t>2</a:t>
            </a:r>
          </a:p>
        </p:txBody>
      </p:sp>
      <p:sp>
        <p:nvSpPr>
          <p:cNvPr id="11" name="TextBox 10"/>
          <p:cNvSpPr txBox="1"/>
          <p:nvPr/>
        </p:nvSpPr>
        <p:spPr>
          <a:xfrm>
            <a:off x="1325880" y="2770632"/>
            <a:ext cx="8686800" cy="320040"/>
          </a:xfrm>
          <a:prstGeom prst="rect">
            <a:avLst/>
          </a:prstGeom>
          <a:noFill/>
        </p:spPr>
        <p:txBody>
          <a:bodyPr wrap="square" lIns="18288" tIns="18288" rIns="18288" bIns="18288" anchor="t">
            <a:spAutoFit/>
          </a:bodyPr>
          <a:lstStyle/>
          <a:p>
            <a:pPr>
              <a:defRPr sz="2100" b="1">
                <a:solidFill>
                  <a:srgbClr val="141414"/>
                </a:solidFill>
                <a:latin typeface="Aptos"/>
              </a:defRPr>
            </a:pPr>
            <a:r>
              <a:t>Schadstoff schlägt Stadt</a:t>
            </a:r>
          </a:p>
        </p:txBody>
      </p:sp>
      <p:sp>
        <p:nvSpPr>
          <p:cNvPr id="12" name="TextBox 11"/>
          <p:cNvSpPr txBox="1"/>
          <p:nvPr/>
        </p:nvSpPr>
        <p:spPr>
          <a:xfrm>
            <a:off x="1325880" y="3246120"/>
            <a:ext cx="9601200" cy="411480"/>
          </a:xfrm>
          <a:prstGeom prst="rect">
            <a:avLst/>
          </a:prstGeom>
          <a:noFill/>
        </p:spPr>
        <p:txBody>
          <a:bodyPr wrap="square" lIns="18288" tIns="18288" rIns="18288" bIns="18288" anchor="t">
            <a:spAutoFit/>
          </a:bodyPr>
          <a:lstStyle/>
          <a:p>
            <a:pPr>
              <a:defRPr sz="1750" b="0">
                <a:solidFill>
                  <a:srgbClr val="141414"/>
                </a:solidFill>
                <a:latin typeface="Aptos"/>
              </a:defRPr>
            </a:pPr>
            <a:r>
              <a:t>PM2.5, PM10 und NO2 zeigen unterschiedliche Muster; eine Gesamtrangliste wäre irreführend.</a:t>
            </a:r>
          </a:p>
        </p:txBody>
      </p:sp>
      <p:sp>
        <p:nvSpPr>
          <p:cNvPr id="13" name="TextBox 12"/>
          <p:cNvSpPr txBox="1"/>
          <p:nvPr/>
        </p:nvSpPr>
        <p:spPr>
          <a:xfrm>
            <a:off x="777240" y="4160520"/>
            <a:ext cx="457200" cy="411480"/>
          </a:xfrm>
          <a:prstGeom prst="rect">
            <a:avLst/>
          </a:prstGeom>
          <a:noFill/>
        </p:spPr>
        <p:txBody>
          <a:bodyPr wrap="square" lIns="18288" tIns="18288" rIns="18288" bIns="18288" anchor="t">
            <a:spAutoFit/>
          </a:bodyPr>
          <a:lstStyle/>
          <a:p>
            <a:pPr>
              <a:defRPr sz="2900" b="1">
                <a:solidFill>
                  <a:srgbClr val="005B82"/>
                </a:solidFill>
                <a:latin typeface="Aptos Display"/>
              </a:defRPr>
            </a:pPr>
            <a:r>
              <a:t>3</a:t>
            </a:r>
          </a:p>
        </p:txBody>
      </p:sp>
      <p:sp>
        <p:nvSpPr>
          <p:cNvPr id="14" name="TextBox 13"/>
          <p:cNvSpPr txBox="1"/>
          <p:nvPr/>
        </p:nvSpPr>
        <p:spPr>
          <a:xfrm>
            <a:off x="1325880" y="4187952"/>
            <a:ext cx="8686800" cy="320040"/>
          </a:xfrm>
          <a:prstGeom prst="rect">
            <a:avLst/>
          </a:prstGeom>
          <a:noFill/>
        </p:spPr>
        <p:txBody>
          <a:bodyPr wrap="square" lIns="18288" tIns="18288" rIns="18288" bIns="18288" anchor="t">
            <a:spAutoFit/>
          </a:bodyPr>
          <a:lstStyle/>
          <a:p>
            <a:pPr>
              <a:defRPr sz="2100" b="1">
                <a:solidFill>
                  <a:srgbClr val="141414"/>
                </a:solidFill>
                <a:latin typeface="Aptos"/>
              </a:defRPr>
            </a:pPr>
            <a:r>
              <a:t>Live wird sinnvoll eingeordnet</a:t>
            </a:r>
          </a:p>
        </p:txBody>
      </p:sp>
      <p:sp>
        <p:nvSpPr>
          <p:cNvPr id="15" name="TextBox 14"/>
          <p:cNvSpPr txBox="1"/>
          <p:nvPr/>
        </p:nvSpPr>
        <p:spPr>
          <a:xfrm>
            <a:off x="1325880" y="4663440"/>
            <a:ext cx="9601200" cy="411480"/>
          </a:xfrm>
          <a:prstGeom prst="rect">
            <a:avLst/>
          </a:prstGeom>
          <a:noFill/>
        </p:spPr>
        <p:txBody>
          <a:bodyPr wrap="square" lIns="18288" tIns="18288" rIns="18288" bIns="18288" anchor="t">
            <a:spAutoFit/>
          </a:bodyPr>
          <a:lstStyle/>
          <a:p>
            <a:pPr>
              <a:defRPr sz="1750" b="0">
                <a:solidFill>
                  <a:srgbClr val="141414"/>
                </a:solidFill>
                <a:latin typeface="Aptos"/>
              </a:defRPr>
            </a:pPr>
            <a:r>
              <a:t>Open-Meteo wird nicht mit EEA gleichgesetzt, sondern explorativ gegen den historischen EEA-Median gelesen.</a:t>
            </a:r>
          </a:p>
        </p:txBody>
      </p:sp>
      <p:sp>
        <p:nvSpPr>
          <p:cNvPr id="16" name="TextBox 15"/>
          <p:cNvSpPr txBox="1"/>
          <p:nvPr/>
        </p:nvSpPr>
        <p:spPr>
          <a:xfrm>
            <a:off x="777240" y="5715000"/>
            <a:ext cx="1828800" cy="228600"/>
          </a:xfrm>
          <a:prstGeom prst="rect">
            <a:avLst/>
          </a:prstGeom>
          <a:noFill/>
        </p:spPr>
        <p:txBody>
          <a:bodyPr wrap="square" lIns="18288" tIns="18288" rIns="18288" bIns="18288" anchor="t">
            <a:spAutoFit/>
          </a:bodyPr>
          <a:lstStyle/>
          <a:p>
            <a:pPr>
              <a:defRPr sz="1300" b="1">
                <a:solidFill>
                  <a:srgbClr val="005B82"/>
                </a:solidFill>
                <a:latin typeface="Aptos"/>
              </a:defRPr>
            </a:pPr>
            <a:r>
              <a:t>Repository</a:t>
            </a:r>
          </a:p>
        </p:txBody>
      </p:sp>
      <p:sp>
        <p:nvSpPr>
          <p:cNvPr id="17" name="TextBox 16"/>
          <p:cNvSpPr txBox="1"/>
          <p:nvPr/>
        </p:nvSpPr>
        <p:spPr>
          <a:xfrm>
            <a:off x="1783080" y="5687568"/>
            <a:ext cx="5303520" cy="274320"/>
          </a:xfrm>
          <a:prstGeom prst="rect">
            <a:avLst/>
          </a:prstGeom>
          <a:noFill/>
        </p:spPr>
        <p:txBody>
          <a:bodyPr wrap="square" lIns="18288" tIns="18288" rIns="18288" bIns="18288" anchor="t">
            <a:spAutoFit/>
          </a:bodyPr>
          <a:lstStyle/>
          <a:p>
            <a:pPr>
              <a:defRPr sz="1500" b="0">
                <a:solidFill>
                  <a:srgbClr val="141414"/>
                </a:solidFill>
                <a:latin typeface="Aptos"/>
              </a:defRPr>
            </a:pPr>
            <a:r>
              <a:t>github.com/OnlyMajorG/euro-air-quality-pipeline</a:t>
            </a:r>
          </a:p>
        </p:txBody>
      </p:sp>
      <p:sp>
        <p:nvSpPr>
          <p:cNvPr id="18" name="TextBox 17"/>
          <p:cNvSpPr txBox="1"/>
          <p:nvPr/>
        </p:nvSpPr>
        <p:spPr>
          <a:xfrm>
            <a:off x="6583680" y="5687568"/>
            <a:ext cx="4937760" cy="274320"/>
          </a:xfrm>
          <a:prstGeom prst="rect">
            <a:avLst/>
          </a:prstGeom>
          <a:noFill/>
        </p:spPr>
        <p:txBody>
          <a:bodyPr wrap="square" lIns="18288" tIns="18288" rIns="18288" bIns="18288" anchor="t">
            <a:spAutoFit/>
          </a:bodyPr>
          <a:lstStyle/>
          <a:p>
            <a:pPr>
              <a:defRPr sz="1350" b="0">
                <a:solidFill>
                  <a:srgbClr val="5C5C5C"/>
                </a:solidFill>
                <a:latin typeface="Aptos"/>
              </a:defRPr>
            </a:pPr>
            <a:r>
              <a:t>Team: Yesillik Nisa · Bandat Manuel · Wiesmüller Georg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1796</Words>
  <Application>Microsoft Office PowerPoint</Application>
  <PresentationFormat>Breitbild</PresentationFormat>
  <Paragraphs>154</Paragraphs>
  <Slides>10</Slides>
  <Notes>10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10</vt:i4>
      </vt:variant>
    </vt:vector>
  </HeadingPairs>
  <TitlesOfParts>
    <vt:vector size="15" baseType="lpstr">
      <vt:lpstr>Aptos</vt:lpstr>
      <vt:lpstr>Aptos Display</vt:lpstr>
      <vt:lpstr>Arial</vt:lpstr>
      <vt:lpstr>Calibri</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
  <cp:keywords/>
  <dc:description>generated using python-pptx</dc:description>
  <cp:lastModifiedBy>Wiesmüller Georg</cp:lastModifiedBy>
  <cp:revision>5</cp:revision>
  <dcterms:created xsi:type="dcterms:W3CDTF">2013-01-27T09:14:16Z</dcterms:created>
  <dcterms:modified xsi:type="dcterms:W3CDTF">2026-07-01T17:42:44Z</dcterms:modified>
  <cp:category/>
</cp:coreProperties>
</file>
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11480"/>
            <a:ext cx="2286000" cy="117513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475488"/>
            <a:ext cx="7680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Big-Data-Engineering · Abschlusspräsentation · Juli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7498079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3700" b="1">
                <a:solidFill>
                  <a:srgbClr val="141414"/>
                </a:solidFill>
                <a:latin typeface="Aptos Display"/>
              </a:defRPr>
            </a:pPr>
            <a:r>
              <a:t>Luftqualität in 8</a:t>
            </a:r>
            <a:br/>
            <a:r>
              <a:t>europäischen Hauptstädten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04288"/>
            <a:ext cx="82296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000" b="0">
                <a:solidFill>
                  <a:srgbClr val="141414"/>
                </a:solidFill>
                <a:latin typeface="Aptos"/>
              </a:defRPr>
            </a:pPr>
            <a:r>
              <a:t>Historische EEA-Baseline und aktuelle Open-Meteo-Einordnung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063240"/>
            <a:ext cx="10972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3383280"/>
            <a:ext cx="868680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800" b="0">
                <a:solidFill>
                  <a:srgbClr val="141414"/>
                </a:solidFill>
                <a:latin typeface="Aptos"/>
              </a:defRPr>
            </a:pPr>
            <a:r>
              <a:t>Wie liegen PM2.5, PM10 und NO2 in acht Städten - und was sagt die aktuelle Lage im Verhältnis zur historischen Mess-Baseline?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343400"/>
            <a:ext cx="12801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663440"/>
            <a:ext cx="8869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800" b="0">
                <a:solidFill>
                  <a:srgbClr val="141414"/>
                </a:solidFill>
                <a:latin typeface="Aptos"/>
              </a:defRPr>
            </a:pPr>
            <a:r>
              <a:t>EEA · Wikipedia · Open-Meteo  →  Kafka  →  Spark  →  Bronze / Silver /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440680"/>
            <a:ext cx="10972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76072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600" b="0">
                <a:solidFill>
                  <a:srgbClr val="141414"/>
                </a:solidFill>
                <a:latin typeface="Aptos"/>
              </a:defRPr>
            </a:pPr>
            <a:r>
              <a:t>Yesillik Nisa · Bandat Manuel · Wiesmüller Georg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5760720"/>
            <a:ext cx="5120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400" b="0">
                <a:solidFill>
                  <a:srgbClr val="5C5C5C"/>
                </a:solidFill>
                <a:latin typeface="Aptos"/>
              </a:defRPr>
            </a:pPr>
            <a:r>
              <a:t>Repository: github.com/OnlyMajorG/euro-air-quality-pipeline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01 · Leitfrage &amp; Rahmen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Warum diese technische Umsetzung?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2011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Leitfrage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0584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000" b="0">
                <a:solidFill>
                  <a:srgbClr val="141414"/>
                </a:solidFill>
                <a:latin typeface="Aptos"/>
              </a:defRPr>
            </a:pPr>
            <a:r>
              <a:t>Wie unterscheiden sich PM2.5, PM10 und NO2 zwischen acht europäischen Hauptstädten - und wie lassen sie sich anhand historischer Messdaten und aktueller Modellwerte einordnen?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25603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Technische Logik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82112"/>
            <a:ext cx="9966960" cy="1828800"/>
          </a:xfrm>
          <a:prstGeom prst="rect">
            <a:avLst/>
          </a:prstGeom>
          <a:noFill/>
        </p:spPr>
        <p:txBody>
          <a:bodyPr wrap="square" lIns="45720" rIns="18288" tIns="0" bIns="0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▸  EEA liefert die historische Mess-Basis für robuste Jahres- und Medianvergleiche.</a:t>
            </a:r>
          </a:p>
          <a:p>
            <a:pPr>
              <a:spcAft>
                <a:spcPts val="9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▸  Wikipedia ergänzt Stadtkontext, vor allem Bevölkerungsdichte und Flächenbezug.</a:t>
            </a:r>
          </a:p>
          <a:p>
            <a:pPr>
              <a:spcAft>
                <a:spcPts val="9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▸  Open-Meteo liefert aktuelle Modellwerte; Kafka und Spark machen daraus einen Live-Pfad.</a:t>
            </a:r>
          </a:p>
          <a:p>
            <a:pPr>
              <a:spcAft>
                <a:spcPts val="9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▸  Bronze/Silver/Gold trennt Rohdaten, Bereinigung und analysefertige Findings.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10241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800" b="1">
                <a:solidFill>
                  <a:srgbClr val="141414"/>
                </a:solidFill>
                <a:latin typeface="Aptos"/>
              </a:defRPr>
            </a:pPr>
            <a:r>
              <a:t>Kernidee: Batch Analytics beantwortet die Jahresfrage; Streaming ordnet aktuelle Werte gegen die historische Baseline ein.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02 · Datengrundlage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Was in die Analyse einfließt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21945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3200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Hauptstädte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325880"/>
            <a:ext cx="21945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200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Tage in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325880"/>
            <a:ext cx="21945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1828800"/>
            <a:ext cx="3200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Schadstoffe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51760"/>
            <a:ext cx="21945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2,35 Mio.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54680"/>
            <a:ext cx="3200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validierte EEA-Stundenwerte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21945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7.938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154680"/>
            <a:ext cx="3200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Tagesmittel in Gold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651760"/>
            <a:ext cx="21945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192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154680"/>
            <a:ext cx="3200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Open-Meteo-Liveevents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51960"/>
            <a:ext cx="40233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Drei Quellen - drei Rollen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81728"/>
            <a:ext cx="10058400" cy="1005840"/>
          </a:xfrm>
          <a:prstGeom prst="rect">
            <a:avLst/>
          </a:prstGeom>
          <a:noFill/>
        </p:spPr>
        <p:txBody>
          <a:bodyPr wrap="square" lIns="45720" rIns="18288" tIns="0" bIns="0">
            <a:spAutoFit/>
          </a:bodyPr>
          <a:lstStyle/>
          <a:p>
            <a:pPr>
              <a:spcAft>
                <a:spcPts val="900"/>
              </a:spcAft>
              <a:defRPr sz="1750">
                <a:solidFill>
                  <a:srgbClr val="141414"/>
                </a:solidFill>
                <a:latin typeface="Aptos"/>
              </a:defRPr>
            </a:pPr>
            <a:r>
              <a:t>▸  EEA: gemessene und validierte Stundenwerte; Grundlage der historischen Findings.</a:t>
            </a:r>
          </a:p>
          <a:p>
            <a:pPr>
              <a:spcAft>
                <a:spcPts val="900"/>
              </a:spcAft>
              <a:defRPr sz="1750">
                <a:solidFill>
                  <a:srgbClr val="141414"/>
                </a:solidFill>
                <a:latin typeface="Aptos"/>
              </a:defRPr>
            </a:pPr>
            <a:r>
              <a:t>▸  Wikipedia: Web-Scraping für Kontextdaten; nützlich, aber mit Flächen-/Dichtegrenzen.</a:t>
            </a:r>
          </a:p>
          <a:p>
            <a:pPr>
              <a:spcAft>
                <a:spcPts val="900"/>
              </a:spcAft>
              <a:defRPr sz="1750">
                <a:solidFill>
                  <a:srgbClr val="141414"/>
                </a:solidFill>
                <a:latin typeface="Aptos"/>
              </a:defRPr>
            </a:pPr>
            <a:r>
              <a:t>▸  Open-Meteo: aktuelle Modellwerte; Live-Einordnung gegen historische Median-Baseline.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870448"/>
            <a:ext cx="91440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550" b="1">
                <a:solidFill>
                  <a:srgbClr val="141414"/>
                </a:solidFill>
                <a:latin typeface="Aptos"/>
              </a:defRPr>
            </a:pPr>
            <a:r>
              <a:t>Quellenunterschiede werden transparent gekennzeichnet.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03 · Befund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Alle Städte über dem NO2-WHO-Richtwert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4 / 10</a:t>
            </a:r>
          </a:p>
        </p:txBody>
      </p:sp>
      <p:pic>
        <p:nvPicPr>
          <p:cNvPr id="7" name="Picture 6" descr="image-4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0200"/>
            <a:ext cx="6766560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325880"/>
            <a:ext cx="3200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Hauptaussage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783080"/>
            <a:ext cx="3840480" cy="2834640"/>
          </a:xfrm>
          <a:prstGeom prst="rect">
            <a:avLst/>
          </a:prstGeom>
          <a:noFill/>
        </p:spPr>
        <p:txBody>
          <a:bodyPr wrap="square" lIns="45720" rIns="18288" tIns="0" bIns="0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Alle acht Städte liegen bei NO2 über dem WHO-2021-Jahresrichtwert von 10 µg/m³.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NO2-Spanne: 15,3 bis 25,0 µg/m³ - etwa 1,5× bis 2,5× über WHO.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PM2.5 liegt bei allen Städten mit validierter PM2.5-Referenz über WHO 5.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Rom: keine validierten PM2.5/PM10-Werte in der EEA-Historie - die Lücke bleibt sichtbar.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80467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t>Quelle: EEA, Kalenderjahr 2025; gestrichelte Linien = WHO-2021-Jahresrichtwerte.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5257800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550" b="1">
                <a:solidFill>
                  <a:srgbClr val="141414"/>
                </a:solidFill>
                <a:latin typeface="Aptos"/>
              </a:defRPr>
            </a:pPr>
            <a:r>
              <a:t>Keine Rechtsaussage: WHO = Gesundheits-Orientierung, nicht EU-Grenzwert.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04 · Befund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PM2.5: Warschau und Prag führen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5 / 10</a:t>
            </a:r>
          </a:p>
        </p:txBody>
      </p:sp>
      <p:pic>
        <p:nvPicPr>
          <p:cNvPr id="7" name="Picture 6" descr="image-5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04786"/>
            <a:ext cx="6675120" cy="41741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325880"/>
            <a:ext cx="3200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783080"/>
            <a:ext cx="3840480" cy="3017520"/>
          </a:xfrm>
          <a:prstGeom prst="rect">
            <a:avLst/>
          </a:prstGeom>
          <a:noFill/>
        </p:spPr>
        <p:txBody>
          <a:bodyPr wrap="square" lIns="45720" rIns="18288" tIns="0" bIns="0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Höchste PM2.5-Mittel: Warschau 14,7 und Prag 14,5 µg/m³.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Niedrigste PM2.5-Mittel: Madrid 9,3, Amsterdam 9,5, Wien 9,8 µg/m³.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Alle vergleichbaren Städte liegen deutlich über WHO 5.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Fehlerbalken zeigen starke Tag-zu-Tag-Streuung; kleine Rangunterschiede nicht überinterpretieren.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76809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t>Quelle: EEA, Tagesmittel 2025; Fehlerbalken = Standardabweichung.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05 · Befund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Mittelwerte allein reichen nicht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6 / 10</a:t>
            </a:r>
          </a:p>
        </p:txBody>
      </p:sp>
      <p:pic>
        <p:nvPicPr>
          <p:cNvPr id="7" name="Picture 6" descr="image-6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37601"/>
            <a:ext cx="5120640" cy="3202053"/>
          </a:xfrm>
          <a:prstGeom prst="rect">
            <a:avLst/>
          </a:prstGeom>
        </p:spPr>
      </p:pic>
      <p:pic>
        <p:nvPicPr>
          <p:cNvPr id="8" name="Picture 7" descr="image-7-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412748"/>
            <a:ext cx="5303520" cy="2651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4617720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850" b="1">
                <a:solidFill>
                  <a:srgbClr val="005B82"/>
                </a:solidFill>
                <a:latin typeface="Aptos"/>
              </a:defRPr>
            </a:pPr>
            <a:r>
              <a:t>Was die Verteilungen zeigen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754880" cy="868680"/>
          </a:xfrm>
          <a:prstGeom prst="rect">
            <a:avLst/>
          </a:prstGeom>
          <a:noFill/>
        </p:spPr>
        <p:txBody>
          <a:bodyPr wrap="square" lIns="45720" rIns="18288" tIns="0" bIns="0">
            <a:spAutoFit/>
          </a:bodyPr>
          <a:lstStyle/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Der Median jedes Schadstoffs liegt über dem WHO-Richtwert.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Lange Oberschwänze markieren einzelne stark belastete Tage.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617720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850" b="1">
                <a:solidFill>
                  <a:srgbClr val="005B82"/>
                </a:solidFill>
                <a:latin typeface="Aptos"/>
              </a:defRPr>
            </a:pPr>
            <a:r>
              <a:t>Was die Zeitreihe zeigt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983480"/>
            <a:ext cx="4846320" cy="868680"/>
          </a:xfrm>
          <a:prstGeom prst="rect">
            <a:avLst/>
          </a:prstGeom>
          <a:noFill/>
        </p:spPr>
        <p:txBody>
          <a:bodyPr wrap="square" lIns="45720" rIns="18288" tIns="0" bIns="0">
            <a:spAutoFit/>
          </a:bodyPr>
          <a:lstStyle/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PM2.5-Spitzen häufen sich im Winter; Sommerwerte sind niedriger.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Heizen und Inversionswetter sind plausible Einordnung, kein Kausalnachweis.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108192"/>
            <a:ext cx="95097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t>Quelle: EEA, Tagesmittel 2025. Lücken bleiben sichtbar; keine Interpolation.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06 · Befund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Bevölkerungsdichte erklärt PM2.5 nicht belastbar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7 / 10</a:t>
            </a:r>
          </a:p>
        </p:txBody>
      </p:sp>
      <p:pic>
        <p:nvPicPr>
          <p:cNvPr id="7" name="Picture 6" descr="image-8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19081"/>
            <a:ext cx="6629400" cy="41455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325880"/>
            <a:ext cx="3200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Warum vorsichtig?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783080"/>
            <a:ext cx="3840480" cy="3383280"/>
          </a:xfrm>
          <a:prstGeom prst="rect">
            <a:avLst/>
          </a:prstGeom>
          <a:noFill/>
        </p:spPr>
        <p:txBody>
          <a:bodyPr wrap="square" lIns="45720" rIns="18288" tIns="0" bIns="0">
            <a:spAutoFit/>
          </a:bodyPr>
          <a:lstStyle/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Dichte und PM2.5 werden explorativ verknüpft: Wikipedia-Kontext plus EEA-Messdaten.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Korrelation ist nicht robust: r ≈ -0,23 über alle Städte, aber ≈ -0,95 ohne Paris.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Paris ist Kernkommune (~105 km²) und mit den anderen Stadtflächen nicht direkt vergleichbar.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Daraus folgt keine Kausalität und kein belastbarer Erklärungsfaktor.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91440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t>MAUP: Modifiable Areal Unit Problem - Flächenabgrenzungen beeinflussen Dichtewerte.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07 · Befund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Aktuelle Lage gegen historische EEA-Median-Baseline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31089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Neuer Vergleich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530352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900" b="0">
                <a:solidFill>
                  <a:srgbClr val="141414"/>
                </a:solidFill>
                <a:latin typeface="Aptos"/>
              </a:defRPr>
            </a:pPr>
            <a:r>
              <a:t>Open-Meteo-Livewert wird je Stadt und Schadstoff gegen den historischen EEA-Median 2025 eingeordnet.</a:t>
            </a:r>
          </a:p>
        </p:txBody>
      </p:sp>
      <p:pic>
        <p:nvPicPr>
          <p:cNvPr id="9" name="Picture 8" descr="image-9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34640"/>
            <a:ext cx="5394960" cy="2697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7960" y="1234440"/>
            <a:ext cx="31089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Wie wird gelesen?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664208"/>
            <a:ext cx="4937760" cy="2194560"/>
          </a:xfrm>
          <a:prstGeom prst="rect">
            <a:avLst/>
          </a:prstGeom>
          <a:noFill/>
        </p:spPr>
        <p:txBody>
          <a:bodyPr wrap="square" lIns="45720" rIns="18288" tIns="0" bIns="0">
            <a:spAutoFit/>
          </a:bodyPr>
          <a:lstStyle/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Historische Referenz: Median der EEA-Tagesmittel 2025.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Aktueller Wert: Open-Meteo-Modellwert aus dem Kafka/Spark-Livepfad.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Abweichung: (Live - Median) / Median in Prozent.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Ergebnisstruktur: 24 Paare, 22 vergleichbar, 2 ohne Referenz (Rom PM2.5/PM10).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25196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850" b="1">
                <a:solidFill>
                  <a:srgbClr val="005B82"/>
                </a:solidFill>
                <a:latin typeface="Aptos"/>
              </a:defRPr>
            </a:pPr>
            <a:r>
              <a:t>Methodische Grenze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617720"/>
            <a:ext cx="48920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650" b="1">
                <a:solidFill>
                  <a:srgbClr val="141414"/>
                </a:solidFill>
                <a:latin typeface="Aptos"/>
              </a:defRPr>
            </a:pPr>
            <a:r>
              <a:t>Explorativer Vergleich: Modellwert vs. Messdaten, anderer Zeitraum, kein Trend-, Kausal- oder WHO-Jahresbezug.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23560"/>
            <a:ext cx="91440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t>Die Grafik zeigt den Live-Snapshot; die Einordnung erfolgt gegen den historischen Median in Gold.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08 · Einordnung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Was die Daten nicht sagen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6400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400" b="1">
                <a:solidFill>
                  <a:srgbClr val="005B82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344168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900" b="1">
                <a:solidFill>
                  <a:srgbClr val="141414"/>
                </a:solidFill>
                <a:latin typeface="Aptos"/>
              </a:defRPr>
            </a:pPr>
            <a:r>
              <a:t>Deskriptiv, nicht kausal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28800"/>
            <a:ext cx="44805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650" b="0">
                <a:solidFill>
                  <a:srgbClr val="141414"/>
                </a:solidFill>
                <a:latin typeface="Aptos"/>
              </a:defRPr>
            </a:pPr>
            <a:r>
              <a:t>Wir beschreiben Muster. Ursachen werden nicht behauptet.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325880"/>
            <a:ext cx="6400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400" b="1">
                <a:solidFill>
                  <a:srgbClr val="005B82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344168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900" b="1">
                <a:solidFill>
                  <a:srgbClr val="141414"/>
                </a:solidFill>
                <a:latin typeface="Aptos"/>
              </a:defRPr>
            </a:pPr>
            <a:r>
              <a:t>Keine pauschale Rangliste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828800"/>
            <a:ext cx="44805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650" b="0">
                <a:solidFill>
                  <a:srgbClr val="141414"/>
                </a:solidFill>
                <a:latin typeface="Aptos"/>
              </a:defRPr>
            </a:pPr>
            <a:r>
              <a:t>Die Reihenfolge hängt vom Schadstoff ab; jeder wird einzeln betrachtet.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6400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400" b="1">
                <a:solidFill>
                  <a:srgbClr val="005B82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264408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900" b="1">
                <a:solidFill>
                  <a:srgbClr val="141414"/>
                </a:solidFill>
                <a:latin typeface="Aptos"/>
              </a:defRPr>
            </a:pPr>
            <a:r>
              <a:t>Lücken bleiben Lücken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39"/>
            <a:ext cx="44805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650" b="0">
                <a:solidFill>
                  <a:srgbClr val="141414"/>
                </a:solidFill>
                <a:latin typeface="Aptos"/>
              </a:defRPr>
            </a:pPr>
            <a:r>
              <a:t>Rom-PM wird ausgewiesen, nicht interpoliert oder aufgefüllt.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46120"/>
            <a:ext cx="6400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400" b="1">
                <a:solidFill>
                  <a:srgbClr val="005B82"/>
                </a:solidFill>
                <a:latin typeface="Aptos Display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264408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900" b="1">
                <a:solidFill>
                  <a:srgbClr val="141414"/>
                </a:solidFill>
                <a:latin typeface="Aptos"/>
              </a:defRPr>
            </a:pPr>
            <a:r>
              <a:t>Quellen sauber getrennt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749039"/>
            <a:ext cx="448056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650" b="0">
                <a:solidFill>
                  <a:srgbClr val="141414"/>
                </a:solidFill>
                <a:latin typeface="Aptos"/>
              </a:defRPr>
            </a:pPr>
            <a:r>
              <a:t>EEA = historische Messdaten; Open-Meteo = aktueller Modellwert.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669280"/>
            <a:ext cx="101498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50" b="1">
                <a:solidFill>
                  <a:srgbClr val="141414"/>
                </a:solidFill>
                <a:latin typeface="Aptos"/>
              </a:defRPr>
            </a:pPr>
            <a:r>
              <a:t>Besonders beim Live-vs-Median-Vergleich gilt: Er ordnet eine aktuelle Lage ein, ersetzt aber keine historische Jahresanalyse.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09 · Fazit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Drei Aussagen zum Mitnehmen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572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900" b="1">
                <a:solidFill>
                  <a:srgbClr val="005B82"/>
                </a:solidFill>
                <a:latin typeface="Aptos Display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353312"/>
            <a:ext cx="8686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100" b="1">
                <a:solidFill>
                  <a:srgbClr val="141414"/>
                </a:solidFill>
                <a:latin typeface="Aptos"/>
              </a:defRPr>
            </a:pPr>
            <a:r>
              <a:t>NO2 bleibt der klarste Befund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28800"/>
            <a:ext cx="96012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50" b="0">
                <a:solidFill>
                  <a:srgbClr val="141414"/>
                </a:solidFill>
                <a:latin typeface="Aptos"/>
              </a:defRPr>
            </a:pPr>
            <a:r>
              <a:t>Alle acht Städte überschreiten den WHO-NO2-Richtwert: 15-25 statt 10 µg/m³.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4572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900" b="1">
                <a:solidFill>
                  <a:srgbClr val="005B82"/>
                </a:solidFill>
                <a:latin typeface="Aptos Display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770632"/>
            <a:ext cx="8686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100" b="1">
                <a:solidFill>
                  <a:srgbClr val="141414"/>
                </a:solidFill>
                <a:latin typeface="Aptos"/>
              </a:defRPr>
            </a:pPr>
            <a:r>
              <a:t>Schadstoff schlägt Stadt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46120"/>
            <a:ext cx="96012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50" b="0">
                <a:solidFill>
                  <a:srgbClr val="141414"/>
                </a:solidFill>
                <a:latin typeface="Aptos"/>
              </a:defRPr>
            </a:pPr>
            <a:r>
              <a:t>PM2.5, PM10 und NO2 zeigen unterschiedliche Muster; eine Gesamtrangliste wäre irreführend.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160520"/>
            <a:ext cx="4572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900" b="1">
                <a:solidFill>
                  <a:srgbClr val="005B82"/>
                </a:solidFill>
                <a:latin typeface="Aptos Display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187952"/>
            <a:ext cx="8686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100" b="1">
                <a:solidFill>
                  <a:srgbClr val="141414"/>
                </a:solidFill>
                <a:latin typeface="Aptos"/>
              </a:defRPr>
            </a:pPr>
            <a:r>
              <a:t>Live wird sinnvoll eingeordnet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63440"/>
            <a:ext cx="96012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50" b="0">
                <a:solidFill>
                  <a:srgbClr val="141414"/>
                </a:solidFill>
                <a:latin typeface="Aptos"/>
              </a:defRPr>
            </a:pPr>
            <a:r>
              <a:t>Open-Meteo wird nicht mit EEA gleichgesetzt, sondern explorativ gegen den historischen EEA-Median gelesen.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715000"/>
            <a:ext cx="1828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005B82"/>
                </a:solidFill>
                <a:latin typeface="Aptos"/>
              </a:defRPr>
            </a:pPr>
            <a:r>
              <a:t>Repository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5687568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500" b="0">
                <a:solidFill>
                  <a:srgbClr val="141414"/>
                </a:solidFill>
                <a:latin typeface="Aptos"/>
              </a:defRPr>
            </a:pPr>
            <a:r>
              <a:t>github.com/OnlyMajorG/euro-air-quality-pipeline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687568"/>
            <a:ext cx="49377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50" b="0">
                <a:solidFill>
                  <a:srgbClr val="5C5C5C"/>
                </a:solidFill>
                <a:latin typeface="Aptos"/>
              </a:defRPr>
            </a:pPr>
            <a:r>
              <a:t>Team: Yesillik Nisa · Bandat Manuel · Wiesmüller Georg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
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19" d="100"/>
          <a:sy n="119" d="100"/>
        </p:scale>
        <p:origin x="234" y="10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6/30/2026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6/30/2026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6/30/2026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6/30/2026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hyperlink" Target="https://iris.who.int/server/api/core/bitstreams/551b515e-2a32-4e1a-a58c-cdaecd395b19/content" TargetMode="Externa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.jp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-1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35440" y="411480"/>
            <a:ext cx="2286000" cy="1175133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4360" y="475488"/>
            <a:ext cx="7680960" cy="256032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>
              <a:defRPr sz="1200" b="1">
                <a:solidFill>
                  <a:srgbClr val="005B82"/>
                </a:solidFill>
                <a:latin typeface="Aptos"/>
              </a:defRPr>
            </a:pPr>
            <a:r>
              <a:t>Big-Data-Engineering · Abschlusspräsentation · Juli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097280"/>
            <a:ext cx="7498079" cy="105156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>
              <a:defRPr sz="3700" b="1">
                <a:solidFill>
                  <a:srgbClr val="141414"/>
                </a:solidFill>
                <a:latin typeface="Aptos Display"/>
              </a:defRPr>
            </a:pPr>
            <a:r>
              <a:t>Luftqualität in 8</a:t>
            </a:r>
            <a:br/>
            <a:r>
              <a:t>europäischen Hauptstädten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2304288"/>
            <a:ext cx="8229600" cy="32004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>
              <a:defRPr sz="2000" b="0">
                <a:solidFill>
                  <a:srgbClr val="141414"/>
                </a:solidFill>
                <a:latin typeface="Aptos"/>
              </a:defRPr>
            </a:pPr>
            <a:r>
              <a:t>Historische EEA-Baseline und aktuelle Open-Meteo-Einordnung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" y="3063240"/>
            <a:ext cx="1097280" cy="256032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>
              <a:defRPr sz="1200" b="1">
                <a:solidFill>
                  <a:srgbClr val="005B82"/>
                </a:solidFill>
                <a:latin typeface="Aptos"/>
              </a:defRPr>
            </a:pPr>
            <a:r>
              <a:t>Story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" y="3383280"/>
            <a:ext cx="8686800" cy="59436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>
              <a:defRPr sz="1800" b="0">
                <a:solidFill>
                  <a:srgbClr val="141414"/>
                </a:solidFill>
                <a:latin typeface="Aptos"/>
              </a:defRPr>
            </a:pPr>
            <a:r>
              <a:t>Wie liegen PM2.5, PM10 und NO2 in acht Städten - und was sagt die aktuelle Lage im Verhältnis zur historischen Mess-Baseline?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" y="4343400"/>
            <a:ext cx="1280160" cy="256032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>
              <a:defRPr sz="1200" b="1">
                <a:solidFill>
                  <a:srgbClr val="005B82"/>
                </a:solidFill>
                <a:latin typeface="Aptos"/>
              </a:defRPr>
            </a:pPr>
            <a:r>
              <a:t>Pipeline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792" y="4663440"/>
            <a:ext cx="8869680" cy="32004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>
              <a:defRPr sz="1800" b="0">
                <a:solidFill>
                  <a:srgbClr val="141414"/>
                </a:solidFill>
                <a:latin typeface="Aptos"/>
              </a:defRPr>
            </a:pPr>
            <a:r>
              <a:t>EEA · Wikipedia · Open-Meteo  →  Kafka  →  Spark  →  Bronze / Silver / Gold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" y="5440680"/>
            <a:ext cx="1097280" cy="256032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>
              <a:defRPr sz="1200" b="1">
                <a:solidFill>
                  <a:srgbClr val="005B82"/>
                </a:solidFill>
                <a:latin typeface="Aptos"/>
              </a:defRPr>
            </a:pPr>
            <a:r>
              <a:t>Team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2" y="5760720"/>
            <a:ext cx="5303520" cy="27432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>
              <a:defRPr sz="1600" b="0">
                <a:solidFill>
                  <a:srgbClr val="141414"/>
                </a:solidFill>
                <a:latin typeface="Aptos"/>
              </a:defRPr>
            </a:pPr>
            <a:r>
              <a:t>Yesillik Nisa · Bandat Manuel · Wiesmüller Georg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0" y="5760720"/>
            <a:ext cx="5120640" cy="27432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>
              <a:defRPr sz="1400" b="0">
                <a:solidFill>
                  <a:srgbClr val="5C5C5C"/>
                </a:solidFill>
                <a:latin typeface="Aptos"/>
              </a:defRPr>
            </a:pPr>
            <a:r>
              <a:t>Repository: github.com/OnlyMajorG/euro-air-quality-pipeline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55680" y="6473952"/>
            <a:ext cx="548640" cy="18288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r">
              <a:defRPr sz="900" b="0">
                <a:solidFill>
                  <a:srgbClr val="5C5C5C"/>
                </a:solidFill>
                <a:latin typeface="Aptos"/>
              </a:defRPr>
            </a:pPr>
            <a:r>
              <a:t>1 / 10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56032"/>
            <a:ext cx="2743200" cy="22860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>
              <a:defRPr sz="1200" b="1">
                <a:solidFill>
                  <a:srgbClr val="005B82"/>
                </a:solidFill>
                <a:latin typeface="Aptos"/>
              </a:defRPr>
            </a:pPr>
            <a:r>
              <a:t>01 · Leitfrage &amp; Rahmen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30352"/>
            <a:ext cx="8321040" cy="41148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>
              <a:defRPr sz="2700" b="1">
                <a:solidFill>
                  <a:srgbClr val="141414"/>
                </a:solidFill>
                <a:latin typeface="Aptos Display"/>
              </a:defRPr>
            </a:pPr>
            <a:r>
              <a:t>Warum diese technische Umsetzung?</a:t>
            </a:r>
          </a:p>
        </p:txBody>
      </p:sp>
      <p:pic>
        <p:nvPicPr>
          <p:cNvPr id="4" name="Picture 3" descr="image-1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21240" y="201168"/>
            <a:ext cx="1691640" cy="86959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6473952"/>
            <a:ext cx="3200400" cy="18288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>
              <a:defRPr sz="900" b="0">
                <a:solidFill>
                  <a:srgbClr val="5C5C5C"/>
                </a:solidFill>
                <a:latin typeface="Aptos"/>
              </a:defRPr>
            </a:pPr>
            <a:r>
              <a:t>Euro Air Quality Pipeline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73952"/>
            <a:ext cx="548640" cy="18288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r">
              <a:defRPr sz="900" b="0">
                <a:solidFill>
                  <a:srgbClr val="5C5C5C"/>
                </a:solidFill>
                <a:latin typeface="Aptos"/>
              </a:defRPr>
            </a:pPr>
            <a:r>
              <a:t>2 / 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325880"/>
            <a:ext cx="2011680" cy="32004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>
              <a:defRPr sz="2000" b="1">
                <a:solidFill>
                  <a:srgbClr val="005B82"/>
                </a:solidFill>
                <a:latin typeface="Aptos"/>
              </a:defRPr>
            </a:pPr>
            <a:r>
              <a:t>Leitfrage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737360"/>
            <a:ext cx="10058400" cy="64008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>
              <a:defRPr sz="2000" b="0">
                <a:solidFill>
                  <a:srgbClr val="141414"/>
                </a:solidFill>
                <a:latin typeface="Aptos"/>
              </a:defRPr>
            </a:pPr>
            <a:r>
              <a:t>Wie unterscheiden sich PM2.5, PM10 und NO2 zwischen acht europäischen Hauptstädten - und wie lassen sie sich anhand historischer Messdaten und aktueller Modellwerte einordnen?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743200"/>
            <a:ext cx="2560320" cy="32004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>
              <a:defRPr sz="2000" b="1">
                <a:solidFill>
                  <a:srgbClr val="005B82"/>
                </a:solidFill>
                <a:latin typeface="Aptos"/>
              </a:defRPr>
            </a:pPr>
            <a:r>
              <a:t>Technische Logik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3182112"/>
            <a:ext cx="9966960" cy="1828800"/>
          </a:xfrm>
          <a:prstGeom prst="rect">
            <a:avLst/>
          </a:prstGeom>
          <a:noFill/>
        </p:spPr>
        <p:txBody>
          <a:bodyPr wrap="square" lIns="45720" tIns="0" rIns="18288" bIns="0">
            <a:spAutoFit/>
          </a:bodyPr>
          <a:lstStyle/>
          <a:p>
            <a:pPr>
              <a:spcAft>
                <a:spcPts val="900"/>
              </a:spcAft>
              <a:defRPr sz="1800">
                <a:solidFill>
                  <a:srgbClr val="141414"/>
                </a:solidFill>
                <a:latin typeface="Aptos"/>
              </a:defRPr>
            </a:pPr>
            <a:r>
              <a:t>▸  EEA liefert die historische Mess-Basis für robuste Jahres- und Medianvergleiche.</a:t>
            </a:r>
          </a:p>
          <a:p>
            <a:pPr>
              <a:spcAft>
                <a:spcPts val="900"/>
              </a:spcAft>
              <a:defRPr sz="1800">
                <a:solidFill>
                  <a:srgbClr val="141414"/>
                </a:solidFill>
                <a:latin typeface="Aptos"/>
              </a:defRPr>
            </a:pPr>
            <a:r>
              <a:t>▸  Wikipedia ergänzt Stadtkontext, vor allem Bevölkerungsdichte und Flächenbezug.</a:t>
            </a:r>
          </a:p>
          <a:p>
            <a:pPr>
              <a:spcAft>
                <a:spcPts val="900"/>
              </a:spcAft>
              <a:defRPr sz="1800">
                <a:solidFill>
                  <a:srgbClr val="141414"/>
                </a:solidFill>
                <a:latin typeface="Aptos"/>
              </a:defRPr>
            </a:pPr>
            <a:r>
              <a:t>▸  Open-Meteo liefert aktuelle Modellwerte; Kafka und Spark machen daraus einen Live-Pfad.</a:t>
            </a:r>
          </a:p>
          <a:p>
            <a:pPr>
              <a:spcAft>
                <a:spcPts val="900"/>
              </a:spcAft>
              <a:defRPr sz="1800">
                <a:solidFill>
                  <a:srgbClr val="141414"/>
                </a:solidFill>
                <a:latin typeface="Aptos"/>
              </a:defRPr>
            </a:pPr>
            <a:r>
              <a:t>▸  Bronze/Silver/Gold trennt Rohdaten, Bereinigung und analysefertige Findings.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5532120"/>
            <a:ext cx="10241280" cy="45720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>
              <a:defRPr sz="1800" b="1">
                <a:solidFill>
                  <a:srgbClr val="141414"/>
                </a:solidFill>
                <a:latin typeface="Aptos"/>
              </a:defRPr>
            </a:pPr>
            <a:r>
              <a:t>Kernidee: Batch Analytics beantwortet die Jahresfrage; Streaming ordnet aktuelle Werte gegen die historische Baseline ein.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56032"/>
            <a:ext cx="2743200" cy="22860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>
              <a:defRPr sz="1200" b="1">
                <a:solidFill>
                  <a:srgbClr val="005B82"/>
                </a:solidFill>
                <a:latin typeface="Aptos"/>
              </a:defRPr>
            </a:pPr>
            <a:r>
              <a:t>02 · Datengrundlage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30352"/>
            <a:ext cx="8321040" cy="41148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>
              <a:defRPr sz="2700" b="1">
                <a:solidFill>
                  <a:srgbClr val="141414"/>
                </a:solidFill>
                <a:latin typeface="Aptos Display"/>
              </a:defRPr>
            </a:pPr>
            <a:r>
              <a:t>Was in die Analyse einfließt</a:t>
            </a:r>
          </a:p>
        </p:txBody>
      </p:sp>
      <p:pic>
        <p:nvPicPr>
          <p:cNvPr id="4" name="Picture 3" descr="image-1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21240" y="201168"/>
            <a:ext cx="1691640" cy="86959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6473952"/>
            <a:ext cx="3200400" cy="18288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>
              <a:defRPr sz="900" b="0">
                <a:solidFill>
                  <a:srgbClr val="5C5C5C"/>
                </a:solidFill>
                <a:latin typeface="Aptos"/>
              </a:defRPr>
            </a:pPr>
            <a:r>
              <a:t>Euro Air Quality Pipeline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73952"/>
            <a:ext cx="548640" cy="18288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r">
              <a:defRPr sz="900" b="0">
                <a:solidFill>
                  <a:srgbClr val="5C5C5C"/>
                </a:solidFill>
                <a:latin typeface="Aptos"/>
              </a:defRPr>
            </a:pPr>
            <a:r>
              <a:t>3 / 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325880"/>
            <a:ext cx="2194560" cy="41148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>
              <a:defRPr sz="3100" b="1">
                <a:solidFill>
                  <a:srgbClr val="005B82"/>
                </a:solidFill>
                <a:latin typeface="Aptos Display"/>
              </a:defRPr>
            </a:pPr>
            <a:r>
              <a:t>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828800"/>
            <a:ext cx="3200400" cy="32004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>
              <a:defRPr sz="1550" b="0">
                <a:solidFill>
                  <a:srgbClr val="141414"/>
                </a:solidFill>
                <a:latin typeface="Aptos"/>
              </a:defRPr>
            </a:pPr>
            <a:r>
              <a:t>Hauptstädte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34840" y="1325880"/>
            <a:ext cx="2194560" cy="41148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>
              <a:defRPr sz="3100" b="1">
                <a:solidFill>
                  <a:srgbClr val="005B82"/>
                </a:solidFill>
                <a:latin typeface="Aptos Display"/>
              </a:defRPr>
            </a:pPr>
            <a:r>
              <a:t>365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34840" y="1828800"/>
            <a:ext cx="3200400" cy="32004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>
              <a:defRPr sz="1550" b="0">
                <a:solidFill>
                  <a:srgbClr val="141414"/>
                </a:solidFill>
                <a:latin typeface="Aptos"/>
              </a:defRPr>
            </a:pPr>
            <a:r>
              <a:t>Tage in 2025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83879" y="1325880"/>
            <a:ext cx="2194560" cy="41148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>
              <a:defRPr sz="3100" b="1">
                <a:solidFill>
                  <a:srgbClr val="005B82"/>
                </a:solidFill>
                <a:latin typeface="Aptos Display"/>
              </a:defRPr>
            </a:pPr>
            <a: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83879" y="1828800"/>
            <a:ext cx="3200400" cy="32004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>
              <a:defRPr sz="1550" b="0">
                <a:solidFill>
                  <a:srgbClr val="141414"/>
                </a:solidFill>
                <a:latin typeface="Aptos"/>
              </a:defRPr>
            </a:pPr>
            <a:r>
              <a:t>Schadstoffe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2651760"/>
            <a:ext cx="2194560" cy="41148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>
              <a:defRPr sz="3100" b="1">
                <a:solidFill>
                  <a:srgbClr val="005B82"/>
                </a:solidFill>
                <a:latin typeface="Aptos Display"/>
              </a:defRPr>
            </a:pPr>
            <a:r>
              <a:t>2,35 Mio.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3154680"/>
            <a:ext cx="3200400" cy="32004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>
              <a:defRPr sz="1550" b="0">
                <a:solidFill>
                  <a:srgbClr val="141414"/>
                </a:solidFill>
                <a:latin typeface="Aptos"/>
              </a:defRPr>
            </a:pPr>
            <a:r>
              <a:t>validierte EEA-Stundenwerte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34840" y="2651760"/>
            <a:ext cx="2194560" cy="41148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>
              <a:defRPr sz="3100" b="1">
                <a:solidFill>
                  <a:srgbClr val="005B82"/>
                </a:solidFill>
                <a:latin typeface="Aptos Display"/>
              </a:defRPr>
            </a:pPr>
            <a:r>
              <a:t>7.938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34840" y="3154680"/>
            <a:ext cx="3200400" cy="32004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>
              <a:defRPr sz="1550" b="0">
                <a:solidFill>
                  <a:srgbClr val="141414"/>
                </a:solidFill>
                <a:latin typeface="Aptos"/>
              </a:defRPr>
            </a:pPr>
            <a:r>
              <a:t>Tagesmittel in Gold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83879" y="2651760"/>
            <a:ext cx="2194560" cy="41148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>
              <a:defRPr sz="3100" b="1">
                <a:solidFill>
                  <a:srgbClr val="005B82"/>
                </a:solidFill>
                <a:latin typeface="Aptos Display"/>
              </a:defRPr>
            </a:pPr>
            <a:r>
              <a:t>192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83879" y="3154680"/>
            <a:ext cx="3200400" cy="32004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>
              <a:defRPr sz="1550" b="0">
                <a:solidFill>
                  <a:srgbClr val="141414"/>
                </a:solidFill>
                <a:latin typeface="Aptos"/>
              </a:defRPr>
            </a:pPr>
            <a:r>
              <a:t>Open-Meteo-Liveevents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4251960"/>
            <a:ext cx="4023360" cy="32004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>
              <a:defRPr sz="2000" b="1">
                <a:solidFill>
                  <a:srgbClr val="005B82"/>
                </a:solidFill>
                <a:latin typeface="Aptos"/>
              </a:defRPr>
            </a:pPr>
            <a:r>
              <a:t>Drei Quellen - drei Rollen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4681728"/>
            <a:ext cx="10058400" cy="1005840"/>
          </a:xfrm>
          <a:prstGeom prst="rect">
            <a:avLst/>
          </a:prstGeom>
          <a:noFill/>
        </p:spPr>
        <p:txBody>
          <a:bodyPr wrap="square" lIns="45720" tIns="0" rIns="18288" bIns="0">
            <a:spAutoFit/>
          </a:bodyPr>
          <a:lstStyle/>
          <a:p>
            <a:pPr>
              <a:spcAft>
                <a:spcPts val="900"/>
              </a:spcAft>
              <a:defRPr sz="1750">
                <a:solidFill>
                  <a:srgbClr val="141414"/>
                </a:solidFill>
                <a:latin typeface="Aptos"/>
              </a:defRPr>
            </a:pPr>
            <a:r>
              <a:t>▸  EEA: gemessene und validierte Stundenwerte; Grundlage der historischen Findings.</a:t>
            </a:r>
          </a:p>
          <a:p>
            <a:pPr>
              <a:spcAft>
                <a:spcPts val="900"/>
              </a:spcAft>
              <a:defRPr sz="1750">
                <a:solidFill>
                  <a:srgbClr val="141414"/>
                </a:solidFill>
                <a:latin typeface="Aptos"/>
              </a:defRPr>
            </a:pPr>
            <a:r>
              <a:t>▸  Wikipedia: Web-Scraping für Kontextdaten; nützlich, aber mit Flächen-/Dichtegrenzen.</a:t>
            </a:r>
          </a:p>
          <a:p>
            <a:pPr>
              <a:spcAft>
                <a:spcPts val="900"/>
              </a:spcAft>
              <a:defRPr sz="1750">
                <a:solidFill>
                  <a:srgbClr val="141414"/>
                </a:solidFill>
                <a:latin typeface="Aptos"/>
              </a:defRPr>
            </a:pPr>
            <a:r>
              <a:t>▸  Open-Meteo: aktuelle Modellwerte; Live-Einordnung gegen historische Median-Baseline.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5870448"/>
            <a:ext cx="9144000" cy="292608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>
              <a:defRPr sz="1550" b="1">
                <a:solidFill>
                  <a:srgbClr val="141414"/>
                </a:solidFill>
                <a:latin typeface="Aptos"/>
              </a:defRPr>
            </a:pPr>
            <a:r>
              <a:t>Quellenunterschiede werden transparent gekennzeichnet.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56032"/>
            <a:ext cx="2743200" cy="22860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>
              <a:defRPr sz="1200" b="1">
                <a:solidFill>
                  <a:srgbClr val="005B82"/>
                </a:solidFill>
                <a:latin typeface="Aptos"/>
              </a:defRPr>
            </a:pPr>
            <a:r>
              <a:t>03 · Befund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30352"/>
            <a:ext cx="8321040" cy="41148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>
              <a:defRPr sz="2700" b="1">
                <a:solidFill>
                  <a:srgbClr val="141414"/>
                </a:solidFill>
                <a:latin typeface="Aptos Display"/>
              </a:defRPr>
            </a:pPr>
            <a:r>
              <a:t>Alle Städte über dem NO2-WHO-Richtwert</a:t>
            </a:r>
          </a:p>
        </p:txBody>
      </p:sp>
      <p:pic>
        <p:nvPicPr>
          <p:cNvPr id="4" name="Picture 3" descr="image-1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21240" y="201168"/>
            <a:ext cx="1691640" cy="86959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6473952"/>
            <a:ext cx="3200400" cy="18288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>
              <a:defRPr sz="900" b="0">
                <a:solidFill>
                  <a:srgbClr val="5C5C5C"/>
                </a:solidFill>
                <a:latin typeface="Aptos"/>
              </a:defRPr>
            </a:pPr>
            <a:r>
              <a:t>Euro Air Quality Pipeline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73952"/>
            <a:ext cx="548640" cy="18288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r">
              <a:defRPr sz="900" b="0">
                <a:solidFill>
                  <a:srgbClr val="5C5C5C"/>
                </a:solidFill>
                <a:latin typeface="Aptos"/>
              </a:defRPr>
            </a:pPr>
            <a:r>
              <a:t>4 / 10</a:t>
            </a:r>
          </a:p>
        </p:txBody>
      </p:sp>
      <p:pic>
        <p:nvPicPr>
          <p:cNvPr id="7" name="Picture 6" descr="image-4-2.jpe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1600200"/>
            <a:ext cx="6766560" cy="33832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726679" y="1325880"/>
            <a:ext cx="3200400" cy="32004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>
              <a:defRPr sz="2000" b="1">
                <a:solidFill>
                  <a:srgbClr val="005B82"/>
                </a:solidFill>
                <a:latin typeface="Aptos"/>
              </a:defRPr>
            </a:pPr>
            <a:r>
              <a:t>Hauptaussage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26679" y="1783080"/>
            <a:ext cx="3840480" cy="2834640"/>
          </a:xfrm>
          <a:prstGeom prst="rect">
            <a:avLst/>
          </a:prstGeom>
          <a:noFill/>
        </p:spPr>
        <p:txBody>
          <a:bodyPr wrap="square" lIns="45720" tIns="0" rIns="18288" bIns="0">
            <a:spAutoFit/>
          </a:bodyPr>
          <a:lstStyle/>
          <a:p>
            <a:pPr>
              <a:spcAft>
                <a:spcPts val="900"/>
              </a:spcAft>
              <a:defRPr sz="1700">
                <a:solidFill>
                  <a:srgbClr val="141414"/>
                </a:solidFill>
                <a:latin typeface="Aptos"/>
              </a:defRPr>
            </a:pPr>
            <a:r>
              <a:t>▸  Alle acht Städte liegen bei NO2 über dem WHO-2021-Jahresrichtwert von 10 µg/m³.</a:t>
            </a:r>
          </a:p>
          <a:p>
            <a:pPr>
              <a:spcAft>
                <a:spcPts val="900"/>
              </a:spcAft>
              <a:defRPr sz="1700">
                <a:solidFill>
                  <a:srgbClr val="141414"/>
                </a:solidFill>
                <a:latin typeface="Aptos"/>
              </a:defRPr>
            </a:pPr>
            <a:r>
              <a:t>▸  NO2-Spanne: 15,3 bis 25,0 µg/m³ - etwa 1,5× bis 2,5× über WHO.</a:t>
            </a:r>
          </a:p>
          <a:p>
            <a:pPr>
              <a:spcAft>
                <a:spcPts val="900"/>
              </a:spcAft>
              <a:defRPr sz="1700">
                <a:solidFill>
                  <a:srgbClr val="141414"/>
                </a:solidFill>
                <a:latin typeface="Aptos"/>
              </a:defRPr>
            </a:pPr>
            <a:r>
              <a:t>▸  PM2.5 liegt bei allen Städten mit validierter PM2.5-Referenz über WHO 5.</a:t>
            </a:r>
          </a:p>
          <a:p>
            <a:pPr>
              <a:spcAft>
                <a:spcPts val="900"/>
              </a:spcAft>
              <a:defRPr sz="1700">
                <a:solidFill>
                  <a:srgbClr val="141414"/>
                </a:solidFill>
                <a:latin typeface="Aptos"/>
              </a:defRPr>
            </a:pPr>
            <a:r>
              <a:t>▸  Rom: keine validierten PM2.5/PM10-Werte in der EEA-Historie - die Lücke bleibt sichtbar.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5623560"/>
            <a:ext cx="8046720" cy="167738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>
              <a:defRPr sz="850" b="0">
                <a:solidFill>
                  <a:srgbClr val="5C5C5C"/>
                </a:solidFill>
                <a:latin typeface="Aptos"/>
              </a:defRPr>
            </a:pPr>
            <a:r>
              <a:rPr dirty="0"/>
              <a:t>Quelle: EEA, </a:t>
            </a:r>
            <a:r>
              <a:rPr dirty="0" err="1"/>
              <a:t>Kalenderjahr</a:t>
            </a:r>
            <a:r>
              <a:rPr dirty="0"/>
              <a:t> 2025; </a:t>
            </a:r>
            <a:r>
              <a:rPr dirty="0" err="1"/>
              <a:t>gestrichelte</a:t>
            </a:r>
            <a:r>
              <a:rPr dirty="0"/>
              <a:t> </a:t>
            </a:r>
            <a:r>
              <a:rPr dirty="0" err="1"/>
              <a:t>Linien</a:t>
            </a:r>
            <a:r>
              <a:rPr dirty="0"/>
              <a:t> = WHO-2021-Jahresrichtwerte.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26679" y="5257800"/>
            <a:ext cx="3749039" cy="45720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>
              <a:defRPr sz="1550" b="1">
                <a:solidFill>
                  <a:srgbClr val="141414"/>
                </a:solidFill>
                <a:latin typeface="Aptos"/>
              </a:defRPr>
            </a:pPr>
            <a:r>
              <a:t>Keine Rechtsaussage: WHO = Gesundheits-Orientierung, nicht EU-Grenzwert.</a:t>
            </a:r>
          </a:p>
        </p:txBody>
      </p:sp>
      <p:sp>
        <p:nvSpPr>
          <p:cNvPr id="12" name="Textfeld 11">
            <a:extLst>
              <a:ext uri="{FF2B5EF4-FFF2-40B4-BE49-F238E27FC236}">
                <a16:creationId xmlns:a16="http://schemas.microsoft.com/office/drawing/2014/main" id="{4A029C35-D66E-413A-9D6A-C539CAE9B1F3}"/>
              </a:ext>
            </a:extLst>
          </p:cNvPr>
          <p:cNvSpPr txBox="1"/>
          <p:nvPr/>
        </p:nvSpPr>
        <p:spPr>
          <a:xfrm>
            <a:off x="622434" y="5887052"/>
            <a:ext cx="2438488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900" dirty="0">
                <a:latin typeface="Aptos"/>
              </a:rPr>
              <a:t>Quelle: </a:t>
            </a:r>
            <a:r>
              <a:rPr lang="en-GB" sz="900" dirty="0">
                <a:latin typeface="Aptos"/>
                <a:hlinkClick r:id="rId4"/>
              </a:rPr>
              <a:t>WHO global air quality guidelines (2021</a:t>
            </a:r>
            <a:r>
              <a:rPr lang="en-GB" sz="900" dirty="0">
                <a:latin typeface="Aptos"/>
              </a:rPr>
              <a:t>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56032"/>
            <a:ext cx="2743200" cy="22860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>
              <a:defRPr sz="1200" b="1">
                <a:solidFill>
                  <a:srgbClr val="005B82"/>
                </a:solidFill>
                <a:latin typeface="Aptos"/>
              </a:defRPr>
            </a:pPr>
            <a:r>
              <a:t>04 · Befund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30352"/>
            <a:ext cx="8321040" cy="41148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>
              <a:defRPr sz="2700" b="1">
                <a:solidFill>
                  <a:srgbClr val="141414"/>
                </a:solidFill>
                <a:latin typeface="Aptos Display"/>
              </a:defRPr>
            </a:pPr>
            <a:r>
              <a:t>PM2.5: Warschau und Prag führen</a:t>
            </a:r>
          </a:p>
        </p:txBody>
      </p:sp>
      <p:pic>
        <p:nvPicPr>
          <p:cNvPr id="4" name="Picture 3" descr="image-1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21240" y="201168"/>
            <a:ext cx="1691640" cy="86959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6473952"/>
            <a:ext cx="3200400" cy="18288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>
              <a:defRPr sz="900" b="0">
                <a:solidFill>
                  <a:srgbClr val="5C5C5C"/>
                </a:solidFill>
                <a:latin typeface="Aptos"/>
              </a:defRPr>
            </a:pPr>
            <a:r>
              <a:t>Euro Air Quality Pipeline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73952"/>
            <a:ext cx="548640" cy="18288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r">
              <a:defRPr sz="900" b="0">
                <a:solidFill>
                  <a:srgbClr val="5C5C5C"/>
                </a:solidFill>
                <a:latin typeface="Aptos"/>
              </a:defRPr>
            </a:pPr>
            <a:r>
              <a:t>5 / 10</a:t>
            </a:r>
          </a:p>
        </p:txBody>
      </p:sp>
      <p:pic>
        <p:nvPicPr>
          <p:cNvPr id="7" name="Picture 6" descr="image-5-2.jpe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1204786"/>
            <a:ext cx="6675120" cy="417410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726679" y="1325880"/>
            <a:ext cx="3200400" cy="32004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>
              <a:defRPr sz="2000" b="1">
                <a:solidFill>
                  <a:srgbClr val="005B82"/>
                </a:solidFill>
                <a:latin typeface="Aptos"/>
              </a:defRPr>
            </a:pPr>
            <a:r>
              <a:t>Interpretation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26679" y="1783080"/>
            <a:ext cx="3840480" cy="3017520"/>
          </a:xfrm>
          <a:prstGeom prst="rect">
            <a:avLst/>
          </a:prstGeom>
          <a:noFill/>
        </p:spPr>
        <p:txBody>
          <a:bodyPr wrap="square" lIns="45720" tIns="0" rIns="18288" bIns="0">
            <a:spAutoFit/>
          </a:bodyPr>
          <a:lstStyle/>
          <a:p>
            <a:pPr>
              <a:spcAft>
                <a:spcPts val="900"/>
              </a:spcAft>
              <a:defRPr sz="1700">
                <a:solidFill>
                  <a:srgbClr val="141414"/>
                </a:solidFill>
                <a:latin typeface="Aptos"/>
              </a:defRPr>
            </a:pPr>
            <a:r>
              <a:t>▸  Höchste PM2.5-Mittel: Warschau 14,7 und Prag 14,5 µg/m³.</a:t>
            </a:r>
          </a:p>
          <a:p>
            <a:pPr>
              <a:spcAft>
                <a:spcPts val="900"/>
              </a:spcAft>
              <a:defRPr sz="1700">
                <a:solidFill>
                  <a:srgbClr val="141414"/>
                </a:solidFill>
                <a:latin typeface="Aptos"/>
              </a:defRPr>
            </a:pPr>
            <a:r>
              <a:t>▸  Niedrigste PM2.5-Mittel: Madrid 9,3, Amsterdam 9,5, Wien 9,8 µg/m³.</a:t>
            </a:r>
          </a:p>
          <a:p>
            <a:pPr>
              <a:spcAft>
                <a:spcPts val="900"/>
              </a:spcAft>
              <a:defRPr sz="1700">
                <a:solidFill>
                  <a:srgbClr val="141414"/>
                </a:solidFill>
                <a:latin typeface="Aptos"/>
              </a:defRPr>
            </a:pPr>
            <a:r>
              <a:t>▸  Alle vergleichbaren Städte liegen deutlich über WHO 5.</a:t>
            </a:r>
          </a:p>
          <a:p>
            <a:pPr>
              <a:spcAft>
                <a:spcPts val="900"/>
              </a:spcAft>
              <a:defRPr sz="1700">
                <a:solidFill>
                  <a:srgbClr val="141414"/>
                </a:solidFill>
                <a:latin typeface="Aptos"/>
              </a:defRPr>
            </a:pPr>
            <a:r>
              <a:t>▸  Fehlerbalken zeigen starke Tag-zu-Tag-Streuung; kleine Rangunterschiede nicht überinterpretieren.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5623560"/>
            <a:ext cx="7680960" cy="201168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>
              <a:defRPr sz="850" b="0">
                <a:solidFill>
                  <a:srgbClr val="5C5C5C"/>
                </a:solidFill>
                <a:latin typeface="Aptos"/>
              </a:defRPr>
            </a:pPr>
            <a:r>
              <a:t>Quelle: EEA, Tagesmittel 2025; Fehlerbalken = Standardabweichung.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56032"/>
            <a:ext cx="2743200" cy="22860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>
              <a:defRPr sz="1200" b="1">
                <a:solidFill>
                  <a:srgbClr val="005B82"/>
                </a:solidFill>
                <a:latin typeface="Aptos"/>
              </a:defRPr>
            </a:pPr>
            <a:r>
              <a:t>05 · Befund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30352"/>
            <a:ext cx="8321040" cy="41148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>
              <a:defRPr sz="2700" b="1">
                <a:solidFill>
                  <a:srgbClr val="141414"/>
                </a:solidFill>
                <a:latin typeface="Aptos Display"/>
              </a:defRPr>
            </a:pPr>
            <a:r>
              <a:t>Mittelwerte allein reichen nicht</a:t>
            </a:r>
          </a:p>
        </p:txBody>
      </p:sp>
      <p:pic>
        <p:nvPicPr>
          <p:cNvPr id="4" name="Picture 3" descr="image-1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21240" y="201168"/>
            <a:ext cx="1691640" cy="86959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6473952"/>
            <a:ext cx="3200400" cy="18288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>
              <a:defRPr sz="900" b="0">
                <a:solidFill>
                  <a:srgbClr val="5C5C5C"/>
                </a:solidFill>
                <a:latin typeface="Aptos"/>
              </a:defRPr>
            </a:pPr>
            <a:r>
              <a:t>Euro Air Quality Pipeline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73952"/>
            <a:ext cx="548640" cy="18288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r">
              <a:defRPr sz="900" b="0">
                <a:solidFill>
                  <a:srgbClr val="5C5C5C"/>
                </a:solidFill>
                <a:latin typeface="Aptos"/>
              </a:defRPr>
            </a:pPr>
            <a:r>
              <a:t>6 / 10</a:t>
            </a:r>
          </a:p>
        </p:txBody>
      </p:sp>
      <p:pic>
        <p:nvPicPr>
          <p:cNvPr id="7" name="Picture 6" descr="image-6-2.jpe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1137601"/>
            <a:ext cx="5120640" cy="3202053"/>
          </a:xfrm>
          <a:prstGeom prst="rect">
            <a:avLst/>
          </a:prstGeom>
        </p:spPr>
      </p:pic>
      <p:pic>
        <p:nvPicPr>
          <p:cNvPr id="8" name="Picture 7" descr="image-7-2.jpe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89320" y="1412748"/>
            <a:ext cx="5303520" cy="265176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85800" y="4617720"/>
            <a:ext cx="4389120" cy="27432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>
              <a:defRPr sz="1850" b="1">
                <a:solidFill>
                  <a:srgbClr val="005B82"/>
                </a:solidFill>
                <a:latin typeface="Aptos"/>
              </a:defRPr>
            </a:pPr>
            <a:r>
              <a:t>Was die Verteilungen zeigen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983480"/>
            <a:ext cx="4754880" cy="868680"/>
          </a:xfrm>
          <a:prstGeom prst="rect">
            <a:avLst/>
          </a:prstGeom>
          <a:noFill/>
        </p:spPr>
        <p:txBody>
          <a:bodyPr wrap="square" lIns="45720" tIns="0" rIns="18288" bIns="0">
            <a:spAutoFit/>
          </a:bodyPr>
          <a:lstStyle/>
          <a:p>
            <a:pPr>
              <a:spcAft>
                <a:spcPts val="900"/>
              </a:spcAft>
              <a:defRPr sz="1650">
                <a:solidFill>
                  <a:srgbClr val="141414"/>
                </a:solidFill>
                <a:latin typeface="Aptos"/>
              </a:defRPr>
            </a:pPr>
            <a:r>
              <a:t>▸  Der Median jedes Schadstoffs liegt über dem WHO-Richtwert.</a:t>
            </a:r>
          </a:p>
          <a:p>
            <a:pPr>
              <a:spcAft>
                <a:spcPts val="900"/>
              </a:spcAft>
              <a:defRPr sz="1650">
                <a:solidFill>
                  <a:srgbClr val="141414"/>
                </a:solidFill>
                <a:latin typeface="Aptos"/>
              </a:defRPr>
            </a:pPr>
            <a:r>
              <a:t>▸  Lange Oberschwänze markieren einzelne stark belastete Tage.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35040" y="4617720"/>
            <a:ext cx="4389120" cy="27432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>
              <a:defRPr sz="1850" b="1">
                <a:solidFill>
                  <a:srgbClr val="005B82"/>
                </a:solidFill>
                <a:latin typeface="Aptos"/>
              </a:defRPr>
            </a:pPr>
            <a:r>
              <a:t>Was die Zeitreihe zeigt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26480" y="4983480"/>
            <a:ext cx="4846320" cy="868680"/>
          </a:xfrm>
          <a:prstGeom prst="rect">
            <a:avLst/>
          </a:prstGeom>
          <a:noFill/>
        </p:spPr>
        <p:txBody>
          <a:bodyPr wrap="square" lIns="45720" tIns="0" rIns="18288" bIns="0">
            <a:spAutoFit/>
          </a:bodyPr>
          <a:lstStyle/>
          <a:p>
            <a:pPr>
              <a:spcAft>
                <a:spcPts val="900"/>
              </a:spcAft>
              <a:defRPr sz="1650">
                <a:solidFill>
                  <a:srgbClr val="141414"/>
                </a:solidFill>
                <a:latin typeface="Aptos"/>
              </a:defRPr>
            </a:pPr>
            <a:r>
              <a:t>▸  PM2.5-Spitzen häufen sich im Winter; Sommerwerte sind niedriger.</a:t>
            </a:r>
          </a:p>
          <a:p>
            <a:pPr>
              <a:spcAft>
                <a:spcPts val="900"/>
              </a:spcAft>
              <a:defRPr sz="1650">
                <a:solidFill>
                  <a:srgbClr val="141414"/>
                </a:solidFill>
                <a:latin typeface="Aptos"/>
              </a:defRPr>
            </a:pPr>
            <a:r>
              <a:t>▸  Heizen und Inversionswetter sind plausible Einordnung, kein Kausalnachweis.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6108192"/>
            <a:ext cx="9509760" cy="201168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>
              <a:defRPr sz="850" b="0">
                <a:solidFill>
                  <a:srgbClr val="5C5C5C"/>
                </a:solidFill>
                <a:latin typeface="Aptos"/>
              </a:defRPr>
            </a:pPr>
            <a:r>
              <a:t>Quelle: EEA, Tagesmittel 2025. Lücken bleiben sichtbar; keine Interpolation.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56032"/>
            <a:ext cx="2743200" cy="22860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>
              <a:defRPr sz="1200" b="1">
                <a:solidFill>
                  <a:srgbClr val="005B82"/>
                </a:solidFill>
                <a:latin typeface="Aptos"/>
              </a:defRPr>
            </a:pPr>
            <a:r>
              <a:t>06 · Befund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30352"/>
            <a:ext cx="8321040" cy="41148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>
              <a:defRPr sz="2700" b="1">
                <a:solidFill>
                  <a:srgbClr val="141414"/>
                </a:solidFill>
                <a:latin typeface="Aptos Display"/>
              </a:defRPr>
            </a:pPr>
            <a:r>
              <a:t>Bevölkerungsdichte erklärt PM2.5 nicht belastbar</a:t>
            </a:r>
          </a:p>
        </p:txBody>
      </p:sp>
      <p:pic>
        <p:nvPicPr>
          <p:cNvPr id="4" name="Picture 3" descr="image-1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21240" y="201168"/>
            <a:ext cx="1691640" cy="86959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6473952"/>
            <a:ext cx="3200400" cy="18288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>
              <a:defRPr sz="900" b="0">
                <a:solidFill>
                  <a:srgbClr val="5C5C5C"/>
                </a:solidFill>
                <a:latin typeface="Aptos"/>
              </a:defRPr>
            </a:pPr>
            <a:r>
              <a:t>Euro Air Quality Pipeline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73952"/>
            <a:ext cx="548640" cy="18288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r">
              <a:defRPr sz="900" b="0">
                <a:solidFill>
                  <a:srgbClr val="5C5C5C"/>
                </a:solidFill>
                <a:latin typeface="Aptos"/>
              </a:defRPr>
            </a:pPr>
            <a:r>
              <a:t>7 / 10</a:t>
            </a:r>
          </a:p>
        </p:txBody>
      </p:sp>
      <p:pic>
        <p:nvPicPr>
          <p:cNvPr id="7" name="Picture 6" descr="image-8-2.jpe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1219081"/>
            <a:ext cx="6629400" cy="414551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726679" y="1325880"/>
            <a:ext cx="3200400" cy="32004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>
              <a:defRPr sz="2000" b="1">
                <a:solidFill>
                  <a:srgbClr val="005B82"/>
                </a:solidFill>
                <a:latin typeface="Aptos"/>
              </a:defRPr>
            </a:pPr>
            <a:r>
              <a:t>Warum vorsichtig?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26679" y="1783080"/>
            <a:ext cx="3840480" cy="3383280"/>
          </a:xfrm>
          <a:prstGeom prst="rect">
            <a:avLst/>
          </a:prstGeom>
          <a:noFill/>
        </p:spPr>
        <p:txBody>
          <a:bodyPr wrap="square" lIns="45720" tIns="0" rIns="18288" bIns="0">
            <a:spAutoFit/>
          </a:bodyPr>
          <a:lstStyle/>
          <a:p>
            <a:pPr>
              <a:spcAft>
                <a:spcPts val="900"/>
              </a:spcAft>
              <a:defRPr sz="1650">
                <a:solidFill>
                  <a:srgbClr val="141414"/>
                </a:solidFill>
                <a:latin typeface="Aptos"/>
              </a:defRPr>
            </a:pPr>
            <a:r>
              <a:t>▸  Dichte und PM2.5 werden explorativ verknüpft: Wikipedia-Kontext plus EEA-Messdaten.</a:t>
            </a:r>
          </a:p>
          <a:p>
            <a:pPr>
              <a:spcAft>
                <a:spcPts val="900"/>
              </a:spcAft>
              <a:defRPr sz="1650">
                <a:solidFill>
                  <a:srgbClr val="141414"/>
                </a:solidFill>
                <a:latin typeface="Aptos"/>
              </a:defRPr>
            </a:pPr>
            <a:r>
              <a:t>▸  Korrelation ist nicht robust: r ≈ -0,23 über alle Städte, aber ≈ -0,95 ohne Paris.</a:t>
            </a:r>
          </a:p>
          <a:p>
            <a:pPr>
              <a:spcAft>
                <a:spcPts val="900"/>
              </a:spcAft>
              <a:defRPr sz="1650">
                <a:solidFill>
                  <a:srgbClr val="141414"/>
                </a:solidFill>
                <a:latin typeface="Aptos"/>
              </a:defRPr>
            </a:pPr>
            <a:r>
              <a:t>▸  Paris ist Kernkommune (~105 km²) und mit den anderen Stadtflächen nicht direkt vergleichbar.</a:t>
            </a:r>
          </a:p>
          <a:p>
            <a:pPr>
              <a:spcAft>
                <a:spcPts val="900"/>
              </a:spcAft>
              <a:defRPr sz="1650">
                <a:solidFill>
                  <a:srgbClr val="141414"/>
                </a:solidFill>
                <a:latin typeface="Aptos"/>
              </a:defRPr>
            </a:pPr>
            <a:r>
              <a:t>▸  Daraus folgt keine Kausalität und kein belastbarer Erklärungsfaktor.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5623560"/>
            <a:ext cx="9144000" cy="201168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>
              <a:defRPr sz="850" b="0">
                <a:solidFill>
                  <a:srgbClr val="5C5C5C"/>
                </a:solidFill>
                <a:latin typeface="Aptos"/>
              </a:defRPr>
            </a:pPr>
            <a:r>
              <a:t>MAUP: Modifiable Areal Unit Problem - Flächenabgrenzungen beeinflussen Dichtewerte.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56032"/>
            <a:ext cx="2743200" cy="22860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>
              <a:defRPr sz="1200" b="1">
                <a:solidFill>
                  <a:srgbClr val="005B82"/>
                </a:solidFill>
                <a:latin typeface="Aptos"/>
              </a:defRPr>
            </a:pPr>
            <a:r>
              <a:t>07 · Befund 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30352"/>
            <a:ext cx="8321040" cy="41148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>
              <a:defRPr sz="2700" b="1">
                <a:solidFill>
                  <a:srgbClr val="141414"/>
                </a:solidFill>
                <a:latin typeface="Aptos Display"/>
              </a:defRPr>
            </a:pPr>
            <a:r>
              <a:t>Aktuelle Lage gegen historische EEA-Median-Baseline</a:t>
            </a:r>
          </a:p>
        </p:txBody>
      </p:sp>
      <p:pic>
        <p:nvPicPr>
          <p:cNvPr id="4" name="Picture 3" descr="image-1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21240" y="201168"/>
            <a:ext cx="1691640" cy="86959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6473952"/>
            <a:ext cx="3200400" cy="18288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>
              <a:defRPr sz="900" b="0">
                <a:solidFill>
                  <a:srgbClr val="5C5C5C"/>
                </a:solidFill>
                <a:latin typeface="Aptos"/>
              </a:defRPr>
            </a:pPr>
            <a:r>
              <a:t>Euro Air Quality Pipeline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73952"/>
            <a:ext cx="548640" cy="18288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r">
              <a:defRPr sz="900" b="0">
                <a:solidFill>
                  <a:srgbClr val="5C5C5C"/>
                </a:solidFill>
                <a:latin typeface="Aptos"/>
              </a:defRPr>
            </a:pPr>
            <a:r>
              <a:t>8 / 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234440"/>
            <a:ext cx="3108960" cy="32004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>
              <a:defRPr sz="2000" b="1">
                <a:solidFill>
                  <a:srgbClr val="005B82"/>
                </a:solidFill>
                <a:latin typeface="Aptos"/>
              </a:defRPr>
            </a:pPr>
            <a:r>
              <a:t>Neuer Vergleich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664208"/>
            <a:ext cx="5303520" cy="658368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>
              <a:defRPr sz="1900" b="0">
                <a:solidFill>
                  <a:srgbClr val="141414"/>
                </a:solidFill>
                <a:latin typeface="Aptos"/>
              </a:defRPr>
            </a:pPr>
            <a:r>
              <a:t>Open-Meteo-Livewert wird je Stadt und Schadstoff gegen den historischen EEA-Median 2025 eingeordnet.</a:t>
            </a:r>
          </a:p>
        </p:txBody>
      </p:sp>
      <p:pic>
        <p:nvPicPr>
          <p:cNvPr id="9" name="Picture 8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599970" y="2601467"/>
            <a:ext cx="5442690" cy="348843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537960" y="1234440"/>
            <a:ext cx="3108960" cy="32004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>
              <a:defRPr sz="2000" b="1">
                <a:solidFill>
                  <a:srgbClr val="005B82"/>
                </a:solidFill>
                <a:latin typeface="Aptos"/>
              </a:defRPr>
            </a:pPr>
            <a:r>
              <a:t>Wie wird gelesen?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37960" y="1664208"/>
            <a:ext cx="4937760" cy="2194560"/>
          </a:xfrm>
          <a:prstGeom prst="rect">
            <a:avLst/>
          </a:prstGeom>
          <a:noFill/>
        </p:spPr>
        <p:txBody>
          <a:bodyPr wrap="square" lIns="45720" tIns="0" rIns="18288" bIns="0">
            <a:spAutoFit/>
          </a:bodyPr>
          <a:lstStyle/>
          <a:p>
            <a:pPr>
              <a:spcAft>
                <a:spcPts val="900"/>
              </a:spcAft>
              <a:defRPr sz="1650">
                <a:solidFill>
                  <a:srgbClr val="141414"/>
                </a:solidFill>
                <a:latin typeface="Aptos"/>
              </a:defRPr>
            </a:pPr>
            <a:r>
              <a:t>▸  Historische Referenz: Median der EEA-Tagesmittel 2025.</a:t>
            </a:r>
          </a:p>
          <a:p>
            <a:pPr>
              <a:spcAft>
                <a:spcPts val="900"/>
              </a:spcAft>
              <a:defRPr sz="1650">
                <a:solidFill>
                  <a:srgbClr val="141414"/>
                </a:solidFill>
                <a:latin typeface="Aptos"/>
              </a:defRPr>
            </a:pPr>
            <a:r>
              <a:t>▸  Aktueller Wert: Open-Meteo-Modellwert aus dem Kafka/Spark-Livepfad.</a:t>
            </a:r>
          </a:p>
          <a:p>
            <a:pPr>
              <a:spcAft>
                <a:spcPts val="900"/>
              </a:spcAft>
              <a:defRPr sz="1650">
                <a:solidFill>
                  <a:srgbClr val="141414"/>
                </a:solidFill>
                <a:latin typeface="Aptos"/>
              </a:defRPr>
            </a:pPr>
            <a:r>
              <a:t>▸  Abweichung: (Live - Median) / Median in Prozent.</a:t>
            </a:r>
          </a:p>
          <a:p>
            <a:pPr>
              <a:spcAft>
                <a:spcPts val="900"/>
              </a:spcAft>
              <a:defRPr sz="1650">
                <a:solidFill>
                  <a:srgbClr val="141414"/>
                </a:solidFill>
                <a:latin typeface="Aptos"/>
              </a:defRPr>
            </a:pPr>
            <a:r>
              <a:t>▸  Ergebnisstruktur: 24 Paare, 22 vergleichbar, 2 ohne Referenz (Rom PM2.5/PM10).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37960" y="4251960"/>
            <a:ext cx="3108960" cy="27432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>
              <a:defRPr sz="1850" b="1">
                <a:solidFill>
                  <a:srgbClr val="005B82"/>
                </a:solidFill>
                <a:latin typeface="Aptos"/>
              </a:defRPr>
            </a:pPr>
            <a:r>
              <a:t>Methodische Grenze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37960" y="4617720"/>
            <a:ext cx="4892040" cy="68580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>
              <a:defRPr sz="1650" b="1">
                <a:solidFill>
                  <a:srgbClr val="141414"/>
                </a:solidFill>
                <a:latin typeface="Aptos"/>
              </a:defRPr>
            </a:pPr>
            <a:r>
              <a:t>Explorativer Vergleich: Modellwert vs. Messdaten, anderer Zeitraum, kein Trend-, Kausal- oder WHO-Jahresbezug.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6181344"/>
            <a:ext cx="9144000" cy="201168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>
              <a:defRPr sz="850" b="0">
                <a:solidFill>
                  <a:srgbClr val="5C5C5C"/>
                </a:solidFill>
                <a:latin typeface="Aptos"/>
              </a:defRPr>
            </a:pPr>
            <a:r>
              <a:rPr dirty="0"/>
              <a:t>Die </a:t>
            </a:r>
            <a:r>
              <a:rPr dirty="0" err="1"/>
              <a:t>Grafik</a:t>
            </a:r>
            <a:r>
              <a:rPr dirty="0"/>
              <a:t> </a:t>
            </a:r>
            <a:r>
              <a:rPr dirty="0" err="1"/>
              <a:t>zeigt</a:t>
            </a:r>
            <a:r>
              <a:rPr dirty="0"/>
              <a:t> den Live-Snapshot; die </a:t>
            </a:r>
            <a:r>
              <a:rPr dirty="0" err="1"/>
              <a:t>Einordnung</a:t>
            </a:r>
            <a:r>
              <a:rPr dirty="0"/>
              <a:t> </a:t>
            </a:r>
            <a:r>
              <a:rPr dirty="0" err="1"/>
              <a:t>erfolgt</a:t>
            </a:r>
            <a:r>
              <a:rPr dirty="0"/>
              <a:t> </a:t>
            </a:r>
            <a:r>
              <a:rPr dirty="0" err="1"/>
              <a:t>gegen</a:t>
            </a:r>
            <a:r>
              <a:rPr dirty="0"/>
              <a:t> den </a:t>
            </a:r>
            <a:r>
              <a:rPr dirty="0" err="1"/>
              <a:t>historischen</a:t>
            </a:r>
            <a:r>
              <a:rPr dirty="0"/>
              <a:t> Median in Gold.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56032"/>
            <a:ext cx="2743200" cy="22860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>
              <a:defRPr sz="1200" b="1">
                <a:solidFill>
                  <a:srgbClr val="005B82"/>
                </a:solidFill>
                <a:latin typeface="Aptos"/>
              </a:defRPr>
            </a:pPr>
            <a:r>
              <a:t>08 · Einordnung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30352"/>
            <a:ext cx="8321040" cy="41148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>
              <a:defRPr sz="2700" b="1">
                <a:solidFill>
                  <a:srgbClr val="141414"/>
                </a:solidFill>
                <a:latin typeface="Aptos Display"/>
              </a:defRPr>
            </a:pPr>
            <a:r>
              <a:t>Was die Daten nicht sagen</a:t>
            </a:r>
          </a:p>
        </p:txBody>
      </p:sp>
      <p:pic>
        <p:nvPicPr>
          <p:cNvPr id="4" name="Picture 3" descr="image-1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21240" y="201168"/>
            <a:ext cx="1691640" cy="86959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6473952"/>
            <a:ext cx="3200400" cy="18288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>
              <a:defRPr sz="900" b="0">
                <a:solidFill>
                  <a:srgbClr val="5C5C5C"/>
                </a:solidFill>
                <a:latin typeface="Aptos"/>
              </a:defRPr>
            </a:pPr>
            <a:r>
              <a:t>Euro Air Quality Pipeline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73952"/>
            <a:ext cx="548640" cy="18288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r">
              <a:defRPr sz="900" b="0">
                <a:solidFill>
                  <a:srgbClr val="5C5C5C"/>
                </a:solidFill>
                <a:latin typeface="Aptos"/>
              </a:defRPr>
            </a:pPr>
            <a:r>
              <a:t>9 / 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325880"/>
            <a:ext cx="640080" cy="36576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>
              <a:defRPr sz="2400" b="1">
                <a:solidFill>
                  <a:srgbClr val="005B82"/>
                </a:solidFill>
                <a:latin typeface="Aptos Display"/>
              </a:defRPr>
            </a:pPr>
            <a: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63040" y="1344168"/>
            <a:ext cx="4389120" cy="32004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>
              <a:defRPr sz="1900" b="1">
                <a:solidFill>
                  <a:srgbClr val="141414"/>
                </a:solidFill>
                <a:latin typeface="Aptos"/>
              </a:defRPr>
            </a:pPr>
            <a:r>
              <a:t>Deskriptiv, nicht kausal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63040" y="1828800"/>
            <a:ext cx="4480560" cy="68580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>
              <a:defRPr sz="1650" b="0">
                <a:solidFill>
                  <a:srgbClr val="141414"/>
                </a:solidFill>
                <a:latin typeface="Aptos"/>
              </a:defRPr>
            </a:pPr>
            <a:r>
              <a:t>Wir beschreiben Muster. Ursachen werden nicht behauptet.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63640" y="1325880"/>
            <a:ext cx="640080" cy="36576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>
              <a:defRPr sz="2400" b="1">
                <a:solidFill>
                  <a:srgbClr val="005B82"/>
                </a:solidFill>
                <a:latin typeface="Aptos Display"/>
              </a:defRPr>
            </a:pPr>
            <a: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49440" y="1344168"/>
            <a:ext cx="4389120" cy="32004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>
              <a:defRPr sz="1900" b="1">
                <a:solidFill>
                  <a:srgbClr val="141414"/>
                </a:solidFill>
                <a:latin typeface="Aptos"/>
              </a:defRPr>
            </a:pPr>
            <a:r>
              <a:t>Keine pauschale Rangliste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949440" y="1828800"/>
            <a:ext cx="4480560" cy="68580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>
              <a:defRPr sz="1650" b="0">
                <a:solidFill>
                  <a:srgbClr val="141414"/>
                </a:solidFill>
                <a:latin typeface="Aptos"/>
              </a:defRPr>
            </a:pPr>
            <a:r>
              <a:t>Die Reihenfolge hängt vom Schadstoff ab; jeder wird einzeln betrachtet.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3246120"/>
            <a:ext cx="640080" cy="36576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>
              <a:defRPr sz="2400" b="1">
                <a:solidFill>
                  <a:srgbClr val="005B82"/>
                </a:solidFill>
                <a:latin typeface="Aptos Display"/>
              </a:defRPr>
            </a:pPr>
            <a: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63040" y="3264408"/>
            <a:ext cx="4389120" cy="32004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>
              <a:defRPr sz="1900" b="1">
                <a:solidFill>
                  <a:srgbClr val="141414"/>
                </a:solidFill>
                <a:latin typeface="Aptos"/>
              </a:defRPr>
            </a:pPr>
            <a:r>
              <a:t>Lücken bleiben Lücken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63040" y="3749039"/>
            <a:ext cx="4480560" cy="68580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>
              <a:defRPr sz="1650" b="0">
                <a:solidFill>
                  <a:srgbClr val="141414"/>
                </a:solidFill>
                <a:latin typeface="Aptos"/>
              </a:defRPr>
            </a:pPr>
            <a:r>
              <a:t>Rom-PM wird ausgewiesen, nicht interpoliert oder aufgefüllt.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63640" y="3246120"/>
            <a:ext cx="640080" cy="36576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>
              <a:defRPr sz="2400" b="1">
                <a:solidFill>
                  <a:srgbClr val="005B82"/>
                </a:solidFill>
                <a:latin typeface="Aptos Display"/>
              </a:defRPr>
            </a:pPr>
            <a: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49440" y="3264408"/>
            <a:ext cx="4389120" cy="32004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>
              <a:defRPr sz="1900" b="1">
                <a:solidFill>
                  <a:srgbClr val="141414"/>
                </a:solidFill>
                <a:latin typeface="Aptos"/>
              </a:defRPr>
            </a:pPr>
            <a:r>
              <a:t>Quellen sauber getrennt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49440" y="3749039"/>
            <a:ext cx="4480560" cy="68580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>
              <a:defRPr sz="1650" b="0">
                <a:solidFill>
                  <a:srgbClr val="141414"/>
                </a:solidFill>
                <a:latin typeface="Aptos"/>
              </a:defRPr>
            </a:pPr>
            <a:r>
              <a:t>EEA = historische Messdaten; Open-Meteo = aktueller Modellwert.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5311140"/>
            <a:ext cx="10149840" cy="41148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>
              <a:defRPr sz="1750" b="1">
                <a:solidFill>
                  <a:srgbClr val="141414"/>
                </a:solidFill>
                <a:latin typeface="Aptos"/>
              </a:defRPr>
            </a:pPr>
            <a:r>
              <a:rPr dirty="0" err="1"/>
              <a:t>Besonders</a:t>
            </a:r>
            <a:r>
              <a:rPr dirty="0"/>
              <a:t> </a:t>
            </a:r>
            <a:r>
              <a:rPr dirty="0" err="1"/>
              <a:t>beim</a:t>
            </a:r>
            <a:r>
              <a:rPr dirty="0"/>
              <a:t> Live-vs-Median-</a:t>
            </a:r>
            <a:r>
              <a:rPr dirty="0" err="1"/>
              <a:t>Vergleich</a:t>
            </a:r>
            <a:r>
              <a:rPr dirty="0"/>
              <a:t> gilt: Er </a:t>
            </a:r>
            <a:r>
              <a:rPr dirty="0" err="1"/>
              <a:t>ordnet</a:t>
            </a:r>
            <a:r>
              <a:rPr dirty="0"/>
              <a:t> </a:t>
            </a:r>
            <a:r>
              <a:rPr dirty="0" err="1"/>
              <a:t>eine</a:t>
            </a:r>
            <a:r>
              <a:rPr dirty="0"/>
              <a:t> </a:t>
            </a:r>
            <a:r>
              <a:rPr dirty="0" err="1"/>
              <a:t>aktuelle</a:t>
            </a:r>
            <a:r>
              <a:rPr dirty="0"/>
              <a:t> Lage </a:t>
            </a:r>
            <a:r>
              <a:rPr dirty="0" err="1"/>
              <a:t>ein</a:t>
            </a:r>
            <a:r>
              <a:rPr dirty="0"/>
              <a:t>, </a:t>
            </a:r>
            <a:r>
              <a:rPr dirty="0" err="1"/>
              <a:t>ersetzt</a:t>
            </a:r>
            <a:r>
              <a:rPr dirty="0"/>
              <a:t> </a:t>
            </a:r>
            <a:r>
              <a:rPr dirty="0" err="1"/>
              <a:t>aber</a:t>
            </a:r>
            <a:r>
              <a:rPr dirty="0"/>
              <a:t> </a:t>
            </a:r>
            <a:r>
              <a:rPr dirty="0" err="1"/>
              <a:t>keine</a:t>
            </a:r>
            <a:r>
              <a:rPr dirty="0"/>
              <a:t> </a:t>
            </a:r>
            <a:r>
              <a:rPr dirty="0" err="1"/>
              <a:t>historische</a:t>
            </a:r>
            <a:r>
              <a:rPr dirty="0"/>
              <a:t> </a:t>
            </a:r>
            <a:r>
              <a:rPr dirty="0" err="1"/>
              <a:t>Jahresanalyse</a:t>
            </a:r>
            <a:r>
              <a:rPr dirty="0"/>
              <a:t>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56032"/>
            <a:ext cx="2743200" cy="22860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>
              <a:defRPr sz="1200" b="1">
                <a:solidFill>
                  <a:srgbClr val="005B82"/>
                </a:solidFill>
                <a:latin typeface="Aptos"/>
              </a:defRPr>
            </a:pPr>
            <a:r>
              <a:t>09 · Fazit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30352"/>
            <a:ext cx="8321040" cy="41148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>
              <a:defRPr sz="2700" b="1">
                <a:solidFill>
                  <a:srgbClr val="141414"/>
                </a:solidFill>
                <a:latin typeface="Aptos Display"/>
              </a:defRPr>
            </a:pPr>
            <a:r>
              <a:t>Drei Aussagen zum Mitnehmen</a:t>
            </a:r>
          </a:p>
        </p:txBody>
      </p:sp>
      <p:pic>
        <p:nvPicPr>
          <p:cNvPr id="4" name="Picture 3" descr="image-1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21240" y="201168"/>
            <a:ext cx="1691640" cy="86959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6473952"/>
            <a:ext cx="3200400" cy="18288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>
              <a:defRPr sz="900" b="0">
                <a:solidFill>
                  <a:srgbClr val="5C5C5C"/>
                </a:solidFill>
                <a:latin typeface="Aptos"/>
              </a:defRPr>
            </a:pPr>
            <a:r>
              <a:t>Euro Air Quality Pipeline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73952"/>
            <a:ext cx="548640" cy="18288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r">
              <a:defRPr sz="900" b="0">
                <a:solidFill>
                  <a:srgbClr val="5C5C5C"/>
                </a:solidFill>
                <a:latin typeface="Aptos"/>
              </a:defRPr>
            </a:pPr>
            <a:r>
              <a:t>10 / 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325880"/>
            <a:ext cx="457200" cy="41148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>
              <a:defRPr sz="2900" b="1">
                <a:solidFill>
                  <a:srgbClr val="005B82"/>
                </a:solidFill>
                <a:latin typeface="Aptos Display"/>
              </a:defRPr>
            </a:pPr>
            <a: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25880" y="1353312"/>
            <a:ext cx="8686800" cy="32004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>
              <a:defRPr sz="2100" b="1">
                <a:solidFill>
                  <a:srgbClr val="141414"/>
                </a:solidFill>
                <a:latin typeface="Aptos"/>
              </a:defRPr>
            </a:pPr>
            <a:r>
              <a:t>NO2 bleibt der klarste Befund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25880" y="1828800"/>
            <a:ext cx="9601200" cy="41148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>
              <a:defRPr sz="1750" b="0">
                <a:solidFill>
                  <a:srgbClr val="141414"/>
                </a:solidFill>
                <a:latin typeface="Aptos"/>
              </a:defRPr>
            </a:pPr>
            <a:r>
              <a:t>Alle acht Städte überschreiten den WHO-NO2-Richtwert: 15-25 statt 10 µg/m³.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743200"/>
            <a:ext cx="457200" cy="41148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>
              <a:defRPr sz="2900" b="1">
                <a:solidFill>
                  <a:srgbClr val="005B82"/>
                </a:solidFill>
                <a:latin typeface="Aptos Display"/>
              </a:defRPr>
            </a:pPr>
            <a: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25880" y="2770632"/>
            <a:ext cx="8686800" cy="32004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>
              <a:defRPr sz="2100" b="1">
                <a:solidFill>
                  <a:srgbClr val="141414"/>
                </a:solidFill>
                <a:latin typeface="Aptos"/>
              </a:defRPr>
            </a:pPr>
            <a:r>
              <a:t>Schadstoff schlägt Stadt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25880" y="3246120"/>
            <a:ext cx="9601200" cy="41148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>
              <a:defRPr sz="1750" b="0">
                <a:solidFill>
                  <a:srgbClr val="141414"/>
                </a:solidFill>
                <a:latin typeface="Aptos"/>
              </a:defRPr>
            </a:pPr>
            <a:r>
              <a:t>PM2.5, PM10 und NO2 zeigen unterschiedliche Muster; eine Gesamtrangliste wäre irreführend.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160520"/>
            <a:ext cx="457200" cy="41148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>
              <a:defRPr sz="2900" b="1">
                <a:solidFill>
                  <a:srgbClr val="005B82"/>
                </a:solidFill>
                <a:latin typeface="Aptos Display"/>
              </a:defRPr>
            </a:pPr>
            <a: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25880" y="4187952"/>
            <a:ext cx="8686800" cy="32004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>
              <a:defRPr sz="2100" b="1">
                <a:solidFill>
                  <a:srgbClr val="141414"/>
                </a:solidFill>
                <a:latin typeface="Aptos"/>
              </a:defRPr>
            </a:pPr>
            <a:r>
              <a:t>Live wird sinnvoll eingeordnet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25880" y="4663440"/>
            <a:ext cx="9601200" cy="41148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>
              <a:defRPr sz="1750" b="0">
                <a:solidFill>
                  <a:srgbClr val="141414"/>
                </a:solidFill>
                <a:latin typeface="Aptos"/>
              </a:defRPr>
            </a:pPr>
            <a:r>
              <a:t>Open-Meteo wird nicht mit EEA gleichgesetzt, sondern explorativ gegen den historischen EEA-Median gelesen.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5715000"/>
            <a:ext cx="1828800" cy="22860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>
              <a:defRPr sz="1300" b="1">
                <a:solidFill>
                  <a:srgbClr val="005B82"/>
                </a:solidFill>
                <a:latin typeface="Aptos"/>
              </a:defRPr>
            </a:pPr>
            <a:r>
              <a:t>Repository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783080" y="5687568"/>
            <a:ext cx="5303520" cy="27432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>
              <a:defRPr sz="1500" b="0">
                <a:solidFill>
                  <a:srgbClr val="141414"/>
                </a:solidFill>
                <a:latin typeface="Aptos"/>
              </a:defRPr>
            </a:pPr>
            <a:r>
              <a:t>github.com/OnlyMajorG/euro-air-quality-pipeline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0" y="5687568"/>
            <a:ext cx="4937760" cy="27432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>
              <a:defRPr sz="1350" b="0">
                <a:solidFill>
                  <a:srgbClr val="5C5C5C"/>
                </a:solidFill>
                <a:latin typeface="Aptos"/>
              </a:defRPr>
            </a:pPr>
            <a:r>
              <a:t>Team: Yesillik Nisa · Bandat Manuel · Wiesmüller Georg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939</Words>
  <Application>Microsoft Office PowerPoint</Application>
  <PresentationFormat>Breitbild</PresentationFormat>
  <Paragraphs>134</Paragraphs>
  <Slides>10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4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10</vt:i4>
      </vt:variant>
    </vt:vector>
  </HeadingPairs>
  <TitlesOfParts>
    <vt:vector size="15" baseType="lpstr">
      <vt:lpstr>Aptos</vt:lpstr>
      <vt:lpstr>Aptos Display</vt:lpstr>
      <vt:lpstr>Arial</vt:lpstr>
      <vt:lpstr>Calibri</vt:lpstr>
      <vt:lpstr>Office Theme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PowerPoint-Präsentation</dc:title>
  <dc:subject/>
  <dc:creator/>
  <cp:keywords/>
  <dc:description>generated using python-pptx</dc:description>
  <cp:lastModifiedBy>Wiesmüller Georg</cp:lastModifiedBy>
  <cp:revision>4</cp:revision>
  <dcterms:created xsi:type="dcterms:W3CDTF">2013-01-27T09:14:16Z</dcterms:created>
  <dcterms:modified xsi:type="dcterms:W3CDTF">2026-06-30T18:23:23Z</dcterms:modified>
  <cp:category/>
</cp:coreProperties>
</file>
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126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jpe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jpeg"/><Relationship Id="rId4" Type="http://schemas.openxmlformats.org/officeDocument/2006/relationships/image" Target="../media/image7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jpeg"/><Relationship Id="rId4" Type="http://schemas.openxmlformats.org/officeDocument/2006/relationships/image" Target="../media/image7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jpe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3a3cba21c131ed6ed460c3f2462370a1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8572500"/>
            <a:ext cx="16002000" cy="9144"/>
          </a:xfrm>
          <a:prstGeom prst="rect">
            <a:avLst/>
          </a:prstGeom>
        </p:spPr>
      </p:pic>
      <p:pic>
        <p:nvPicPr>
          <p:cNvPr id="5" name="Image 1" descr="gen-dedup-87af634b33fee6e916cbfae476c7b9b2.png"/>
          <p:cNvPicPr>
            <a:picLocks noChangeAspect="1"/>
          </p:cNvPicPr>
          <p:nvPr/>
        </p:nvPicPr>
        <p:blipFill>
          <a:blip r:embed="rId4"/>
          <a:srcRect t="-135" b="-135"/>
          <a:stretch/>
        </p:blipFill>
        <p:spPr>
          <a:xfrm>
            <a:off x="1143000" y="914400"/>
            <a:ext cx="3238805" cy="203819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477195" y="1333195"/>
            <a:ext cx="6667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spc="24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Big-Data-Engineering · </a:t>
            </a:r>
            <a:r>
              <a:rPr lang="en-US" sz="1200" kern="0" spc="240" dirty="0" err="1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Juli</a:t>
            </a:r>
            <a:r>
              <a:rPr lang="en-US" sz="1200" kern="0" spc="24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 xml:space="preserve"> 2026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1143000" y="4000500"/>
            <a:ext cx="1143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Abschlusspräsentation · Findings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4572000"/>
            <a:ext cx="1600200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kern="0" spc="-192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Luftqualität in 8</a:t>
            </a:r>
            <a:endParaRPr lang="en-US" sz="9600" dirty="0"/>
          </a:p>
          <a:p>
            <a:pPr marL="0" indent="0" algn="l">
              <a:buNone/>
            </a:pPr>
            <a:r>
              <a:rPr lang="en-US" sz="9600" b="1" kern="0" spc="-192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europäischen Hauptstädten</a:t>
            </a:r>
            <a:endParaRPr lang="en-US" sz="9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7524598"/>
            <a:ext cx="14287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Wie weit über gesunder Luft liegen Europas Städte?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8810244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9096451"/>
            <a:ext cx="10478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EEA · Wikipedia · Open-Meteo → Kafka → Spark → Bronze / Silver / Gold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9620402"/>
            <a:ext cx="2095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949267" y="9596627"/>
            <a:ext cx="685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400" b="1" i="0" dirty="0" err="1">
                <a:solidFill>
                  <a:srgbClr val="000000"/>
                </a:solidFill>
                <a:effectLst/>
                <a:latin typeface="-apple-system"/>
              </a:rPr>
              <a:t>Yesillik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-apple-system"/>
              </a:rPr>
              <a:t xml:space="preserve"> </a:t>
            </a:r>
            <a:r>
              <a:rPr lang="en-GB" sz="1400" b="1" i="0" dirty="0" err="1">
                <a:solidFill>
                  <a:srgbClr val="000000"/>
                </a:solidFill>
                <a:effectLst/>
                <a:latin typeface="-apple-system"/>
              </a:rPr>
              <a:t>Nisa</a:t>
            </a:r>
            <a:r>
              <a:rPr lang="en-US" sz="1400" b="1" i="0" dirty="0">
                <a:solidFill>
                  <a:srgbClr val="1A1A1A"/>
                </a:solidFill>
                <a:effectLst/>
                <a:latin typeface="Inter Tight" pitchFamily="34" charset="0"/>
                <a:ea typeface="Inter Tight" pitchFamily="34" charset="-122"/>
              </a:rPr>
              <a:t xml:space="preserve"> - </a:t>
            </a:r>
            <a:r>
              <a:rPr lang="en-GB" sz="1400" b="1" i="0" dirty="0" err="1">
                <a:solidFill>
                  <a:srgbClr val="000000"/>
                </a:solidFill>
                <a:effectLst/>
                <a:latin typeface="-apple-system"/>
              </a:rPr>
              <a:t>Bandat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-apple-system"/>
              </a:rPr>
              <a:t xml:space="preserve"> Manuel</a:t>
            </a:r>
            <a:r>
              <a:rPr lang="en-US" sz="1400" b="1" i="0" dirty="0">
                <a:solidFill>
                  <a:srgbClr val="1A1A1A"/>
                </a:solidFill>
                <a:effectLst/>
                <a:latin typeface="Inter Tight" pitchFamily="34" charset="0"/>
                <a:ea typeface="Inter Tight" pitchFamily="34" charset="-122"/>
              </a:rPr>
              <a:t xml:space="preserve"> – Wiesmüller Georg</a:t>
            </a:r>
            <a:endParaRPr lang="en-US" sz="1400" b="1" dirty="0"/>
          </a:p>
        </p:txBody>
      </p:sp>
      <p:sp>
        <p:nvSpPr>
          <p:cNvPr id="14" name="Text 10"/>
          <p:cNvSpPr txBox="1"/>
          <p:nvPr/>
        </p:nvSpPr>
        <p:spPr>
          <a:xfrm>
            <a:off x="10477195" y="9620402"/>
            <a:ext cx="1714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2382805" y="9477298"/>
            <a:ext cx="4763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3D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github.com/OnlyMajorG/euro-air-quality-pipeline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7b83a09b7d7460e968eb29837a53c01f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619195"/>
            <a:ext cx="8382305" cy="5524805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6" name="Image 1" descr="gen-dedup-3e24162569c9ccec6ef978d308241ec6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619402" y="7905902"/>
            <a:ext cx="7429500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905695" y="3619195"/>
            <a:ext cx="7239305" cy="5524805"/>
          </a:xfrm>
          <a:prstGeom prst="roundRect">
            <a:avLst>
              <a:gd name="adj" fmla="val 1374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2" descr="gen-dedup-05030bc99a04ff1677c095ec34b67264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334549" y="6191402"/>
            <a:ext cx="6476695" cy="9144"/>
          </a:xfrm>
          <a:prstGeom prst="rect">
            <a:avLst/>
          </a:prstGeom>
        </p:spPr>
      </p:pic>
      <p:pic>
        <p:nvPicPr>
          <p:cNvPr id="9" name="Image 3" descr="gen-dedup-05030bc99a04ff1677c095ec34b67264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334549" y="7239305"/>
            <a:ext cx="6476695" cy="9144"/>
          </a:xfrm>
          <a:prstGeom prst="rect">
            <a:avLst/>
          </a:prstGeom>
        </p:spPr>
      </p:pic>
      <p:pic>
        <p:nvPicPr>
          <p:cNvPr id="10" name="Image 4" descr="gen-dedup-87af634b33fee6e916cbfae476c7b9b2.png"/>
          <p:cNvPicPr>
            <a:picLocks noChangeAspect="1"/>
          </p:cNvPicPr>
          <p:nvPr/>
        </p:nvPicPr>
        <p:blipFill>
          <a:blip r:embed="rId6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143000" y="838505"/>
            <a:ext cx="8572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Leitfrage &amp; Maßstab</a:t>
            </a:r>
            <a:endParaRPr lang="en-US" sz="12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2115007"/>
            <a:ext cx="16002000" cy="829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Woran messen wir „gesunde Luft"?</a:t>
            </a:r>
            <a:endParaRPr lang="en-US" sz="6000" dirty="0"/>
          </a:p>
        </p:txBody>
      </p:sp>
      <p:sp>
        <p:nvSpPr>
          <p:cNvPr id="13" name="Text 6"/>
          <p:cNvSpPr txBox="1"/>
          <p:nvPr/>
        </p:nvSpPr>
        <p:spPr>
          <a:xfrm>
            <a:off x="1619402" y="4000500"/>
            <a:ext cx="7429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52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Leitfrage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1619402" y="4429354"/>
            <a:ext cx="7429500" cy="198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Wie unterscheiden sich </a:t>
            </a:r>
            <a:r>
              <a:rPr lang="en-US" sz="2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PM2.5</a:t>
            </a:r>
            <a:r>
              <a:rPr lang="en-US" sz="2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, </a:t>
            </a:r>
            <a:r>
              <a:rPr lang="en-US" sz="2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PM10</a:t>
            </a:r>
            <a:r>
              <a:rPr lang="en-US" sz="2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 und </a:t>
            </a:r>
            <a:r>
              <a:rPr lang="en-US" sz="2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r>
              <a:rPr lang="en-US" sz="23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r>
              <a:rPr lang="en-US" sz="2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 zwischen acht europäischen Hauptstädten — und wie ordnet man sie gesundheitlich ein?</a:t>
            </a:r>
            <a:endParaRPr lang="en-US" sz="2800" dirty="0"/>
          </a:p>
        </p:txBody>
      </p:sp>
      <p:sp>
        <p:nvSpPr>
          <p:cNvPr id="15" name="Text 8"/>
          <p:cNvSpPr txBox="1"/>
          <p:nvPr/>
        </p:nvSpPr>
        <p:spPr>
          <a:xfrm>
            <a:off x="1619402" y="8191195"/>
            <a:ext cx="81153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Datenjahr: vollständiges Kalenderjahr </a:t>
            </a: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2025</a:t>
            </a: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· Tagesauflösung · gemessene EEA-Werte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10334549" y="4000500"/>
            <a:ext cx="6477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52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Maßstab · WHO 2021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0334549" y="4429354"/>
            <a:ext cx="6836054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3D3D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Jahres-Richtwerte für gesunde Luft (µg/m³)</a:t>
            </a:r>
            <a:endParaRPr lang="en-US" sz="2100" dirty="0"/>
          </a:p>
        </p:txBody>
      </p:sp>
      <p:sp>
        <p:nvSpPr>
          <p:cNvPr id="18" name="Shape 11"/>
          <p:cNvSpPr/>
          <p:nvPr/>
        </p:nvSpPr>
        <p:spPr>
          <a:xfrm>
            <a:off x="10334549" y="5648249"/>
            <a:ext cx="133502" cy="133502"/>
          </a:xfrm>
          <a:prstGeom prst="ellipse">
            <a:avLst/>
          </a:prstGeom>
          <a:solidFill>
            <a:srgbClr val="0064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10639044" y="5576926"/>
            <a:ext cx="56583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PM2.5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16464686" y="5410505"/>
            <a:ext cx="406908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4800" dirty="0"/>
          </a:p>
        </p:txBody>
      </p:sp>
      <p:sp>
        <p:nvSpPr>
          <p:cNvPr id="21" name="Shape 14"/>
          <p:cNvSpPr/>
          <p:nvPr/>
        </p:nvSpPr>
        <p:spPr>
          <a:xfrm>
            <a:off x="10334549" y="6696151"/>
            <a:ext cx="133502" cy="133502"/>
          </a:xfrm>
          <a:prstGeom prst="ellipse">
            <a:avLst/>
          </a:prstGeom>
          <a:solidFill>
            <a:srgbClr val="E98A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0639044" y="6624828"/>
            <a:ext cx="53154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PM10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6118129" y="6458407"/>
            <a:ext cx="811987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15</a:t>
            </a:r>
            <a:endParaRPr lang="en-US" sz="4800" dirty="0"/>
          </a:p>
        </p:txBody>
      </p:sp>
      <p:sp>
        <p:nvSpPr>
          <p:cNvPr id="24" name="Shape 17"/>
          <p:cNvSpPr/>
          <p:nvPr/>
        </p:nvSpPr>
        <p:spPr>
          <a:xfrm>
            <a:off x="10334549" y="7744054"/>
            <a:ext cx="133502" cy="133502"/>
          </a:xfrm>
          <a:prstGeom prst="ellipse">
            <a:avLst/>
          </a:prstGeom>
          <a:solidFill>
            <a:srgbClr val="8BB3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0639044" y="7649870"/>
            <a:ext cx="53154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</a:t>
            </a:r>
            <a:r>
              <a:rPr lang="en-US" sz="15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16118129" y="7505395"/>
            <a:ext cx="811987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</a:t>
            </a:r>
            <a:endParaRPr lang="en-US" sz="4800" dirty="0"/>
          </a:p>
        </p:txBody>
      </p:sp>
      <p:sp>
        <p:nvSpPr>
          <p:cNvPr id="27" name="Text 20"/>
          <p:cNvSpPr txBox="1"/>
          <p:nvPr/>
        </p:nvSpPr>
        <p:spPr>
          <a:xfrm>
            <a:off x="10334549" y="8477402"/>
            <a:ext cx="69723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Gesundheits-Orientierung der WHO — </a:t>
            </a:r>
            <a:r>
              <a:rPr lang="en-US" sz="1100" b="1" i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keine</a:t>
            </a: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EU-Grenzwerte (NO</a:t>
            </a:r>
            <a:r>
              <a:rPr lang="en-US" sz="9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-Grenze: 40 µg/m³).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9715500"/>
            <a:ext cx="8572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Euro Air Quality Pipeline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6002000" y="97155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7b83a09b7d7460e968eb29837a53c01f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pic>
        <p:nvPicPr>
          <p:cNvPr id="5" name="Image 1" descr="gen-dedup-3a3cba21c131ed6ed460c3f2462370a1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5715000"/>
            <a:ext cx="16002000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143000" y="6572707"/>
            <a:ext cx="5143500" cy="2857500"/>
          </a:xfrm>
          <a:prstGeom prst="roundRect">
            <a:avLst>
              <a:gd name="adj" fmla="val 265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43000" y="6572707"/>
            <a:ext cx="5143500" cy="28346"/>
          </a:xfrm>
          <a:prstGeom prst="roundRect">
            <a:avLst>
              <a:gd name="adj" fmla="val 267746"/>
            </a:avLst>
          </a:prstGeom>
          <a:solidFill>
            <a:srgbClr val="00649C"/>
          </a:solidFill>
          <a:ln w="12700">
            <a:solidFill>
              <a:srgbClr val="00649C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572707" y="6572707"/>
            <a:ext cx="5143500" cy="2857500"/>
          </a:xfrm>
          <a:prstGeom prst="roundRect">
            <a:avLst>
              <a:gd name="adj" fmla="val 265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572707" y="6572707"/>
            <a:ext cx="5143500" cy="28346"/>
          </a:xfrm>
          <a:prstGeom prst="roundRect">
            <a:avLst>
              <a:gd name="adj" fmla="val 267746"/>
            </a:avLst>
          </a:prstGeom>
          <a:solidFill>
            <a:srgbClr val="E98A2B"/>
          </a:solidFill>
          <a:ln w="12700">
            <a:solidFill>
              <a:srgbClr val="E98A2B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001500" y="6572707"/>
            <a:ext cx="5143500" cy="2857500"/>
          </a:xfrm>
          <a:prstGeom prst="roundRect">
            <a:avLst>
              <a:gd name="adj" fmla="val 265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2001500" y="6572707"/>
            <a:ext cx="5143500" cy="28346"/>
          </a:xfrm>
          <a:prstGeom prst="roundRect">
            <a:avLst>
              <a:gd name="adj" fmla="val 267746"/>
            </a:avLst>
          </a:prstGeom>
          <a:solidFill>
            <a:srgbClr val="8BB31D"/>
          </a:solidFill>
          <a:ln w="12700">
            <a:solidFill>
              <a:srgbClr val="8BB31D">
                <a:alpha val="0"/>
              </a:srgbClr>
            </a:solidFill>
            <a:prstDash val="solid"/>
          </a:ln>
        </p:spPr>
      </p:sp>
      <p:pic>
        <p:nvPicPr>
          <p:cNvPr id="12" name="Image 2" descr="gen-dedup-87af634b33fee6e916cbfae476c7b9b2.png"/>
          <p:cNvPicPr>
            <a:picLocks noChangeAspect="1"/>
          </p:cNvPicPr>
          <p:nvPr/>
        </p:nvPicPr>
        <p:blipFill>
          <a:blip r:embed="rId5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838505"/>
            <a:ext cx="8572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Datengrundlage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115007"/>
            <a:ext cx="16002000" cy="829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Was in die Analyse einfließt</a:t>
            </a:r>
            <a:endParaRPr lang="en-US" sz="60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3619195"/>
            <a:ext cx="36201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</a:t>
            </a:r>
            <a:endParaRPr lang="en-US" sz="72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4667098"/>
            <a:ext cx="362011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Hauptstädte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Wien · Berlin · Paris · Madrid · Rom · Amsterdam · Warschau · Prag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333695" y="3619195"/>
            <a:ext cx="2667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365</a:t>
            </a:r>
            <a:endParaRPr lang="en-US" sz="7200" dirty="0"/>
          </a:p>
        </p:txBody>
      </p:sp>
      <p:sp>
        <p:nvSpPr>
          <p:cNvPr id="18" name="Text 13"/>
          <p:cNvSpPr txBox="1"/>
          <p:nvPr/>
        </p:nvSpPr>
        <p:spPr>
          <a:xfrm>
            <a:off x="5333695" y="4667098"/>
            <a:ext cx="2667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Tage in 2025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vollständiges Kalenderjahr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572500" y="3619195"/>
            <a:ext cx="266730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7200" dirty="0"/>
          </a:p>
        </p:txBody>
      </p:sp>
      <p:sp>
        <p:nvSpPr>
          <p:cNvPr id="20" name="Text 15"/>
          <p:cNvSpPr txBox="1"/>
          <p:nvPr/>
        </p:nvSpPr>
        <p:spPr>
          <a:xfrm>
            <a:off x="8572500" y="4667098"/>
            <a:ext cx="2667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Schadstoffe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PM2.5 · PM10 · NO</a:t>
            </a:r>
            <a:r>
              <a:rPr lang="en-US" sz="900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1811305" y="3619195"/>
            <a:ext cx="533461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144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2,35 Mio.</a:t>
            </a:r>
            <a:endParaRPr lang="en-US" sz="7200" dirty="0"/>
          </a:p>
        </p:txBody>
      </p:sp>
      <p:sp>
        <p:nvSpPr>
          <p:cNvPr id="22" name="Text 17"/>
          <p:cNvSpPr txBox="1"/>
          <p:nvPr/>
        </p:nvSpPr>
        <p:spPr>
          <a:xfrm>
            <a:off x="11811305" y="4667098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validierte EEA-Stundenwerte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 7 938 Tagesmittel in der Gold-Schicht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6096305"/>
            <a:ext cx="1600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29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Drei verschiedenartige Quellen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524305" y="6858000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16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Datei / Datenbank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524305" y="7144207"/>
            <a:ext cx="4381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EEA</a:t>
            </a:r>
            <a:endParaRPr lang="en-US" sz="3100" dirty="0"/>
          </a:p>
        </p:txBody>
      </p:sp>
      <p:sp>
        <p:nvSpPr>
          <p:cNvPr id="26" name="Text 21"/>
          <p:cNvSpPr txBox="1"/>
          <p:nvPr/>
        </p:nvSpPr>
        <p:spPr>
          <a:xfrm>
            <a:off x="1524305" y="7867498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European Environment Agency.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Gemessene, validierte Stundenwerte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– die historische Faktenbasis.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524305" y="8598103"/>
            <a:ext cx="4381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Parquet → PostgreSQL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953098" y="6858000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16" dirty="0">
                <a:solidFill>
                  <a:srgbClr val="E98A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Web-Scraping (HTML)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953098" y="7144207"/>
            <a:ext cx="4381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Wikipedia</a:t>
            </a:r>
            <a:endParaRPr lang="en-US" sz="3100" dirty="0"/>
          </a:p>
        </p:txBody>
      </p:sp>
      <p:sp>
        <p:nvSpPr>
          <p:cNvPr id="30" name="Text 25"/>
          <p:cNvSpPr txBox="1"/>
          <p:nvPr/>
        </p:nvSpPr>
        <p:spPr>
          <a:xfrm>
            <a:off x="6953098" y="7867498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Städtische Metadaten: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Einwohner, Fläche, Dichte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– Kontext für die Einordnung.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6953098" y="8598103"/>
            <a:ext cx="4381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Stadt-Profile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2382805" y="6858000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16" dirty="0">
                <a:solidFill>
                  <a:srgbClr val="8BB3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REST-API (JSON)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2382805" y="7144207"/>
            <a:ext cx="4381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3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Open-Meteo</a:t>
            </a:r>
            <a:endParaRPr lang="en-US" sz="3100" dirty="0"/>
          </a:p>
        </p:txBody>
      </p:sp>
      <p:sp>
        <p:nvSpPr>
          <p:cNvPr id="34" name="Text 29"/>
          <p:cNvSpPr txBox="1"/>
          <p:nvPr/>
        </p:nvSpPr>
        <p:spPr>
          <a:xfrm>
            <a:off x="12382805" y="7867498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Aktuelle Modellwerte –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192 Live-Events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via Kafka → Spark als Echtzeit-Nachweis.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12382805" y="8598103"/>
            <a:ext cx="4381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Städte × 24 h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143000" y="9715500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Euro Air Quality Pipeline · Bronze → Silver → Gold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16002000" y="97155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61ef21e88ae32fc2e658ed40af223781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33369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6" name="Image 1" descr="gen-dedup-5d23e0881c0a1d162f76601fb25a2736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12954305" y="5952744"/>
            <a:ext cx="4190695" cy="9144"/>
          </a:xfrm>
          <a:prstGeom prst="rect">
            <a:avLst/>
          </a:prstGeom>
        </p:spPr>
      </p:pic>
      <p:pic>
        <p:nvPicPr>
          <p:cNvPr id="7" name="Image 2" descr="gen-dedup-5d23e0881c0a1d162f76601fb25a2736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12954305" y="7667244"/>
            <a:ext cx="4190695" cy="9144"/>
          </a:xfrm>
          <a:prstGeom prst="rect">
            <a:avLst/>
          </a:prstGeom>
        </p:spPr>
      </p:pic>
      <p:pic>
        <p:nvPicPr>
          <p:cNvPr id="8" name="Image 3" descr="gen-dedup-6673c720f7fa1a226c4759d788ccb0b5.jpg"/>
          <p:cNvPicPr>
            <a:picLocks noChangeAspect="1"/>
          </p:cNvPicPr>
          <p:nvPr/>
        </p:nvPicPr>
        <p:blipFill>
          <a:blip r:embed="rId5"/>
          <a:srcRect l="-4804" r="-4804"/>
          <a:stretch/>
        </p:blipFill>
        <p:spPr>
          <a:xfrm>
            <a:off x="1333195" y="4095598"/>
            <a:ext cx="10858500" cy="4953305"/>
          </a:xfrm>
          <a:prstGeom prst="rect">
            <a:avLst/>
          </a:prstGeom>
        </p:spPr>
      </p:pic>
      <p:pic>
        <p:nvPicPr>
          <p:cNvPr id="9" name="Image 4" descr="gen-dedup-87af634b33fee6e916cbfae476c7b9b2.png"/>
          <p:cNvPicPr>
            <a:picLocks noChangeAspect="1"/>
          </p:cNvPicPr>
          <p:nvPr/>
        </p:nvPicPr>
        <p:blipFill>
          <a:blip r:embed="rId6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Befund 1 — Schadstoffvergleich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2115007"/>
            <a:ext cx="16002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Keine Stadt im grünen Bereich.</a:t>
            </a:r>
            <a:endParaRPr lang="en-US" sz="60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3124505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r>
              <a:rPr lang="en-US" sz="17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-Jahresmittel zwischen 15,3 und 25,0 µg/m³ — das 1,5- bis 2,5-fache des WHO-Werts (10).</a:t>
            </a:r>
            <a:endParaRPr lang="en-US" sz="2100" dirty="0"/>
          </a:p>
        </p:txBody>
      </p:sp>
      <p:sp>
        <p:nvSpPr>
          <p:cNvPr id="13" name="Text 6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Wichtigste Beobachtungen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12954305" y="4524451"/>
            <a:ext cx="4191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100 %</a:t>
            </a:r>
            <a:endParaRPr lang="en-US" sz="4800" dirty="0"/>
          </a:p>
        </p:txBody>
      </p:sp>
      <p:sp>
        <p:nvSpPr>
          <p:cNvPr id="15" name="Text 8"/>
          <p:cNvSpPr txBox="1"/>
          <p:nvPr/>
        </p:nvSpPr>
        <p:spPr>
          <a:xfrm>
            <a:off x="12954305" y="5248656"/>
            <a:ext cx="48774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der Städte überschreiten den WHO-NO</a:t>
            </a:r>
            <a:r>
              <a:rPr lang="en-US" sz="11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-Richtwert.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12954305" y="6238951"/>
            <a:ext cx="419161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25,0</a:t>
            </a:r>
            <a:endParaRPr lang="en-US" sz="4800" dirty="0"/>
          </a:p>
        </p:txBody>
      </p:sp>
      <p:sp>
        <p:nvSpPr>
          <p:cNvPr id="17" name="Text 10"/>
          <p:cNvSpPr txBox="1"/>
          <p:nvPr/>
        </p:nvSpPr>
        <p:spPr>
          <a:xfrm>
            <a:off x="12954305" y="6963156"/>
            <a:ext cx="41916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µg/m³ NO</a:t>
            </a:r>
            <a:r>
              <a:rPr lang="en-US" sz="11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in </a:t>
            </a: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Rom</a:t>
            </a:r>
            <a:r>
              <a:rPr lang="en-US" sz="13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— Spitzenreiter, das 2,5-fache des WHO-Werts.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12954305" y="7953451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C039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Datenlücke offen ausgewiesen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12954305" y="8248802"/>
            <a:ext cx="4191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Für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Rom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liegen keine validierten PM-Werte vor. Die Lücke bleibt sichtbar — wir interpolieren nicht.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9430207"/>
            <a:ext cx="5532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PM2.5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971446" y="9430207"/>
            <a:ext cx="4764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PM10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2725826" y="9430207"/>
            <a:ext cx="4672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r>
              <a:rPr lang="en-US" sz="8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3470148" y="9430207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WHO-2021-Jahresrichtwert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43000" y="9905695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Quelle: EEA · Jahresmittel 2025 · Gold-Schicht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6002000" y="9905695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7b83a09b7d7460e968eb29837a53c01f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33369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6" name="Image 1" descr="gen-dedup-b39a2253ea1b55f9dd0bd1e5fd9a046f.jpg"/>
          <p:cNvPicPr>
            <a:picLocks noChangeAspect="1"/>
          </p:cNvPicPr>
          <p:nvPr/>
        </p:nvPicPr>
        <p:blipFill>
          <a:blip r:embed="rId4"/>
          <a:srcRect l="-18505" r="-18505"/>
          <a:stretch/>
        </p:blipFill>
        <p:spPr>
          <a:xfrm>
            <a:off x="1333195" y="4095598"/>
            <a:ext cx="10858500" cy="4953305"/>
          </a:xfrm>
          <a:prstGeom prst="rect">
            <a:avLst/>
          </a:prstGeom>
        </p:spPr>
      </p:pic>
      <p:pic>
        <p:nvPicPr>
          <p:cNvPr id="7" name="Image 2" descr="gen-dedup-87af634b33fee6e916cbfae476c7b9b2.png"/>
          <p:cNvPicPr>
            <a:picLocks noChangeAspect="1"/>
          </p:cNvPicPr>
          <p:nvPr/>
        </p:nvPicPr>
        <p:blipFill>
          <a:blip r:embed="rId5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Befund 2 — PM2.5-Rangfolge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115007"/>
            <a:ext cx="16798442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Beim Feinstaub liegt der Osten vorn.</a:t>
            </a:r>
            <a:endParaRPr lang="en-US" sz="60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3124505"/>
            <a:ext cx="1627632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Warschau (14,7) und Prag (14,5) führen. Madrid (9,3) am unteren Ende — aber alle deutlich über WHO 5.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PM2.5-Jahresmittel (µg/m³)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12954305" y="4953305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2954305" y="4686300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3239598" y="4647895"/>
            <a:ext cx="34482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Warschau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6683228" y="4600346"/>
            <a:ext cx="5559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14,7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12954305" y="5438851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2954305" y="5171846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3239598" y="5134356"/>
            <a:ext cx="34482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Prag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6683228" y="5086807"/>
            <a:ext cx="5559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14,5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954305" y="5924398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2954305" y="5658307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3239598" y="5619902"/>
            <a:ext cx="34482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Berlin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6683228" y="5572354"/>
            <a:ext cx="5559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11,4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12954305" y="6410858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2954305" y="6143854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3239598" y="6105449"/>
            <a:ext cx="34482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Paris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16683228" y="6057900"/>
            <a:ext cx="5559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11,1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2954305" y="6896405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2954305" y="6629400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13239598" y="6590995"/>
            <a:ext cx="35817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Wien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16813073" y="6543446"/>
            <a:ext cx="396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9,8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12954305" y="7381951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12954305" y="7114946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13239598" y="7077456"/>
            <a:ext cx="35817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Amsterdam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16813073" y="7029907"/>
            <a:ext cx="396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9,5</a:t>
            </a:r>
            <a:endParaRPr lang="en-US" sz="1800" dirty="0"/>
          </a:p>
        </p:txBody>
      </p:sp>
      <p:sp>
        <p:nvSpPr>
          <p:cNvPr id="36" name="Shape 31"/>
          <p:cNvSpPr/>
          <p:nvPr/>
        </p:nvSpPr>
        <p:spPr>
          <a:xfrm>
            <a:off x="12954305" y="7867498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12954305" y="7601407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13239598" y="7563002"/>
            <a:ext cx="35817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Madrid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16813073" y="7515454"/>
            <a:ext cx="396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9,3</a:t>
            </a:r>
            <a:endParaRPr lang="en-US" sz="1800" dirty="0"/>
          </a:p>
        </p:txBody>
      </p:sp>
      <p:sp>
        <p:nvSpPr>
          <p:cNvPr id="40" name="Text 35"/>
          <p:cNvSpPr txBox="1"/>
          <p:nvPr/>
        </p:nvSpPr>
        <p:spPr>
          <a:xfrm>
            <a:off x="12954305" y="8039405"/>
            <a:ext cx="2862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13239598" y="8001000"/>
            <a:ext cx="36576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8A8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Rom (keine PM-Daten)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16888968" y="8001000"/>
            <a:ext cx="30632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0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n/a</a:t>
            </a:r>
            <a:endParaRPr lang="en-US" sz="1300" dirty="0"/>
          </a:p>
        </p:txBody>
      </p:sp>
      <p:sp>
        <p:nvSpPr>
          <p:cNvPr id="43" name="Text 38"/>
          <p:cNvSpPr txBox="1"/>
          <p:nvPr/>
        </p:nvSpPr>
        <p:spPr>
          <a:xfrm>
            <a:off x="1143000" y="9430207"/>
            <a:ext cx="1600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Fehlerbalken = Standardabweichung der Tageswerte. Benachbarte Städte (z. B. Berlin/Paris, Wien/Amsterdam/Madrid) sind </a:t>
            </a:r>
            <a:r>
              <a:rPr lang="en-US" sz="1100" b="1" i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nicht sicher</a:t>
            </a: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unterscheidbar.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1143000" y="9905695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Quelle: EEA · n = 348–365 Tageswerte je Stadt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16002000" y="9905695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51d0775571a9bfe2ccb07aa124d33b2c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33369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954305" y="7524598"/>
            <a:ext cx="4190695" cy="1619402"/>
          </a:xfrm>
          <a:prstGeom prst="roundRect">
            <a:avLst>
              <a:gd name="adj" fmla="val 4687"/>
            </a:avLst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12954305" y="7524598"/>
            <a:ext cx="28346" cy="1619402"/>
          </a:xfrm>
          <a:prstGeom prst="roundRect">
            <a:avLst>
              <a:gd name="adj" fmla="val 267746"/>
            </a:avLst>
          </a:prstGeom>
          <a:solidFill>
            <a:srgbClr val="E98A2B"/>
          </a:solidFill>
          <a:ln w="12700">
            <a:solidFill>
              <a:srgbClr val="E98A2B">
                <a:alpha val="0"/>
              </a:srgbClr>
            </a:solidFill>
            <a:prstDash val="solid"/>
          </a:ln>
        </p:spPr>
      </p:sp>
      <p:pic>
        <p:nvPicPr>
          <p:cNvPr id="8" name="Image 1" descr="gen-dedup-2a24d208e8c73d71d37bb8fe1b01421d.jpg"/>
          <p:cNvPicPr>
            <a:picLocks noChangeAspect="1"/>
          </p:cNvPicPr>
          <p:nvPr/>
        </p:nvPicPr>
        <p:blipFill>
          <a:blip r:embed="rId4"/>
          <a:srcRect l="-18505" r="-18505"/>
          <a:stretch/>
        </p:blipFill>
        <p:spPr>
          <a:xfrm>
            <a:off x="1333195" y="4095598"/>
            <a:ext cx="10858500" cy="4953305"/>
          </a:xfrm>
          <a:prstGeom prst="rect">
            <a:avLst/>
          </a:prstGeom>
        </p:spPr>
      </p:pic>
      <p:pic>
        <p:nvPicPr>
          <p:cNvPr id="9" name="Image 2" descr="gen-dedup-87af634b33fee6e916cbfae476c7b9b2.png"/>
          <p:cNvPicPr>
            <a:picLocks noChangeAspect="1"/>
          </p:cNvPicPr>
          <p:nvPr/>
        </p:nvPicPr>
        <p:blipFill>
          <a:blip r:embed="rId5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Befund 3 — Verteilung &amp; Ausreißer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2115007"/>
            <a:ext cx="16798442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Der Mittelwert verbirgt die Spitzen.</a:t>
            </a:r>
            <a:endParaRPr lang="en-US" sz="60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3124505"/>
            <a:ext cx="1600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Median jedes Schadstoffs liegt über dem WHO-Wert — und einzelne Tage reichen vielfach höher.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E98A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Wie liest man den Boxplot?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12954305" y="5067605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2954305" y="4629607"/>
            <a:ext cx="381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▭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13468198" y="4629607"/>
            <a:ext cx="240304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Box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= mittlere 50 % der Tage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2954305" y="5629961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2954305" y="5229454"/>
            <a:ext cx="381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98A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3468198" y="5229454"/>
            <a:ext cx="302666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Linie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= Median (mittlerer Tageswert)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2954305" y="6182258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2954305" y="5790895"/>
            <a:ext cx="381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D3D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○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3468198" y="5790895"/>
            <a:ext cx="2822753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Punkte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= einzelne Ausreißer-Tage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2954305" y="6463894"/>
            <a:ext cx="381305" cy="1920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3468198" y="6340450"/>
            <a:ext cx="2562149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Strich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= WHO-Jahresrichtwert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3239598" y="7763256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Take-away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3239598" y="8029346"/>
            <a:ext cx="362011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PM10-Tageswerte erreichen </a:t>
            </a:r>
            <a:r>
              <a:rPr lang="en-US" sz="16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über 80 µg/m³</a:t>
            </a:r>
            <a:r>
              <a:rPr lang="en-US" sz="16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 — der WHO-Tagesrichtwert ist nochmals strenger als der Jahres­wert.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1143000" y="9715500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Quelle: EEA · alle Tagesmittel 2025 · 7 938 Beobachtungen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6002000" y="97155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7b83a09b7d7460e968eb29837a53c01f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33369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6" name="Image 1" descr="gen-dedup-5d23e0881c0a1d162f76601fb25a2736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12954305" y="5952744"/>
            <a:ext cx="4190695" cy="9144"/>
          </a:xfrm>
          <a:prstGeom prst="rect">
            <a:avLst/>
          </a:prstGeom>
        </p:spPr>
      </p:pic>
      <p:pic>
        <p:nvPicPr>
          <p:cNvPr id="7" name="Image 2" descr="gen-dedup-c55831526f70187a355db887c9a861f6.jpg"/>
          <p:cNvPicPr>
            <a:picLocks noChangeAspect="1"/>
          </p:cNvPicPr>
          <p:nvPr/>
        </p:nvPicPr>
        <p:blipFill>
          <a:blip r:embed="rId5"/>
          <a:srcRect l="-4804" r="-4804"/>
          <a:stretch/>
        </p:blipFill>
        <p:spPr>
          <a:xfrm>
            <a:off x="1333195" y="4095598"/>
            <a:ext cx="10858500" cy="4953305"/>
          </a:xfrm>
          <a:prstGeom prst="rect">
            <a:avLst/>
          </a:prstGeom>
        </p:spPr>
      </p:pic>
      <p:pic>
        <p:nvPicPr>
          <p:cNvPr id="8" name="Image 3" descr="gen-dedup-87af634b33fee6e916cbfae476c7b9b2.png"/>
          <p:cNvPicPr>
            <a:picLocks noChangeAspect="1"/>
          </p:cNvPicPr>
          <p:nvPr/>
        </p:nvPicPr>
        <p:blipFill>
          <a:blip r:embed="rId6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Befund 4 — Saisonalität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2115007"/>
            <a:ext cx="16002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Der Winter treibt PM2.5.</a:t>
            </a:r>
            <a:endParaRPr lang="en-US" sz="60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3124505"/>
            <a:ext cx="1600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Tagesverlauf der datenreichsten Städte — Heizperiode &amp; Inversionswetter heben die Werte deutlich.</a:t>
            </a:r>
            <a:endParaRPr lang="en-US" sz="2100" dirty="0"/>
          </a:p>
        </p:txBody>
      </p:sp>
      <p:sp>
        <p:nvSpPr>
          <p:cNvPr id="12" name="Text 6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Was wir sehen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2954305" y="4476902"/>
            <a:ext cx="419161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Im </a:t>
            </a:r>
            <a:r>
              <a:rPr lang="en-US" sz="14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Winter</a:t>
            </a:r>
            <a:r>
              <a:rPr lang="en-US" sz="14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Spitzenwerte von 40–48 µg/m³ — fast das Zehnfache des WHO-Werts. Im </a:t>
            </a:r>
            <a:r>
              <a:rPr lang="en-US" sz="14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Sommer</a:t>
            </a:r>
            <a:r>
              <a:rPr lang="en-US" sz="14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deutlich niedriger, häufig nahe oder unter 10 µg/m³.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12954305" y="6238951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Bekannter Effekt — dokumentiert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12954305" y="7392010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2954305" y="6791249"/>
            <a:ext cx="2862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1.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13392302" y="6791249"/>
            <a:ext cx="37536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Heizen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in der kalten Jahres­zeit setzt mehr Feinstaub frei.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12954305" y="8118043"/>
            <a:ext cx="4190695" cy="914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12954305" y="7518197"/>
            <a:ext cx="2862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13392302" y="7518197"/>
            <a:ext cx="37536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Inversionswetter­lagen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halten Schadstoffe am Boden.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2954305" y="8245145"/>
            <a:ext cx="3191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13392302" y="8245145"/>
            <a:ext cx="384962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Lücken bleiben Lücken —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keine Interpolation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" y="9715500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Quelle: EEA · Tagesmittel · Berlin · Madrid · Paris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6002000" y="97155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4da382fbdfcacdafdb99f3084f56af38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33369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6" name="Image 1" descr="gen-dedup-5d23e0881c0a1d162f76601fb25a2736.png"/>
          <p:cNvPicPr>
            <a:picLocks noChangeAspect="1"/>
          </p:cNvPicPr>
          <p:nvPr/>
        </p:nvPicPr>
        <p:blipFill>
          <a:blip r:embed="rId4"/>
          <a:srcRect l="-2078" r="-2078"/>
          <a:stretch/>
        </p:blipFill>
        <p:spPr>
          <a:xfrm>
            <a:off x="12954305" y="6715354"/>
            <a:ext cx="4190695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2954305" y="7000646"/>
            <a:ext cx="4190695" cy="1476756"/>
          </a:xfrm>
          <a:prstGeom prst="roundRect">
            <a:avLst>
              <a:gd name="adj" fmla="val 5139"/>
            </a:avLst>
          </a:prstGeom>
          <a:solidFill>
            <a:srgbClr val="F5F5F5"/>
          </a:solidFill>
          <a:ln/>
        </p:spPr>
      </p:sp>
      <p:sp>
        <p:nvSpPr>
          <p:cNvPr id="8" name="Shape 4"/>
          <p:cNvSpPr/>
          <p:nvPr/>
        </p:nvSpPr>
        <p:spPr>
          <a:xfrm>
            <a:off x="12954305" y="7000646"/>
            <a:ext cx="28346" cy="1476756"/>
          </a:xfrm>
          <a:prstGeom prst="roundRect">
            <a:avLst>
              <a:gd name="adj" fmla="val 267746"/>
            </a:avLst>
          </a:prstGeom>
          <a:solidFill>
            <a:srgbClr val="00649C"/>
          </a:solidFill>
          <a:ln w="12700">
            <a:solidFill>
              <a:srgbClr val="00649C">
                <a:alpha val="0"/>
              </a:srgbClr>
            </a:solidFill>
            <a:prstDash val="solid"/>
          </a:ln>
        </p:spPr>
      </p:sp>
      <p:pic>
        <p:nvPicPr>
          <p:cNvPr id="9" name="Image 2" descr="gen-dedup-4872e0d2b32e4310b2f37e3b66f10aba.jpg"/>
          <p:cNvPicPr>
            <a:picLocks noChangeAspect="1"/>
          </p:cNvPicPr>
          <p:nvPr/>
        </p:nvPicPr>
        <p:blipFill>
          <a:blip r:embed="rId5"/>
          <a:srcRect l="-18505" r="-18505"/>
          <a:stretch/>
        </p:blipFill>
        <p:spPr>
          <a:xfrm>
            <a:off x="1333195" y="4095598"/>
            <a:ext cx="10858500" cy="4953305"/>
          </a:xfrm>
          <a:prstGeom prst="rect">
            <a:avLst/>
          </a:prstGeom>
        </p:spPr>
      </p:pic>
      <p:pic>
        <p:nvPicPr>
          <p:cNvPr id="10" name="Image 3" descr="gen-dedup-87af634b33fee6e916cbfae476c7b9b2.png"/>
          <p:cNvPicPr>
            <a:picLocks noChangeAspect="1"/>
          </p:cNvPicPr>
          <p:nvPr/>
        </p:nvPicPr>
        <p:blipFill>
          <a:blip r:embed="rId6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Befund 5 — Bevölkerungs­dichte vs. PM2.5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2115007"/>
            <a:ext cx="16337585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Dichte erklärt die Belastung nicht.</a:t>
            </a:r>
            <a:endParaRPr lang="en-US" sz="60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3124505"/>
            <a:ext cx="1600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Explorativ verknüpft: Bevölkerungsdichte (Wikipedia) vs. PM2.5 (EEA) — der Zusammenhang ist nicht robust.</a:t>
            </a:r>
            <a:endParaRPr lang="en-US" sz="2100" dirty="0"/>
          </a:p>
        </p:txBody>
      </p:sp>
      <p:sp>
        <p:nvSpPr>
          <p:cNvPr id="14" name="Text 8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Pearson-Korrelation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2954305" y="4429354"/>
            <a:ext cx="5000854" cy="1010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88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 = −0,23</a:t>
            </a:r>
            <a:endParaRPr lang="en-US" sz="7200" dirty="0"/>
          </a:p>
        </p:txBody>
      </p:sp>
      <p:sp>
        <p:nvSpPr>
          <p:cNvPr id="16" name="Text 10"/>
          <p:cNvSpPr txBox="1"/>
          <p:nvPr/>
        </p:nvSpPr>
        <p:spPr>
          <a:xfrm>
            <a:off x="12954305" y="5715000"/>
            <a:ext cx="4191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n = 7. Ohne das nicht vergleichbare Paris steigt r auf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−0,95</a:t>
            </a:r>
            <a:r>
              <a:rPr lang="en-US" sz="12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— nicht robust, rein explorativ.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3239598" y="7191756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00649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Sonderfall Paris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3239598" y="7438644"/>
            <a:ext cx="3620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Paris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ist Kernkommune (~105 km²) — mit den anderen Städten nicht direkt vergleichbar (MAUP).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2954305" y="8762695"/>
            <a:ext cx="4191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Zwei Quellen (Scraping + EEA) verknüpft — Paris gesondert markiert, </a:t>
            </a:r>
            <a:r>
              <a:rPr lang="en-US" sz="1000" b="1" i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ohne</a:t>
            </a:r>
            <a:r>
              <a:rPr lang="en-US" sz="10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Kausalbehauptung.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9715500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Quellen: Wikipedia (Dichte) · EEA (PM2.5) · Jahresmittel 2025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6002000" y="97155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1ee21ae7610728a26ca838ad011fd321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3905402"/>
            <a:ext cx="11239805" cy="5143500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9144000"/>
            <a:ext cx="16002000" cy="514807"/>
          </a:xfrm>
          <a:prstGeom prst="roundRect">
            <a:avLst>
              <a:gd name="adj" fmla="val 7460"/>
            </a:avLst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9144000"/>
            <a:ext cx="28346" cy="514807"/>
          </a:xfrm>
          <a:prstGeom prst="roundRect">
            <a:avLst>
              <a:gd name="adj" fmla="val 135486"/>
            </a:avLst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pic>
        <p:nvPicPr>
          <p:cNvPr id="8" name="Image 1" descr="gen-dedup-0f5fab1f2778ea572ab0f15a1d8773af.jpg"/>
          <p:cNvPicPr>
            <a:picLocks noChangeAspect="1"/>
          </p:cNvPicPr>
          <p:nvPr/>
        </p:nvPicPr>
        <p:blipFill>
          <a:blip r:embed="rId4"/>
          <a:srcRect l="-7004" r="-7004"/>
          <a:stretch/>
        </p:blipFill>
        <p:spPr>
          <a:xfrm>
            <a:off x="1333195" y="4095598"/>
            <a:ext cx="10858500" cy="4762195"/>
          </a:xfrm>
          <a:prstGeom prst="rect">
            <a:avLst/>
          </a:prstGeom>
        </p:spPr>
      </p:pic>
      <p:pic>
        <p:nvPicPr>
          <p:cNvPr id="9" name="Image 2" descr="gen-dedup-87af634b33fee6e916cbfae476c7b9b2.png"/>
          <p:cNvPicPr>
            <a:picLocks noChangeAspect="1"/>
          </p:cNvPicPr>
          <p:nvPr/>
        </p:nvPicPr>
        <p:blipFill>
          <a:blip r:embed="rId5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Befund 6 — Live-Momentaufnahme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2115007"/>
            <a:ext cx="16002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Die Pipeline läuft — live.</a:t>
            </a:r>
            <a:endParaRPr lang="en-US" sz="60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3124505"/>
            <a:ext cx="166878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192 aktuelle Stundenwerte von Open-Meteo via Kafka → Spark. Bewusst </a:t>
            </a:r>
            <a:r>
              <a:rPr lang="en-US" sz="2100" b="1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getrennt</a:t>
            </a: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 von der historischen Messanalyse.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12954305" y="4048049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8BB31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Datenfluss · Kafka → Spark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12954305" y="4524451"/>
            <a:ext cx="4190695" cy="647395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2954305" y="4524451"/>
            <a:ext cx="28346" cy="647395"/>
          </a:xfrm>
          <a:prstGeom prst="roundRect">
            <a:avLst>
              <a:gd name="adj" fmla="val 203229"/>
            </a:avLst>
          </a:prstGeom>
          <a:solidFill>
            <a:srgbClr val="8BB31D"/>
          </a:solidFill>
          <a:ln w="12700">
            <a:solidFill>
              <a:srgbClr val="8BB31D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3153644" y="4772254"/>
            <a:ext cx="2286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3534949" y="4667098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Open-Meteo REST-API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3534949" y="487649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JSON, 8 Städte × 24 h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2954305" y="5248656"/>
            <a:ext cx="41916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12954305" y="5393131"/>
            <a:ext cx="4190695" cy="647395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2954305" y="5393131"/>
            <a:ext cx="28346" cy="647395"/>
          </a:xfrm>
          <a:prstGeom prst="roundRect">
            <a:avLst>
              <a:gd name="adj" fmla="val 203229"/>
            </a:avLst>
          </a:prstGeom>
          <a:solidFill>
            <a:srgbClr val="8BB31D"/>
          </a:solidFill>
          <a:ln w="12700">
            <a:solidFill>
              <a:srgbClr val="8BB31D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3153644" y="5640934"/>
            <a:ext cx="2286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3534949" y="5535778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Kafka Topic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3534949" y="574517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flache JSON-Nachrichten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2954305" y="6116422"/>
            <a:ext cx="41916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12954305" y="6261811"/>
            <a:ext cx="4190695" cy="647395"/>
          </a:xfrm>
          <a:prstGeom prst="roundRect">
            <a:avLst>
              <a:gd name="adj" fmla="val 8898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2954305" y="6261811"/>
            <a:ext cx="28346" cy="647395"/>
          </a:xfrm>
          <a:prstGeom prst="roundRect">
            <a:avLst>
              <a:gd name="adj" fmla="val 203229"/>
            </a:avLst>
          </a:prstGeom>
          <a:solidFill>
            <a:srgbClr val="8BB31D"/>
          </a:solidFill>
          <a:ln w="12700">
            <a:solidFill>
              <a:srgbClr val="8BB31D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3153644" y="6508699"/>
            <a:ext cx="2286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13534949" y="6404458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Spark Structured Streaming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13534949" y="661385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liest Strom, schreibt Silver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2954305" y="6985102"/>
            <a:ext cx="41916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0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12954305" y="7130491"/>
            <a:ext cx="4190695" cy="629107"/>
          </a:xfrm>
          <a:prstGeom prst="roundRect">
            <a:avLst>
              <a:gd name="adj" fmla="val 9157"/>
            </a:avLst>
          </a:prstGeom>
          <a:solidFill>
            <a:srgbClr val="8BB3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13125298" y="7368235"/>
            <a:ext cx="2286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13506602" y="7263079"/>
            <a:ext cx="34674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192 Live-Events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13506602" y="7473391"/>
            <a:ext cx="34674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Echtzeit-Nachweis erbracht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429207" y="9286646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Ehrlich: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Open-Meteo liefert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Modell-Stundenwerte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— keine validierten EEA-Messungen. Deshalb bewusst </a:t>
            </a:r>
            <a:r>
              <a:rPr lang="en-US" sz="1200" b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nicht</a:t>
            </a:r>
            <a:r>
              <a:rPr lang="en-US" sz="1200" dirty="0">
                <a:solidFill>
                  <a:srgbClr val="3D3D3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gegen die WHO-Jahreswerte gestellt.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143000" y="9924898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Quelle: Open-Meteo · Stand 2026-06-29 23:00 UTC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16002000" y="9924898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61ef21e88ae32fc2e658ed40af223781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3000" y="4000500"/>
            <a:ext cx="7810805" cy="2476195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34195" y="4000500"/>
            <a:ext cx="7810805" cy="2476195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6762902"/>
            <a:ext cx="7810805" cy="2476195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34195" y="6762902"/>
            <a:ext cx="7810805" cy="2476195"/>
          </a:xfrm>
          <a:prstGeom prst="roundRect">
            <a:avLst>
              <a:gd name="adj" fmla="val 3065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pic>
        <p:nvPicPr>
          <p:cNvPr id="9" name="Image 1" descr="gen-dedup-87af634b33fee6e916cbfae476c7b9b2.png"/>
          <p:cNvPicPr>
            <a:picLocks noChangeAspect="1"/>
          </p:cNvPicPr>
          <p:nvPr/>
        </p:nvPicPr>
        <p:blipFill>
          <a:blip r:embed="rId4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Einordnung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115007"/>
            <a:ext cx="16002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Was die Daten </a:t>
            </a:r>
            <a:r>
              <a:rPr lang="en-US" sz="6000" b="1" i="1" kern="0" spc="-90" dirty="0">
                <a:solidFill>
                  <a:srgbClr val="C039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nicht</a:t>
            </a: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 sagen.</a:t>
            </a:r>
            <a:endParaRPr lang="en-US" sz="60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3124505"/>
            <a:ext cx="1600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6B6B6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Vier Prinzipien — Grenzen offen benennen wirkt stärker, nicht schwächer.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1619402" y="4286707"/>
            <a:ext cx="74797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4500" dirty="0"/>
          </a:p>
        </p:txBody>
      </p:sp>
      <p:sp>
        <p:nvSpPr>
          <p:cNvPr id="14" name="Text 10"/>
          <p:cNvSpPr txBox="1"/>
          <p:nvPr/>
        </p:nvSpPr>
        <p:spPr>
          <a:xfrm>
            <a:off x="2475281" y="4647895"/>
            <a:ext cx="25054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Deskriptiv, nicht kausal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619402" y="5086807"/>
            <a:ext cx="6858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Wir beschreiben </a:t>
            </a:r>
            <a:r>
              <a:rPr lang="en-US" sz="22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Muster</a:t>
            </a: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, behaupten aber </a:t>
            </a:r>
            <a:r>
              <a:rPr lang="en-US" sz="22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keine Ursachen</a:t>
            </a: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9810598" y="4286707"/>
            <a:ext cx="74797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E98A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4500" dirty="0"/>
          </a:p>
        </p:txBody>
      </p:sp>
      <p:sp>
        <p:nvSpPr>
          <p:cNvPr id="17" name="Text 13"/>
          <p:cNvSpPr txBox="1"/>
          <p:nvPr/>
        </p:nvSpPr>
        <p:spPr>
          <a:xfrm>
            <a:off x="10667390" y="4647895"/>
            <a:ext cx="26005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Keine pauschale Rangliste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9810598" y="5086807"/>
            <a:ext cx="6858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Jeder Schadstoff wird </a:t>
            </a:r>
            <a:r>
              <a:rPr lang="en-US" sz="22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einzeln</a:t>
            </a: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 betrachtet — die Rangfolge ist schadstoffabhängig.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1619402" y="7048195"/>
            <a:ext cx="74797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8BB3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4500" dirty="0"/>
          </a:p>
        </p:txBody>
      </p:sp>
      <p:sp>
        <p:nvSpPr>
          <p:cNvPr id="20" name="Text 16"/>
          <p:cNvSpPr txBox="1"/>
          <p:nvPr/>
        </p:nvSpPr>
        <p:spPr>
          <a:xfrm>
            <a:off x="2475281" y="7410298"/>
            <a:ext cx="21909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Lücken bleiben Lücken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619402" y="7848295"/>
            <a:ext cx="6858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Rom-PM ist </a:t>
            </a:r>
            <a:r>
              <a:rPr lang="en-US" sz="22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offen ausgewiesen</a:t>
            </a: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 — nicht interpoliert, nicht aufgefüllt.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9810598" y="7048195"/>
            <a:ext cx="74797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C039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4500" dirty="0"/>
          </a:p>
        </p:txBody>
      </p:sp>
      <p:sp>
        <p:nvSpPr>
          <p:cNvPr id="23" name="Text 19"/>
          <p:cNvSpPr txBox="1"/>
          <p:nvPr/>
        </p:nvSpPr>
        <p:spPr>
          <a:xfrm>
            <a:off x="10667390" y="7410298"/>
            <a:ext cx="24003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Quellen sauber getrennt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810598" y="7848295"/>
            <a:ext cx="68580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EEA-Historie und Open-Meteo-Live werden nie vermischt — </a:t>
            </a:r>
            <a:r>
              <a:rPr lang="en-US" sz="22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Live ≠ Trend</a:t>
            </a: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1143000" y="9525305"/>
            <a:ext cx="1600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Hinweis: WHO-2021 sind </a:t>
            </a:r>
            <a:r>
              <a:rPr lang="en-US" sz="1100" b="1" i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Gesundheits-Orientierungswerte</a:t>
            </a: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, keine EU-Grenzwerte. „Über WHO" heißt also </a:t>
            </a:r>
            <a:r>
              <a:rPr lang="en-US" sz="1100" b="1" i="1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über dem, was die WHO als gesund ansieht</a:t>
            </a:r>
            <a:r>
              <a:rPr lang="en-US" sz="1100" i="1" dirty="0">
                <a:solidFill>
                  <a:srgbClr val="6B6B6B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 xml:space="preserve"> — nicht „illegal".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143000" y="9905695"/>
            <a:ext cx="11430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Wissenschaftliche Ehrlichkeit · Pflicht-Botschaft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6002000" y="9905695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7b83a09b7d7460e968eb29837a53c01f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1143000" y="1162202"/>
            <a:ext cx="571500" cy="28346"/>
          </a:xfrm>
          <a:prstGeom prst="rect">
            <a:avLst/>
          </a:prstGeom>
        </p:spPr>
      </p:pic>
      <p:pic>
        <p:nvPicPr>
          <p:cNvPr id="5" name="Image 1" descr="gen-dedup-3a3cba21c131ed6ed460c3f2462370a1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5143500"/>
            <a:ext cx="16002000" cy="9144"/>
          </a:xfrm>
          <a:prstGeom prst="rect">
            <a:avLst/>
          </a:prstGeom>
        </p:spPr>
      </p:pic>
      <p:pic>
        <p:nvPicPr>
          <p:cNvPr id="6" name="Image 2" descr="gen-dedup-3a3cba21c131ed6ed460c3f2462370a1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6953098"/>
            <a:ext cx="16002000" cy="9144"/>
          </a:xfrm>
          <a:prstGeom prst="rect">
            <a:avLst/>
          </a:prstGeom>
        </p:spPr>
      </p:pic>
      <p:pic>
        <p:nvPicPr>
          <p:cNvPr id="7" name="Image 3" descr="gen-dedup-3a3cba21c131ed6ed460c3f2462370a1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001354"/>
            <a:ext cx="16002000" cy="9144"/>
          </a:xfrm>
          <a:prstGeom prst="rect">
            <a:avLst/>
          </a:prstGeom>
        </p:spPr>
      </p:pic>
      <p:pic>
        <p:nvPicPr>
          <p:cNvPr id="8" name="Image 4" descr="gen-dedup-87af634b33fee6e916cbfae476c7b9b2.png"/>
          <p:cNvPicPr>
            <a:picLocks noChangeAspect="1"/>
          </p:cNvPicPr>
          <p:nvPr/>
        </p:nvPicPr>
        <p:blipFill>
          <a:blip r:embed="rId5"/>
          <a:srcRect l="-203" r="-203"/>
          <a:stretch/>
        </p:blipFill>
        <p:spPr>
          <a:xfrm>
            <a:off x="15620695" y="666598"/>
            <a:ext cx="1524305" cy="95280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143000" y="838505"/>
            <a:ext cx="11430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336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Fazit</a:t>
            </a:r>
            <a:endParaRPr lang="en-US" sz="1200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2115007"/>
            <a:ext cx="160020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9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Drei Sätze zum Mitnehmen.</a:t>
            </a:r>
            <a:endParaRPr lang="en-US" sz="60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3619195"/>
            <a:ext cx="1143000" cy="10863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-270" dirty="0">
                <a:solidFill>
                  <a:srgbClr val="8BB3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9000" dirty="0"/>
          </a:p>
        </p:txBody>
      </p:sp>
      <p:sp>
        <p:nvSpPr>
          <p:cNvPr id="12" name="Text 5"/>
          <p:cNvSpPr txBox="1"/>
          <p:nvPr/>
        </p:nvSpPr>
        <p:spPr>
          <a:xfrm>
            <a:off x="2667305" y="3791102"/>
            <a:ext cx="1447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Befund 1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2667305" y="4048049"/>
            <a:ext cx="14478610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Überall </a:t>
            </a:r>
            <a:r>
              <a:rPr lang="en-US" sz="31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zu viel NO</a:t>
            </a:r>
            <a:r>
              <a:rPr lang="en-US" sz="26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r>
              <a:rPr lang="en-US" sz="3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 — Jahresmittel 15–25 µg/m³ statt WHO 10.</a:t>
            </a:r>
            <a:endParaRPr lang="en-US" sz="31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5429707"/>
            <a:ext cx="1143000" cy="10863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-270" dirty="0">
                <a:solidFill>
                  <a:srgbClr val="00649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9000" dirty="0"/>
          </a:p>
        </p:txBody>
      </p:sp>
      <p:sp>
        <p:nvSpPr>
          <p:cNvPr id="15" name="Text 8"/>
          <p:cNvSpPr txBox="1"/>
          <p:nvPr/>
        </p:nvSpPr>
        <p:spPr>
          <a:xfrm>
            <a:off x="2667305" y="5600700"/>
            <a:ext cx="1447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Befund 2 + 3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2667305" y="5857646"/>
            <a:ext cx="15550000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Schadstoff schlägt Stadt</a:t>
            </a:r>
            <a:r>
              <a:rPr lang="en-US" sz="3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 — Rangfolge ist schadstoffabhängig, getrennt betrachten.</a:t>
            </a:r>
            <a:endParaRPr lang="en-US" sz="31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7239305"/>
            <a:ext cx="1143000" cy="10863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-270" dirty="0">
                <a:solidFill>
                  <a:srgbClr val="E98A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9000" dirty="0"/>
          </a:p>
        </p:txBody>
      </p:sp>
      <p:sp>
        <p:nvSpPr>
          <p:cNvPr id="18" name="Text 11"/>
          <p:cNvSpPr txBox="1"/>
          <p:nvPr/>
        </p:nvSpPr>
        <p:spPr>
          <a:xfrm>
            <a:off x="2667305" y="7410298"/>
            <a:ext cx="14478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6B6B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Befund 5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2667305" y="7667244"/>
            <a:ext cx="14478610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Kontext erklärt wenig</a:t>
            </a:r>
            <a:r>
              <a:rPr lang="en-US" sz="3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 xml:space="preserve"> — Bevölkerungsdichte ist kein Erklärungsfaktor (nicht robust: r = −0,23, ohne Paris −0,95).</a:t>
            </a:r>
            <a:endParaRPr lang="en-US" sz="31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9239098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9506103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GB" sz="1600" b="1" i="0" dirty="0" err="1">
                <a:solidFill>
                  <a:srgbClr val="000000"/>
                </a:solidFill>
                <a:effectLst/>
                <a:latin typeface="-apple-system"/>
              </a:rPr>
              <a:t>Yesillik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-apple-system"/>
              </a:rPr>
              <a:t xml:space="preserve"> </a:t>
            </a:r>
            <a:r>
              <a:rPr lang="en-GB" sz="1600" b="1" i="0" dirty="0" err="1">
                <a:solidFill>
                  <a:srgbClr val="000000"/>
                </a:solidFill>
                <a:effectLst/>
                <a:latin typeface="-apple-system"/>
              </a:rPr>
              <a:t>Nisa</a:t>
            </a:r>
            <a:r>
              <a:rPr lang="en-US" sz="1500" b="1" i="0" dirty="0">
                <a:solidFill>
                  <a:srgbClr val="1A1A1A"/>
                </a:solidFill>
                <a:effectLst/>
                <a:latin typeface="Inter Tight" pitchFamily="34" charset="0"/>
                <a:ea typeface="Inter Tight" pitchFamily="34" charset="-122"/>
              </a:rPr>
              <a:t xml:space="preserve"> - </a:t>
            </a:r>
            <a:r>
              <a:rPr lang="en-GB" sz="1600" b="1" i="0" dirty="0" err="1">
                <a:solidFill>
                  <a:srgbClr val="000000"/>
                </a:solidFill>
                <a:effectLst/>
                <a:latin typeface="-apple-system"/>
              </a:rPr>
              <a:t>Bandat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-apple-system"/>
              </a:rPr>
              <a:t xml:space="preserve"> Manuel</a:t>
            </a:r>
            <a:r>
              <a:rPr lang="en-US" sz="1500" b="1" i="0" dirty="0">
                <a:solidFill>
                  <a:srgbClr val="1A1A1A"/>
                </a:solidFill>
                <a:effectLst/>
                <a:latin typeface="Inter Tight" pitchFamily="34" charset="0"/>
                <a:ea typeface="Inter Tight" pitchFamily="34" charset="-122"/>
              </a:rPr>
              <a:t xml:space="preserve"> – Wiesmüller Georg</a:t>
            </a:r>
            <a:endParaRPr lang="en-US" sz="1500" b="1" dirty="0"/>
          </a:p>
        </p:txBody>
      </p:sp>
      <p:sp>
        <p:nvSpPr>
          <p:cNvPr id="22" name="Text 15"/>
          <p:cNvSpPr txBox="1"/>
          <p:nvPr/>
        </p:nvSpPr>
        <p:spPr>
          <a:xfrm>
            <a:off x="10477195" y="9239098"/>
            <a:ext cx="6667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198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10477195" y="9525305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3D3D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github.com/OnlyMajorG/euro-air-quality-pipeline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1087</Words>
  <Application>Microsoft Office PowerPoint</Application>
  <PresentationFormat>Benutzerdefiniert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8" baseType="lpstr">
      <vt:lpstr>-apple-system</vt:lpstr>
      <vt:lpstr>Arial</vt:lpstr>
      <vt:lpstr>Calibri</vt:lpstr>
      <vt:lpstr>Inter Tight</vt:lpstr>
      <vt:lpstr>JetBrains Mono</vt:lpstr>
      <vt:lpstr>Source Serif 4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Wiesmüller Georg</cp:lastModifiedBy>
  <cp:revision>3</cp:revision>
  <dcterms:created xsi:type="dcterms:W3CDTF">2026-06-18T13:01:27Z</dcterms:created>
  <dcterms:modified xsi:type="dcterms:W3CDTF">2026-06-18T16:41:55Z</dcterms:modified>
</cp:coreProperties>
</file>